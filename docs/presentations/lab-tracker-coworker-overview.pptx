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jpeg" ContentType="image/jpe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theme/theme1.xml" ContentType="application/vnd.openxmlformats-officedocument.theme+xml"/>
  <Override PartName="/ppt/notesMasters/notesMaster1.xml" ContentType="application/vnd.openxmlformats-officedocument.presentationml.notesMaster+xml"/>
  <Override PartName="/ppt/notesMasters/theme/theme2.xml" ContentType="application/vnd.openxmlformats-officedocument.them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ppt/slideLayouts/slideLayout2.xml" ContentType="application/vnd.openxmlformats-officedocument.presentationml.slideLayout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450e3f181dcb45c2" /><Relationship Type="http://schemas.openxmlformats.org/officeDocument/2006/relationships/extended-properties" Target="/docProps/app.xml" Id="Rabdbc5971536451b" /><Relationship Type="http://schemas.openxmlformats.org/officeDocument/2006/relationships/officeDocument" Target="/ppt/presentation.xml" Id="R76eb30c749fb4fe6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f7dbd3b1a42c4fd3"/>
  </p:sldMasterIdLst>
  <p:notesMasterIdLst>
    <p:notesMasterId xmlns:r="http://schemas.openxmlformats.org/officeDocument/2006/relationships" r:id="R08a82ab13dc94852"/>
  </p:notesMasterIdLst>
  <p:sldIdLst>
    <p:sldId xmlns:r="http://schemas.openxmlformats.org/officeDocument/2006/relationships" id="256" r:id="Re1b3cc1d2b3c410a"/>
    <p:sldId xmlns:r="http://schemas.openxmlformats.org/officeDocument/2006/relationships" id="257" r:id="Rc6c2d3c6e334477d"/>
    <p:sldId xmlns:r="http://schemas.openxmlformats.org/officeDocument/2006/relationships" id="258" r:id="R7ce01034f3e54967"/>
    <p:sldId xmlns:r="http://schemas.openxmlformats.org/officeDocument/2006/relationships" id="259" r:id="R8f7412f2f4a64b46"/>
    <p:sldId xmlns:r="http://schemas.openxmlformats.org/officeDocument/2006/relationships" id="260" r:id="R0790dd19983b418c"/>
    <p:sldId xmlns:r="http://schemas.openxmlformats.org/officeDocument/2006/relationships" id="261" r:id="R3c821976d3824850"/>
    <p:sldId xmlns:r="http://schemas.openxmlformats.org/officeDocument/2006/relationships" id="262" r:id="R582a7b271aa34ec3"/>
  </p:sldIdLst>
  <p:sldSz cx="12192000" cy="6858000"/>
  <p:notesSz cx="6858000" cy="9144000"/>
  <p:defaultTextStyle>
    <a:defPPr xmlns:a="http://schemas.openxmlformats.org/drawingml/2006/main">
      <a:defRPr lang="en-US"/>
    </a:defPPr>
    <a:lvl1pPr xmlns:a="http://schemas.openxmlformats.org/drawingml/2006/main" marL="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1pPr>
    <a:lvl2pPr xmlns:a="http://schemas.openxmlformats.org/drawingml/2006/main" marL="457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2pPr>
    <a:lvl3pPr xmlns:a="http://schemas.openxmlformats.org/drawingml/2006/main" marL="914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3pPr>
    <a:lvl4pPr xmlns:a="http://schemas.openxmlformats.org/drawingml/2006/main" marL="1371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4pPr>
    <a:lvl5pPr xmlns:a="http://schemas.openxmlformats.org/drawingml/2006/main" marL="18288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5pPr>
    <a:lvl6pPr xmlns:a="http://schemas.openxmlformats.org/drawingml/2006/main" marL="22860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6pPr>
    <a:lvl7pPr xmlns:a="http://schemas.openxmlformats.org/drawingml/2006/main" marL="2743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7pPr>
    <a:lvl8pPr xmlns:a="http://schemas.openxmlformats.org/drawingml/2006/main" marL="3200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8pPr>
    <a:lvl9pPr xmlns:a="http://schemas.openxmlformats.org/drawingml/2006/main" marL="3657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p="http://schemas.openxmlformats.org/presentationml/2006/main">
  <p:normalViewPr>
    <p:restoredLeft sz="15611"/>
    <p:restoredTop sz="94658"/>
  </p:normalViewPr>
  <p:slideViewPr>
    <p:cSldViewPr snapToGrid="0">
      <p:cViewPr varScale="1">
        <p:scale>
          <a:sx xmlns:a="http://schemas.openxmlformats.org/drawingml/2006/main" n="120" d="100"/>
          <a:sy xmlns:a="http://schemas.openxmlformats.org/drawingml/2006/main" n="120" d="100"/>
        </p:scale>
        <p:origin x="800" y="184"/>
      </p:cViewPr>
      <p:guideLst/>
    </p:cSldViewPr>
  </p:slideViewPr>
  <p:notesTextViewPr>
    <p:cViewPr>
      <p:scale>
        <a:sx xmlns:a="http://schemas.openxmlformats.org/drawingml/2006/main" n="1" d="1"/>
        <a:sy xmlns:a="http://schemas.openxmlformats.org/drawingml/2006/main" n="1" d="1"/>
      </p:scale>
      <p:origin x="0" y="0"/>
    </p:cViewPr>
  </p:notesTextViewPr>
  <p:gridSpacing cx="76200" cy="76200"/>
</p:viewPr>
</file>

<file path=ppt/_rels/presentation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f7dbd3b1a42c4fd3" /><Relationship Type="http://schemas.openxmlformats.org/officeDocument/2006/relationships/theme" Target="/ppt/theme/theme1.xml" Id="Rc6bb5f7c400d4e49" /><Relationship Type="http://schemas.openxmlformats.org/officeDocument/2006/relationships/notesMaster" Target="/ppt/notesMasters/notesMaster1.xml" Id="R08a82ab13dc94852" /><Relationship Type="http://schemas.openxmlformats.org/officeDocument/2006/relationships/presProps" Target="/ppt/presProps.xml" Id="R235f302f6f144efd" /><Relationship Type="http://schemas.openxmlformats.org/officeDocument/2006/relationships/viewProps" Target="/ppt/viewProps.xml" Id="R280c9fa11d3d4c68" /><Relationship Type="http://schemas.openxmlformats.org/officeDocument/2006/relationships/tableStyles" Target="/ppt/tableStyles.xml" Id="Red06735206554bc6" /><Relationship Type="http://schemas.openxmlformats.org/officeDocument/2006/relationships/slide" Target="/ppt/slides/slide1.xml" Id="Re1b3cc1d2b3c410a" /><Relationship Type="http://schemas.openxmlformats.org/officeDocument/2006/relationships/slide" Target="/ppt/slides/slide2.xml" Id="Rc6c2d3c6e334477d" /><Relationship Type="http://schemas.openxmlformats.org/officeDocument/2006/relationships/slide" Target="/ppt/slides/slide3.xml" Id="R7ce01034f3e54967" /><Relationship Type="http://schemas.openxmlformats.org/officeDocument/2006/relationships/slide" Target="/ppt/slides/slide4.xml" Id="R8f7412f2f4a64b46" /><Relationship Type="http://schemas.openxmlformats.org/officeDocument/2006/relationships/slide" Target="/ppt/slides/slide5.xml" Id="R0790dd19983b418c" /><Relationship Type="http://schemas.openxmlformats.org/officeDocument/2006/relationships/slide" Target="/ppt/slides/slide6.xml" Id="R3c821976d3824850" /><Relationship Type="http://schemas.openxmlformats.org/officeDocument/2006/relationships/slide" Target="/ppt/slides/slide7.xml" Id="R582a7b271aa34ec3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2.xml" Id="Re5334839d56e426e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solidFill>
          <a:schemeClr val="dk1"/>
        </a:solidFill>
        <a:solidFill>
          <a:schemeClr val="accent1"/>
        </a:soli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409a854ed3c84696" /><Relationship Type="http://schemas.openxmlformats.org/officeDocument/2006/relationships/notesMaster" Target="/ppt/notesMasters/notesMaster1.xml" Id="R8639dd560b3149d6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c1fe67cd0571438d" /><Relationship Type="http://schemas.openxmlformats.org/officeDocument/2006/relationships/notesMaster" Target="/ppt/notesMasters/notesMaster1.xml" Id="Rbd61696b95f14677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ebd69fb690eb416f" /><Relationship Type="http://schemas.openxmlformats.org/officeDocument/2006/relationships/notesMaster" Target="/ppt/notesMasters/notesMaster1.xml" Id="R1f9e69f3f4744839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4e4de79986364246" /><Relationship Type="http://schemas.openxmlformats.org/officeDocument/2006/relationships/notesMaster" Target="/ppt/notesMasters/notesMaster1.xml" Id="R43cdaffe68084197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b3cd4ce6b3364040" /><Relationship Type="http://schemas.openxmlformats.org/officeDocument/2006/relationships/notesMaster" Target="/ppt/notesMasters/notesMaster1.xml" Id="Rdbb89f170e834fc6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3f45017844a54014" /><Relationship Type="http://schemas.openxmlformats.org/officeDocument/2006/relationships/notesMaster" Target="/ppt/notesMasters/notesMaster1.xml" Id="R7d3acf43d88c4ee8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cafd61e4d8414f88" /><Relationship Type="http://schemas.openxmlformats.org/officeDocument/2006/relationships/notesMaster" Target="/ppt/notesMasters/notesMaster1.xml" Id="R06d3f16dda7344f9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9782d932268a4a45" /></Relationships>
</file>

<file path=ppt/slideLayouts/slideLayout2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theme/theme1.xml" Id="R26c8921a18e84443" /><Relationship Type="http://schemas.openxmlformats.org/officeDocument/2006/relationships/slideLayout" Target="/ppt/slideLayouts/slideLayout2.xml" Id="Rb7d5f14be33a4a11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b7d5f14be33a4a11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95af65fad2564c3e" /><Relationship Type="http://schemas.openxmlformats.org/officeDocument/2006/relationships/notesSlide" Target="/ppt/notesSlides/notesSlide1.xml" Id="R78af7f4397ce41bf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fc4da6580a1c4562" /><Relationship Type="http://schemas.openxmlformats.org/officeDocument/2006/relationships/notesSlide" Target="/ppt/notesSlides/notesSlide2.xml" Id="Rc522495f0fae41a6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8f54fc8294c24342" /><Relationship Type="http://schemas.openxmlformats.org/officeDocument/2006/relationships/notesSlide" Target="/ppt/notesSlides/notesSlide3.xml" Id="Rac1042e87aa447fa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6a2c4dfe2f844256" /><Relationship Type="http://schemas.openxmlformats.org/officeDocument/2006/relationships/image" Target="/ppt/media/image.png" Id="Rd016927baa5f4eaa" /><Relationship Type="http://schemas.openxmlformats.org/officeDocument/2006/relationships/image" Target="/ppt/media/image.jpeg" Id="Rcca61ff5f6554956" /><Relationship Type="http://schemas.openxmlformats.org/officeDocument/2006/relationships/notesSlide" Target="/ppt/notesSlides/notesSlide4.xml" Id="R53c903321f9e41b9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30936b5f6a0c4f12" /><Relationship Type="http://schemas.openxmlformats.org/officeDocument/2006/relationships/image" Target="/ppt/media/image2.png" Id="R92768b3f37ac4f02" /><Relationship Type="http://schemas.openxmlformats.org/officeDocument/2006/relationships/image" Target="/ppt/media/image3.png" Id="Rb69da1b140e74992" /><Relationship Type="http://schemas.openxmlformats.org/officeDocument/2006/relationships/notesSlide" Target="/ppt/notesSlides/notesSlide5.xml" Id="Rf689f69af2aa4d66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f1858c8528a14c1c" /><Relationship Type="http://schemas.openxmlformats.org/officeDocument/2006/relationships/image" Target="/ppt/media/image2.jpeg" Id="Rd903ecb199894432" /><Relationship Type="http://schemas.openxmlformats.org/officeDocument/2006/relationships/notesSlide" Target="/ppt/notesSlides/notesSlide6.xml" Id="Rb476634b463345bc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9311e448b12f4452" /><Relationship Type="http://schemas.openxmlformats.org/officeDocument/2006/relationships/notesSlide" Target="/ppt/notesSlides/notesSlide7.xml" Id="Rca647ae7e07a40db" /></Relationships>
</file>

<file path=ppt/slides/slide1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120A07E7-0CDB-4AF7-9863-1F0F5F72A0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7F4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4BA29D9-7D8D-4ABF-B52E-AC4C01CDA4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723900"/>
            <a:ext cx="9906000" cy="1104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3300" b="1">
                <a:solidFill>
                  <a:srgbClr val="111827"/>
                </a:solidFill>
                <a:latin typeface="Aptos Display"/>
                <a:ea typeface="Aptos Display"/>
                <a:cs typeface="Aptos Display"/>
              </a:defRPr>
            </a:pPr>
            <a:r>
              <a:rPr sz="3300" b="1">
                <a:solidFill>
                  <a:srgbClr val="111827"/>
                </a:solidFill>
                <a:latin typeface="Aptos Display"/>
                <a:ea typeface="Aptos Display"/>
                <a:cs typeface="Aptos Display"/>
              </a:rPr>
              <a:t>Lab Tracker preserves the reasoning around experiments.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D1193D0-1AB0-4C93-8127-808CBD6033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000250"/>
            <a:ext cx="876300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5B6472"/>
                </a:solidFill>
                <a:latin typeface="Aptos"/>
                <a:ea typeface="Aptos"/>
                <a:cs typeface="Aptos"/>
              </a:defRPr>
            </a:pPr>
            <a:r>
              <a:rPr sz="1500" b="0">
                <a:solidFill>
                  <a:srgbClr val="5B6472"/>
                </a:solidFill>
                <a:latin typeface="Aptos"/>
                <a:ea typeface="Aptos"/>
                <a:cs typeface="Aptos"/>
              </a:rPr>
              <a:t>The repo is a small research-context system: projects contain questions, sessions produce datasets, analyses support claims, and visualizations stay linked to the evidence that made them.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2B83CBE-BE85-4CDA-8AFF-256D383E82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143250"/>
            <a:ext cx="1428750" cy="990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EEE9"/>
          </a:solidFill>
          <a:ln xmlns:a="http://schemas.openxmlformats.org/drawingml/2006/main" w="9525">
            <a:solidFill>
              <a:srgbClr val="D4D8D0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318AD7F-FA1A-43EC-81A9-D156C8ACD7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3238500"/>
            <a:ext cx="116205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2250" b="1">
                <a:solidFill>
                  <a:srgbClr val="111827"/>
                </a:solidFill>
                <a:latin typeface="Aptos"/>
                <a:ea typeface="Aptos"/>
                <a:cs typeface="Aptos"/>
              </a:rPr>
              <a:t>8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0BCC106-ABEF-4553-91AB-8B320D78E2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3638550"/>
            <a:ext cx="11620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5B6472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5B6472"/>
                </a:solidFill>
                <a:latin typeface="Aptos"/>
                <a:ea typeface="Aptos"/>
                <a:cs typeface="Aptos"/>
              </a:rPr>
              <a:t>active projects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33A3BA5-E32D-4202-9C6F-DF08817A73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24100" y="3143250"/>
            <a:ext cx="1428750" cy="990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4D8D0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865C86F-26C9-4689-A6ED-AE4F4C2A5E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57450" y="3238500"/>
            <a:ext cx="116205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2250" b="1">
                <a:solidFill>
                  <a:srgbClr val="111827"/>
                </a:solidFill>
                <a:latin typeface="Aptos"/>
                <a:ea typeface="Aptos"/>
                <a:cs typeface="Aptos"/>
              </a:rPr>
              <a:t>27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25A3D0F1-69E8-4FD9-850E-11051298CE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57450" y="3638550"/>
            <a:ext cx="11620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5B6472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5B6472"/>
                </a:solidFill>
                <a:latin typeface="Aptos"/>
                <a:ea typeface="Aptos"/>
                <a:cs typeface="Aptos"/>
              </a:rPr>
              <a:t>questions in example graph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4CB85FA4-FB10-43CB-B24D-7F411F770F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62400" y="3143250"/>
            <a:ext cx="1428750" cy="990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4D8D0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0582F5FE-08C9-4B92-B13D-7044E05499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95750" y="3238500"/>
            <a:ext cx="116205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2250" b="1">
                <a:solidFill>
                  <a:srgbClr val="111827"/>
                </a:solidFill>
                <a:latin typeface="Aptos"/>
                <a:ea typeface="Aptos"/>
                <a:cs typeface="Aptos"/>
              </a:rPr>
              <a:t>3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89A30AFA-AE5D-4574-95AA-E1B307DA01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95750" y="3638550"/>
            <a:ext cx="11620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5B6472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5B6472"/>
                </a:solidFill>
                <a:latin typeface="Aptos"/>
                <a:ea typeface="Aptos"/>
                <a:cs typeface="Aptos"/>
              </a:rPr>
              <a:t>datasets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D3472D44-51A1-4F68-A4FF-FCCC38C176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00700" y="3143250"/>
            <a:ext cx="1428750" cy="990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6E7D3"/>
          </a:solidFill>
          <a:ln xmlns:a="http://schemas.openxmlformats.org/drawingml/2006/main" w="9525">
            <a:solidFill>
              <a:srgbClr val="D4D8D0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9EEF0FA4-90F9-4CC7-9A2D-D445CA9F88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34050" y="3238500"/>
            <a:ext cx="116205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2250" b="1">
                <a:solidFill>
                  <a:srgbClr val="111827"/>
                </a:solidFill>
                <a:latin typeface="Aptos"/>
                <a:ea typeface="Aptos"/>
                <a:cs typeface="Aptos"/>
              </a:rPr>
              <a:t>8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BE8E7688-27C7-4B63-B892-2A4FE727BF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34050" y="3638550"/>
            <a:ext cx="11620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5B6472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5B6472"/>
                </a:solidFill>
                <a:latin typeface="Aptos"/>
                <a:ea typeface="Aptos"/>
                <a:cs typeface="Aptos"/>
              </a:rPr>
              <a:t>tracked visualizations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13F44EF3-C7F8-4CB8-8265-2013AEA202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457700"/>
            <a:ext cx="8096250" cy="628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1575" b="1">
                <a:solidFill>
                  <a:srgbClr val="111827"/>
                </a:solidFill>
                <a:latin typeface="Aptos"/>
                <a:ea typeface="Aptos"/>
                <a:cs typeface="Aptos"/>
              </a:rPr>
              <a:t>Useful coworker framing: Lab Tracker is where a lab can see what a file or plot was for, what question it addressed, and which claims it supports.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22E77870-5FB9-40D7-8387-33C4FA2D8E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553200"/>
            <a:ext cx="93345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5B6472"/>
                </a:solidFill>
                <a:latin typeface="Aptos"/>
                <a:ea typeface="Aptos"/>
                <a:cs typeface="Aptos"/>
              </a:defRPr>
            </a:pPr>
            <a:r>
              <a:rPr sz="750" b="0">
                <a:solidFill>
                  <a:srgbClr val="5B6472"/>
                </a:solidFill>
                <a:latin typeface="Aptos"/>
                <a:ea typeface="Aptos"/>
                <a:cs typeface="Aptos"/>
              </a:rPr>
              <a:t>Sources: README.md, retained-v1 surface, Lab Tracker MCP decision context.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A6335CA4-BE36-4ECD-8865-DB642A6276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553200"/>
            <a:ext cx="4572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750" b="0">
                <a:solidFill>
                  <a:srgbClr val="5B6472"/>
                </a:solidFill>
                <a:latin typeface="Aptos"/>
                <a:ea typeface="Aptos"/>
                <a:cs typeface="Aptos"/>
              </a:defRPr>
            </a:pPr>
            <a:r>
              <a:rPr sz="750" b="0">
                <a:solidFill>
                  <a:srgbClr val="5B6472"/>
                </a:solidFill>
                <a:latin typeface="Aptos"/>
                <a:ea typeface="Aptos"/>
                <a:cs typeface="Aptos"/>
              </a:rPr>
              <a:t>01</a:t>
            </a:r>
          </a:p>
        </p:txBody>
      </p:sp>
    </p:spTree>
    <p:extLst>
      <p:ext uri="{BB962C8B-B14F-4D97-AF65-F5344CB8AC3E}">
        <p14:creationId xmlns:p14="http://schemas.microsoft.com/office/powerpoint/2010/main" val="1725788625"/>
      </p:ext>
    </p:extLst>
  </p:cSld>
</p:sld>
</file>

<file path=ppt/slides/slide2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C2401248-D47C-4B61-91C4-FE39AC2A5E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7F4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kicker-marker">
            <a:extLst xmlns:a="http://schemas.openxmlformats.org/drawingml/2006/main">
              <a:ext uri="{FF2B5EF4-FFF2-40B4-BE49-F238E27FC236}">
                <a16:creationId xmlns:a16="http://schemas.microsoft.com/office/drawing/2014/main" id="{9D48EEB1-E04B-4AE3-8E38-BB24CEEBEA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428625"/>
            <a:ext cx="762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F766E"/>
          </a:solidFill>
          <a:ln xmlns:a="http://schemas.openxmlformats.org/drawingml/2006/main" w="0">
            <a:solidFill>
              <a:srgbClr val="0F766E"/>
            </a:solidFill>
            <a:prstDash val="solid"/>
          </a:ln>
        </p:spPr>
      </p:sp>
      <p:sp>
        <p:nvSpPr>
          <p:cNvPr id="3" name="kicker-label">
            <a:extLst xmlns:a="http://schemas.openxmlformats.org/drawingml/2006/main">
              <a:ext uri="{FF2B5EF4-FFF2-40B4-BE49-F238E27FC236}">
                <a16:creationId xmlns:a16="http://schemas.microsoft.com/office/drawing/2014/main" id="{93923C2B-699B-4555-ADC8-5FF3F87071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61950"/>
            <a:ext cx="24765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0F766E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0F766E"/>
                </a:solidFill>
                <a:latin typeface="Aptos"/>
                <a:ea typeface="Aptos"/>
                <a:cs typeface="Aptos"/>
              </a:rPr>
              <a:t>SYSTEM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4329075-0CA1-445A-9064-76A252A06F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28650"/>
            <a:ext cx="9906000" cy="914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700" b="1">
                <a:solidFill>
                  <a:srgbClr val="111827"/>
                </a:solidFill>
                <a:latin typeface="Aptos Display"/>
                <a:ea typeface="Aptos Display"/>
                <a:cs typeface="Aptos Display"/>
              </a:defRPr>
            </a:pPr>
            <a:r>
              <a:rPr sz="2700" b="1">
                <a:solidFill>
                  <a:srgbClr val="111827"/>
                </a:solidFill>
                <a:latin typeface="Aptos Display"/>
                <a:ea typeface="Aptos Display"/>
                <a:cs typeface="Aptos Display"/>
              </a:rPr>
              <a:t>The repo is an API-backed research graph with app, CLI, and MCP entrypoints.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9C4F290-0A90-429B-8839-B5A02F99A1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1962150"/>
            <a:ext cx="1828800" cy="876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EEE9"/>
          </a:solidFill>
          <a:ln xmlns:a="http://schemas.openxmlformats.org/drawingml/2006/main" w="9525">
            <a:solidFill>
              <a:srgbClr val="D4D8D0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7367BAE-26C0-4B22-BC62-6DB373DBAB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2076450"/>
            <a:ext cx="15621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111827"/>
                </a:solidFill>
                <a:latin typeface="Aptos"/>
                <a:ea typeface="Aptos"/>
                <a:cs typeface="Aptos"/>
              </a:rPr>
              <a:t>React app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07672E7-C92A-4D28-A555-7E1D778983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2362200"/>
            <a:ext cx="15621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5B6472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5B6472"/>
                </a:solidFill>
                <a:latin typeface="Aptos"/>
                <a:ea typeface="Aptos"/>
                <a:cs typeface="Aptos"/>
              </a:rPr>
              <a:t>/app dashboard, graph, capture, review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A8827F4-B9C9-4E8B-A8F9-76D8AF70CA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3219450"/>
            <a:ext cx="1828800" cy="876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4D8D0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B392988E-3D19-4D59-99F9-0B26D50361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3333750"/>
            <a:ext cx="15621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111827"/>
                </a:solidFill>
                <a:latin typeface="Aptos"/>
                <a:ea typeface="Aptos"/>
                <a:cs typeface="Aptos"/>
              </a:rPr>
              <a:t>CLI / scripts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566B4967-FE78-4799-A6DF-FD67CA66DB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3619500"/>
            <a:ext cx="15621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5B6472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5B6472"/>
                </a:solidFill>
                <a:latin typeface="Aptos"/>
                <a:ea typeface="Aptos"/>
                <a:cs typeface="Aptos"/>
              </a:rPr>
              <a:t>lab-tracker, lt client, setup helpers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D6966904-6B46-4051-B322-C4A12C53D4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4476750"/>
            <a:ext cx="1828800" cy="876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E9F4"/>
          </a:solidFill>
          <a:ln xmlns:a="http://schemas.openxmlformats.org/drawingml/2006/main" w="9525">
            <a:solidFill>
              <a:srgbClr val="D4D8D0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3FE712C9-4E05-4639-BA1C-BD0D5F550B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4591050"/>
            <a:ext cx="15621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111827"/>
                </a:solidFill>
                <a:latin typeface="Aptos"/>
                <a:ea typeface="Aptos"/>
                <a:cs typeface="Aptos"/>
              </a:rPr>
              <a:t>MCP server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FC0F156E-BFC2-46E9-9319-FA327F7B7F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4876800"/>
            <a:ext cx="15621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5B6472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5B6472"/>
                </a:solidFill>
                <a:latin typeface="Aptos"/>
                <a:ea typeface="Aptos"/>
                <a:cs typeface="Aptos"/>
              </a:rPr>
              <a:t>Read graph context before research-facing decisions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461E5D97-1EC0-4D24-9CAA-A09521A447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33800" y="2781300"/>
            <a:ext cx="2095500" cy="1104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4D8D0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4CE8620E-AA9A-4A89-9504-D2CCC9F2E6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67150" y="2895600"/>
            <a:ext cx="18288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111827"/>
                </a:solidFill>
                <a:latin typeface="Aptos"/>
                <a:ea typeface="Aptos"/>
                <a:cs typeface="Aptos"/>
              </a:rPr>
              <a:t>FastAPI routes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0EE6676A-A185-4CBE-84F5-F2BC9C96AE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67150" y="3181350"/>
            <a:ext cx="18288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5B6472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5B6472"/>
                </a:solidFill>
                <a:latin typeface="Aptos"/>
                <a:ea typeface="Aptos"/>
                <a:cs typeface="Aptos"/>
              </a:rPr>
              <a:t>Projects, questions, notes, sessions, datasets, analyses, claims, visualizations, graph drafts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AC3DAE5D-6825-4874-BCEE-DA5D5494E1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0" y="2114550"/>
            <a:ext cx="2038350" cy="857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EEF4"/>
          </a:solidFill>
          <a:ln xmlns:a="http://schemas.openxmlformats.org/drawingml/2006/main" w="9525">
            <a:solidFill>
              <a:srgbClr val="D4D8D0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20997FD0-DA31-42E5-97C7-711113AFA4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91350" y="2228850"/>
            <a:ext cx="17716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111827"/>
                </a:solidFill>
                <a:latin typeface="Aptos"/>
                <a:ea typeface="Aptos"/>
                <a:cs typeface="Aptos"/>
              </a:rPr>
              <a:t>Service layer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988EBD2E-367A-4ABA-9700-B3071BB78A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91350" y="2514600"/>
            <a:ext cx="177165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5B6472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5B6472"/>
                </a:solidFill>
                <a:latin typeface="Aptos"/>
                <a:ea typeface="Aptos"/>
                <a:cs typeface="Aptos"/>
              </a:rPr>
              <a:t>Validation, permissions, graph projection, graph draft orchestration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C94AF46A-095C-4498-8059-63CFEF744A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0" y="3638550"/>
            <a:ext cx="2038350" cy="857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4D8D0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946A8B93-1E10-45F2-85DB-E8BA18CF7F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91350" y="3752850"/>
            <a:ext cx="17716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111827"/>
                </a:solidFill>
                <a:latin typeface="Aptos"/>
                <a:ea typeface="Aptos"/>
                <a:cs typeface="Aptos"/>
              </a:rPr>
              <a:t>Repository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E9D79095-F031-43F9-97AF-D7BCF366D7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91350" y="4038600"/>
            <a:ext cx="177165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5B6472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5B6472"/>
                </a:solidFill>
                <a:latin typeface="Aptos"/>
                <a:ea typeface="Aptos"/>
                <a:cs typeface="Aptos"/>
              </a:rPr>
              <a:t>SQLite by default; Postgres for shared multi-client runtime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DE1846B0-90AB-489A-9AFD-CD1FD3870A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53600" y="2114550"/>
            <a:ext cx="1466850" cy="857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4D8D0"/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8A76F45F-30CB-4E08-BE33-E5AD1F900F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86950" y="2228850"/>
            <a:ext cx="12001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111827"/>
                </a:solidFill>
                <a:latin typeface="Aptos"/>
                <a:ea typeface="Aptos"/>
                <a:cs typeface="Aptos"/>
              </a:rPr>
              <a:t>File storage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BD8869D5-85F8-4DFD-9E94-DF87D3CA26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86950" y="2514600"/>
            <a:ext cx="120015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5B6472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5B6472"/>
                </a:solidFill>
                <a:latin typeface="Aptos"/>
                <a:ea typeface="Aptos"/>
                <a:cs typeface="Aptos"/>
              </a:rPr>
              <a:t>Note and visualization assets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4E6AC393-3AB5-4B76-BA88-1BE8C69585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53600" y="3638550"/>
            <a:ext cx="1466850" cy="857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6E7D3"/>
          </a:solidFill>
          <a:ln xmlns:a="http://schemas.openxmlformats.org/drawingml/2006/main" w="9525">
            <a:solidFill>
              <a:srgbClr val="D4D8D0"/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24AC0A31-D971-4E61-BF85-1678924AC0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86950" y="3752850"/>
            <a:ext cx="12001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111827"/>
                </a:solidFill>
                <a:latin typeface="Aptos"/>
                <a:ea typeface="Aptos"/>
                <a:cs typeface="Aptos"/>
              </a:rPr>
              <a:t>Dolt mirror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01A2063F-8297-4C8C-93ED-327F102206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86950" y="4038600"/>
            <a:ext cx="120015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5B6472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5B6472"/>
                </a:solidFill>
                <a:latin typeface="Aptos"/>
                <a:ea typeface="Aptos"/>
                <a:cs typeface="Aptos"/>
              </a:rPr>
              <a:t>Export-only versioned snapshot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0DE223FF-215D-427F-B131-1F26EF280B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52700" y="2381250"/>
            <a:ext cx="11811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4D8D0"/>
          </a:solidFill>
          <a:ln xmlns:a="http://schemas.openxmlformats.org/drawingml/2006/main" w="0">
            <a:solidFill>
              <a:srgbClr val="D4D8D0"/>
            </a:solidFill>
            <a:prstDash val="solid"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4A9F8732-47AD-4636-BBE7-B9914854DA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52700" y="3638550"/>
            <a:ext cx="11811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4D8D0"/>
          </a:solidFill>
          <a:ln xmlns:a="http://schemas.openxmlformats.org/drawingml/2006/main" w="0">
            <a:solidFill>
              <a:srgbClr val="D4D8D0"/>
            </a:solidFill>
            <a:prstDash val="solid"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E3AA18B0-23FB-4707-A7D4-BE22EA791B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52700" y="4895850"/>
            <a:ext cx="11811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4D8D0"/>
          </a:solidFill>
          <a:ln xmlns:a="http://schemas.openxmlformats.org/drawingml/2006/main" w="0">
            <a:solidFill>
              <a:srgbClr val="D4D8D0"/>
            </a:solidFill>
            <a:prstDash val="solid"/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0BEFF540-A075-4EAD-A9F3-247DCA6CE2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29300" y="3333750"/>
            <a:ext cx="10287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4D8D0"/>
          </a:solidFill>
          <a:ln xmlns:a="http://schemas.openxmlformats.org/drawingml/2006/main" w="0">
            <a:solidFill>
              <a:srgbClr val="D4D8D0"/>
            </a:solidFill>
            <a:prstDash val="solid"/>
          </a:ln>
        </p:spPr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2E2636F6-412D-41A0-B894-4888E8D78C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96350" y="2543175"/>
            <a:ext cx="85725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4D8D0"/>
          </a:solidFill>
          <a:ln xmlns:a="http://schemas.openxmlformats.org/drawingml/2006/main" w="0">
            <a:solidFill>
              <a:srgbClr val="D4D8D0"/>
            </a:solidFill>
            <a:prstDash val="solid"/>
          </a:ln>
        </p:spPr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0C0A2BE3-2EC1-4969-83AB-34FAA016D0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96350" y="4067175"/>
            <a:ext cx="85725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4D8D0"/>
          </a:solidFill>
          <a:ln xmlns:a="http://schemas.openxmlformats.org/drawingml/2006/main" w="0">
            <a:solidFill>
              <a:srgbClr val="D4D8D0"/>
            </a:solidFill>
            <a:prstDash val="solid"/>
          </a:ln>
        </p:spPr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FE30C277-4398-4120-8B75-590501788C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553200"/>
            <a:ext cx="93345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5B6472"/>
                </a:solidFill>
                <a:latin typeface="Aptos"/>
                <a:ea typeface="Aptos"/>
                <a:cs typeface="Aptos"/>
              </a:defRPr>
            </a:pPr>
            <a:r>
              <a:rPr sz="750" b="0">
                <a:solidFill>
                  <a:srgbClr val="5B6472"/>
                </a:solidFill>
                <a:latin typeface="Aptos"/>
                <a:ea typeface="Aptos"/>
                <a:cs typeface="Aptos"/>
              </a:rPr>
              <a:t>Sources: README.md, docs/internal-boundaries.md, docs/lab-tracker-mcp-skills.md.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81B3C882-4C8A-46AB-83C4-28FAE4E6A2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553200"/>
            <a:ext cx="4572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750" b="0">
                <a:solidFill>
                  <a:srgbClr val="5B6472"/>
                </a:solidFill>
                <a:latin typeface="Aptos"/>
                <a:ea typeface="Aptos"/>
                <a:cs typeface="Aptos"/>
              </a:defRPr>
            </a:pPr>
            <a:r>
              <a:rPr sz="750" b="0">
                <a:solidFill>
                  <a:srgbClr val="5B6472"/>
                </a:solidFill>
                <a:latin typeface="Aptos"/>
                <a:ea typeface="Aptos"/>
                <a:cs typeface="Aptos"/>
              </a:rPr>
              <a:t>02</a:t>
            </a:r>
          </a:p>
        </p:txBody>
      </p:sp>
    </p:spTree>
    <p:extLst>
      <p:ext uri="{BB962C8B-B14F-4D97-AF65-F5344CB8AC3E}">
        <p14:creationId xmlns:p14="http://schemas.microsoft.com/office/powerpoint/2010/main" val="10568964"/>
      </p:ext>
    </p:extLst>
  </p:cSld>
</p:sld>
</file>

<file path=ppt/slides/slide3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7296BFBD-7ACE-4B16-A32F-9A69817FE2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7F4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kicker-marker">
            <a:extLst xmlns:a="http://schemas.openxmlformats.org/drawingml/2006/main">
              <a:ext uri="{FF2B5EF4-FFF2-40B4-BE49-F238E27FC236}">
                <a16:creationId xmlns:a16="http://schemas.microsoft.com/office/drawing/2014/main" id="{61BD82B0-0189-4032-9807-C862C1DE32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428625"/>
            <a:ext cx="762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F766E"/>
          </a:solidFill>
          <a:ln xmlns:a="http://schemas.openxmlformats.org/drawingml/2006/main" w="0">
            <a:solidFill>
              <a:srgbClr val="0F766E"/>
            </a:solidFill>
            <a:prstDash val="solid"/>
          </a:ln>
        </p:spPr>
      </p:sp>
      <p:sp>
        <p:nvSpPr>
          <p:cNvPr id="3" name="kicker-label">
            <a:extLst xmlns:a="http://schemas.openxmlformats.org/drawingml/2006/main">
              <a:ext uri="{FF2B5EF4-FFF2-40B4-BE49-F238E27FC236}">
                <a16:creationId xmlns:a16="http://schemas.microsoft.com/office/drawing/2014/main" id="{4304EAFB-99AE-47E4-8F9A-165BFD858B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61950"/>
            <a:ext cx="24765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0F766E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0F766E"/>
                </a:solidFill>
                <a:latin typeface="Aptos"/>
                <a:ea typeface="Aptos"/>
                <a:cs typeface="Aptos"/>
              </a:rPr>
              <a:t>DATA MODEL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05841CF-F270-432D-88ED-3B09D62C8D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28650"/>
            <a:ext cx="9906000" cy="914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700" b="1">
                <a:solidFill>
                  <a:srgbClr val="111827"/>
                </a:solidFill>
                <a:latin typeface="Aptos Display"/>
                <a:ea typeface="Aptos Display"/>
                <a:cs typeface="Aptos Display"/>
              </a:defRPr>
            </a:pPr>
            <a:r>
              <a:rPr sz="2700" b="1">
                <a:solidFill>
                  <a:srgbClr val="111827"/>
                </a:solidFill>
                <a:latin typeface="Aptos Display"/>
                <a:ea typeface="Aptos Display"/>
                <a:cs typeface="Aptos Display"/>
              </a:rPr>
              <a:t>The evidence model links why -&gt; data -&gt; analysis -&gt; claim -&gt; visualization.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71CCA95-9A8D-4A4B-8A9C-E699C957AC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362200"/>
            <a:ext cx="1619250" cy="1104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EEE9"/>
          </a:solidFill>
          <a:ln xmlns:a="http://schemas.openxmlformats.org/drawingml/2006/main" w="9525">
            <a:solidFill>
              <a:srgbClr val="D4D8D0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9AF9D0C-4A49-4E8C-BA63-884D89B1B8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2476500"/>
            <a:ext cx="13525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111827"/>
                </a:solidFill>
                <a:latin typeface="Aptos"/>
                <a:ea typeface="Aptos"/>
                <a:cs typeface="Aptos"/>
              </a:rPr>
              <a:t>Question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6A04160-6141-47E5-B8EE-EEC7295F03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2762250"/>
            <a:ext cx="135255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5B6472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5B6472"/>
                </a:solidFill>
                <a:latin typeface="Aptos"/>
                <a:ea typeface="Aptos"/>
                <a:cs typeface="Aptos"/>
              </a:rPr>
              <a:t>What was this work trying to answer?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35E5908-0B2E-41B6-94A8-51BBE08FB6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05050" y="2914650"/>
            <a:ext cx="4191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4D8D0"/>
          </a:solidFill>
          <a:ln xmlns:a="http://schemas.openxmlformats.org/drawingml/2006/main" w="0">
            <a:solidFill>
              <a:srgbClr val="D4D8D0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AD9699B2-269A-4F6D-B942-3A37454024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24150" y="2362200"/>
            <a:ext cx="1619250" cy="1104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4D8D0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F4E2D803-6842-4598-AE30-55DD326A09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0" y="2476500"/>
            <a:ext cx="13525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111827"/>
                </a:solidFill>
                <a:latin typeface="Aptos"/>
                <a:ea typeface="Aptos"/>
                <a:cs typeface="Aptos"/>
              </a:rPr>
              <a:t>Dataset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C213C710-A820-414D-8E20-933B2A9981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0" y="2762250"/>
            <a:ext cx="135255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5B6472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5B6472"/>
                </a:solidFill>
                <a:latin typeface="Aptos"/>
                <a:ea typeface="Aptos"/>
                <a:cs typeface="Aptos"/>
              </a:rPr>
              <a:t>What data got committed or staged?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CA8A053B-8687-4390-82BC-1351AF8374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43400" y="2914650"/>
            <a:ext cx="4191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4D8D0"/>
          </a:solidFill>
          <a:ln xmlns:a="http://schemas.openxmlformats.org/drawingml/2006/main" w="0">
            <a:solidFill>
              <a:srgbClr val="D4D8D0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5064B4C9-C453-47CC-B4BA-32766E05EB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0" y="2362200"/>
            <a:ext cx="1619250" cy="1104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4D8D0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44C81B09-924D-4C53-89B1-B0319584B5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95850" y="2476500"/>
            <a:ext cx="13525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111827"/>
                </a:solidFill>
                <a:latin typeface="Aptos"/>
                <a:ea typeface="Aptos"/>
                <a:cs typeface="Aptos"/>
              </a:rPr>
              <a:t>Analysis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F99F7459-1C2B-4D62-A4D9-A0D0BB78F5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95850" y="2762250"/>
            <a:ext cx="135255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5B6472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5B6472"/>
                </a:solidFill>
                <a:latin typeface="Aptos"/>
                <a:ea typeface="Aptos"/>
                <a:cs typeface="Aptos"/>
              </a:rPr>
              <a:t>Which code/run touched it?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518A51C3-8718-4693-9057-64525058A9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2914650"/>
            <a:ext cx="4191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4D8D0"/>
          </a:solidFill>
          <a:ln xmlns:a="http://schemas.openxmlformats.org/drawingml/2006/main" w="0">
            <a:solidFill>
              <a:srgbClr val="D4D8D0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DE148199-05C0-4064-8A67-C1F03F7A4D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00850" y="2362200"/>
            <a:ext cx="1619250" cy="1104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4D8D0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A53808AA-926B-44D3-8488-D821684AC5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34200" y="2476500"/>
            <a:ext cx="13525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111827"/>
                </a:solidFill>
                <a:latin typeface="Aptos"/>
                <a:ea typeface="Aptos"/>
                <a:cs typeface="Aptos"/>
              </a:rPr>
              <a:t>Claim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18AA43EB-33AF-44BA-8074-040BCBADF0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34200" y="2762250"/>
            <a:ext cx="135255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5B6472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5B6472"/>
                </a:solidFill>
                <a:latin typeface="Aptos"/>
                <a:ea typeface="Aptos"/>
                <a:cs typeface="Aptos"/>
              </a:rPr>
              <a:t>What conclusion is supported?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D85DB491-245E-4B20-9F5A-C1C4157EC7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20100" y="2914650"/>
            <a:ext cx="4191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4D8D0"/>
          </a:solidFill>
          <a:ln xmlns:a="http://schemas.openxmlformats.org/drawingml/2006/main" w="0">
            <a:solidFill>
              <a:srgbClr val="D4D8D0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67E8DF6C-114E-420C-B6D3-33B2D79090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39200" y="2362200"/>
            <a:ext cx="1619250" cy="1104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6E7D3"/>
          </a:solidFill>
          <a:ln xmlns:a="http://schemas.openxmlformats.org/drawingml/2006/main" w="9525">
            <a:solidFill>
              <a:srgbClr val="D4D8D0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0C5BEBDF-70F6-49F1-956B-FEEF520EF3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72550" y="2476500"/>
            <a:ext cx="13525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111827"/>
                </a:solidFill>
                <a:latin typeface="Aptos"/>
                <a:ea typeface="Aptos"/>
                <a:cs typeface="Aptos"/>
              </a:rPr>
              <a:t>Visualization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2C47425B-EF53-499F-9DC6-ED0D2133C5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72550" y="2762250"/>
            <a:ext cx="135255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5B6472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5B6472"/>
                </a:solidFill>
                <a:latin typeface="Aptos"/>
                <a:ea typeface="Aptos"/>
                <a:cs typeface="Aptos"/>
              </a:rPr>
              <a:t>Which graph or figure shows it?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12D140EE-AA12-4EAE-AC17-F7E33F55CB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133850"/>
            <a:ext cx="4972050" cy="1295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4D8D0"/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6FF2414E-E875-4760-8BFE-A3DCC74F13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4248150"/>
            <a:ext cx="47053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111827"/>
                </a:solidFill>
                <a:latin typeface="Aptos"/>
                <a:ea typeface="Aptos"/>
                <a:cs typeface="Aptos"/>
              </a:rPr>
              <a:t>Live example: PhD zebra finch song learning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6C9A2369-1973-4DA3-92D5-ECA4A1450F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4533900"/>
            <a:ext cx="4705350" cy="742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5B6472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5B6472"/>
                </a:solidFill>
                <a:latin typeface="Aptos"/>
                <a:ea typeface="Aptos"/>
                <a:cs typeface="Aptos"/>
              </a:rPr>
              <a:t>27 questions, 3 datasets, 3 analyses, 8 supported claims, 8 visualization records. The graph keeps the reasoning chain inspectable instead of burying it in filenames and papers.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C6E836A3-9DD4-418F-88D7-26D4A1802A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4095750"/>
            <a:ext cx="20002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111827"/>
                </a:solidFill>
                <a:latin typeface="Aptos"/>
                <a:ea typeface="Aptos"/>
                <a:cs typeface="Aptos"/>
              </a:rPr>
              <a:t>question parent links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B20C8640-78A7-455F-8F52-0E7DCCBE83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58200" y="4133850"/>
            <a:ext cx="238125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EBE6"/>
          </a:solidFill>
          <a:ln xmlns:a="http://schemas.openxmlformats.org/drawingml/2006/main" w="0">
            <a:solidFill>
              <a:srgbClr val="E8EBE6"/>
            </a:solidFill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D37A48BB-59D0-4D3F-8A97-DC77EA5DDD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58200" y="4133850"/>
            <a:ext cx="238125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F766E"/>
          </a:solidFill>
          <a:ln xmlns:a="http://schemas.openxmlformats.org/drawingml/2006/main" w="0">
            <a:solidFill>
              <a:srgbClr val="0F766E"/>
            </a:solidFill>
            <a:prstDash val="solid"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C36B2AD5-A001-4ABE-AE25-785BE8AB0E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4095750"/>
            <a:ext cx="5143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5B6472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5B6472"/>
                </a:solidFill>
                <a:latin typeface="Aptos"/>
                <a:ea typeface="Aptos"/>
                <a:cs typeface="Aptos"/>
              </a:rPr>
              <a:t>26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F4ADF69B-C684-4BC0-A39D-A64F2A7F9C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4400550"/>
            <a:ext cx="20002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111827"/>
                </a:solidFill>
                <a:latin typeface="Aptos"/>
                <a:ea typeface="Aptos"/>
                <a:cs typeface="Aptos"/>
              </a:rPr>
              <a:t>dataset-question links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32EDF58D-8C8C-4D2F-A2EB-DECEA43D11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58200" y="4438650"/>
            <a:ext cx="238125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EBE6"/>
          </a:solidFill>
          <a:ln xmlns:a="http://schemas.openxmlformats.org/drawingml/2006/main" w="0">
            <a:solidFill>
              <a:srgbClr val="E8EBE6"/>
            </a:solidFill>
            <a:prstDash val="solid"/>
          </a:ln>
        </p:spPr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E676F53F-3BA8-4987-812A-2399341797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58200" y="4438650"/>
            <a:ext cx="1648558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55C7D"/>
          </a:solidFill>
          <a:ln xmlns:a="http://schemas.openxmlformats.org/drawingml/2006/main" w="0">
            <a:solidFill>
              <a:srgbClr val="355C7D"/>
            </a:solidFill>
            <a:prstDash val="solid"/>
          </a:ln>
        </p:spPr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400216CB-16D7-4CAE-8B21-0B2F174B7A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4400550"/>
            <a:ext cx="5143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5B6472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5B6472"/>
                </a:solidFill>
                <a:latin typeface="Aptos"/>
                <a:ea typeface="Aptos"/>
                <a:cs typeface="Aptos"/>
              </a:rPr>
              <a:t>18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F4D9CD82-67E9-4AD8-8A9A-E3E5DEEB6C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4705350"/>
            <a:ext cx="20002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111827"/>
                </a:solidFill>
                <a:latin typeface="Aptos"/>
                <a:ea typeface="Aptos"/>
                <a:cs typeface="Aptos"/>
              </a:rPr>
              <a:t>analysis-dataset links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2794304C-7B39-4078-B296-806401C50C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58200" y="4743450"/>
            <a:ext cx="238125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EBE6"/>
          </a:solidFill>
          <a:ln xmlns:a="http://schemas.openxmlformats.org/drawingml/2006/main" w="0">
            <a:solidFill>
              <a:srgbClr val="E8EBE6"/>
            </a:solidFill>
            <a:prstDash val="solid"/>
          </a:ln>
        </p:spPr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A496CC30-D37B-4620-930C-7E136942DA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58200" y="4743450"/>
            <a:ext cx="27476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D5A8D"/>
          </a:solidFill>
          <a:ln xmlns:a="http://schemas.openxmlformats.org/drawingml/2006/main" w="0">
            <a:solidFill>
              <a:srgbClr val="6D5A8D"/>
            </a:solidFill>
            <a:prstDash val="solid"/>
          </a:ln>
        </p:spPr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BACE3AD2-7BBE-4B31-B012-6182035E8A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4705350"/>
            <a:ext cx="5143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5B6472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5B6472"/>
                </a:solidFill>
                <a:latin typeface="Aptos"/>
                <a:ea typeface="Aptos"/>
                <a:cs typeface="Aptos"/>
              </a:rPr>
              <a:t>3</a:t>
            </a:r>
          </a:p>
        </p:txBody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1BDB02E9-9225-4988-B2FC-E9CF81C485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5010150"/>
            <a:ext cx="20002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111827"/>
                </a:solidFill>
                <a:latin typeface="Aptos"/>
                <a:ea typeface="Aptos"/>
                <a:cs typeface="Aptos"/>
              </a:rPr>
              <a:t>claim support links</a:t>
            </a:r>
          </a:p>
        </p:txBody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3F9CDC15-7B9B-4288-9EE9-A483B542AB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58200" y="5048250"/>
            <a:ext cx="238125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EBE6"/>
          </a:solidFill>
          <a:ln xmlns:a="http://schemas.openxmlformats.org/drawingml/2006/main" w="0">
            <a:solidFill>
              <a:srgbClr val="E8EBE6"/>
            </a:solidFill>
            <a:prstDash val="solid"/>
          </a:ln>
        </p:spPr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5A6DFAAA-BBD3-43EE-8675-C1DB907F28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58200" y="5048250"/>
            <a:ext cx="732692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45309"/>
          </a:solidFill>
          <a:ln xmlns:a="http://schemas.openxmlformats.org/drawingml/2006/main" w="0">
            <a:solidFill>
              <a:srgbClr val="B45309"/>
            </a:solidFill>
            <a:prstDash val="solid"/>
          </a:ln>
        </p:spPr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C8E4861D-B72A-4177-98E0-B79DE452DD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5010150"/>
            <a:ext cx="5143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5B6472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5B6472"/>
                </a:solidFill>
                <a:latin typeface="Aptos"/>
                <a:ea typeface="Aptos"/>
                <a:cs typeface="Aptos"/>
              </a:rPr>
              <a:t>8</a:t>
            </a:r>
          </a:p>
        </p:txBody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04F616D4-6488-4070-B0C4-D84834B7E1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5314950"/>
            <a:ext cx="20002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111827"/>
                </a:solidFill>
                <a:latin typeface="Aptos"/>
                <a:ea typeface="Aptos"/>
                <a:cs typeface="Aptos"/>
              </a:rPr>
              <a:t>visualization links</a:t>
            </a:r>
          </a:p>
        </p:txBody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68EE0A8C-8C92-4F92-8741-D30B1D1D58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58200" y="5353050"/>
            <a:ext cx="238125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EBE6"/>
          </a:solidFill>
          <a:ln xmlns:a="http://schemas.openxmlformats.org/drawingml/2006/main" w="0">
            <a:solidFill>
              <a:srgbClr val="E8EBE6"/>
            </a:solidFill>
            <a:prstDash val="solid"/>
          </a:ln>
        </p:spPr>
      </p: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30AA35F9-8ED6-4CF3-A7C7-0C1E0F8A8C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58200" y="5353050"/>
            <a:ext cx="1465385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F766E"/>
          </a:solidFill>
          <a:ln xmlns:a="http://schemas.openxmlformats.org/drawingml/2006/main" w="0">
            <a:solidFill>
              <a:srgbClr val="0F766E"/>
            </a:solidFill>
            <a:prstDash val="solid"/>
          </a:ln>
        </p:spPr>
      </p:sp>
      <p:sp>
        <p:nvSp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F8BF1222-D997-4020-A2CF-3FF2506C25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5314950"/>
            <a:ext cx="5143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5B6472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5B6472"/>
                </a:solidFill>
                <a:latin typeface="Aptos"/>
                <a:ea typeface="Aptos"/>
                <a:cs typeface="Aptos"/>
              </a:rPr>
              <a:t>16</a:t>
            </a:r>
          </a:p>
        </p:txBody>
      </p:sp>
      <p:sp>
        <p:nvSpPr>
          <p:cNvPr id="47" name="">
            <a:extLst xmlns:a="http://schemas.openxmlformats.org/drawingml/2006/main">
              <a:ext uri="{FF2B5EF4-FFF2-40B4-BE49-F238E27FC236}">
                <a16:creationId xmlns:a16="http://schemas.microsoft.com/office/drawing/2014/main" id="{BD28D662-694B-44F7-A8F8-C634F4F3CB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553200"/>
            <a:ext cx="93345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5B6472"/>
                </a:solidFill>
                <a:latin typeface="Aptos"/>
                <a:ea typeface="Aptos"/>
                <a:cs typeface="Aptos"/>
              </a:defRPr>
            </a:pPr>
            <a:r>
              <a:rPr sz="750" b="0">
                <a:solidFill>
                  <a:srgbClr val="5B6472"/>
                </a:solidFill>
                <a:latin typeface="Aptos"/>
                <a:ea typeface="Aptos"/>
                <a:cs typeface="Aptos"/>
              </a:rPr>
              <a:t>Source: local /projects/{id}/graph?view=evidence for PhD zebra finch song learning.</a:t>
            </a:r>
          </a:p>
        </p:txBody>
      </p:sp>
      <p:sp>
        <p:nvSpPr>
          <p:cNvPr id="48" name="">
            <a:extLst xmlns:a="http://schemas.openxmlformats.org/drawingml/2006/main">
              <a:ext uri="{FF2B5EF4-FFF2-40B4-BE49-F238E27FC236}">
                <a16:creationId xmlns:a16="http://schemas.microsoft.com/office/drawing/2014/main" id="{09B9706F-FA96-40DA-875D-CF32CD6107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553200"/>
            <a:ext cx="4572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750" b="0">
                <a:solidFill>
                  <a:srgbClr val="5B6472"/>
                </a:solidFill>
                <a:latin typeface="Aptos"/>
                <a:ea typeface="Aptos"/>
                <a:cs typeface="Aptos"/>
              </a:defRPr>
            </a:pPr>
            <a:r>
              <a:rPr sz="750" b="0">
                <a:solidFill>
                  <a:srgbClr val="5B6472"/>
                </a:solidFill>
                <a:latin typeface="Aptos"/>
                <a:ea typeface="Aptos"/>
                <a:cs typeface="Aptos"/>
              </a:rPr>
              <a:t>03</a:t>
            </a:r>
          </a:p>
        </p:txBody>
      </p:sp>
    </p:spTree>
    <p:extLst>
      <p:ext uri="{BB962C8B-B14F-4D97-AF65-F5344CB8AC3E}">
        <p14:creationId xmlns:p14="http://schemas.microsoft.com/office/powerpoint/2010/main" val="1241483870"/>
      </p:ext>
    </p:extLst>
  </p:cSld>
</p:sld>
</file>

<file path=ppt/slides/slide4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DE19E83E-28FA-4AF0-941E-5F04FCCCA8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7F4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kicker-marker">
            <a:extLst xmlns:a="http://schemas.openxmlformats.org/drawingml/2006/main">
              <a:ext uri="{FF2B5EF4-FFF2-40B4-BE49-F238E27FC236}">
                <a16:creationId xmlns:a16="http://schemas.microsoft.com/office/drawing/2014/main" id="{45D07F4E-ABEC-476B-8083-27D31CDAB9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428625"/>
            <a:ext cx="762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F766E"/>
          </a:solidFill>
          <a:ln xmlns:a="http://schemas.openxmlformats.org/drawingml/2006/main" w="0">
            <a:solidFill>
              <a:srgbClr val="0F766E"/>
            </a:solidFill>
            <a:prstDash val="solid"/>
          </a:ln>
        </p:spPr>
      </p:sp>
      <p:sp>
        <p:nvSpPr>
          <p:cNvPr id="3" name="kicker-label">
            <a:extLst xmlns:a="http://schemas.openxmlformats.org/drawingml/2006/main">
              <a:ext uri="{FF2B5EF4-FFF2-40B4-BE49-F238E27FC236}">
                <a16:creationId xmlns:a16="http://schemas.microsoft.com/office/drawing/2014/main" id="{1FBAD859-776D-47C2-BDE1-399CFBC6B9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61950"/>
            <a:ext cx="24765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0F766E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0F766E"/>
                </a:solidFill>
                <a:latin typeface="Aptos"/>
                <a:ea typeface="Aptos"/>
                <a:cs typeface="Aptos"/>
              </a:rPr>
              <a:t>ACTUAL APP GRAPH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D8BE95D-9EF4-47F1-9B56-579B04BA21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28650"/>
            <a:ext cx="9906000" cy="914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700" b="1">
                <a:solidFill>
                  <a:srgbClr val="111827"/>
                </a:solidFill>
                <a:latin typeface="Aptos Display"/>
                <a:ea typeface="Aptos Display"/>
                <a:cs typeface="Aptos Display"/>
              </a:defRPr>
            </a:pPr>
            <a:r>
              <a:rPr sz="2700" b="1">
                <a:solidFill>
                  <a:srgbClr val="111827"/>
                </a:solidFill>
                <a:latin typeface="Aptos Display"/>
                <a:ea typeface="Aptos Display"/>
                <a:cs typeface="Aptos Display"/>
              </a:rPr>
              <a:t>The app already renders the live evidence graph.</a:t>
            </a:r>
          </a:p>
        </p:txBody>
      </p:sp>
      <p:pic>
        <p:nvPicPr>
          <p:cNvPr id="5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d016927baa5f4eaa"/>
          <a:stretch xmlns:a="http://schemas.openxmlformats.org/drawingml/2006/main"/>
        </p:blipFill>
        <p:spPr>
          <a:xfrm xmlns:a="http://schemas.openxmlformats.org/drawingml/2006/main">
            <a:off x="514350" y="1851252"/>
            <a:ext cx="3238500" cy="3955596"/>
          </a:xfrm>
          <a:prstGeom xmlns:a="http://schemas.openxmlformats.org/drawingml/2006/main" prst="rect">
            <a:avLst/>
          </a:prstGeom>
        </p:spPr>
      </p:pic>
      <p:pic>
        <p:nvPicPr>
          <p:cNvPr id="6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cca61ff5f6554956"/>
          <a:stretch xmlns:a="http://schemas.openxmlformats.org/drawingml/2006/main"/>
        </p:blipFill>
        <p:spPr>
          <a:xfrm xmlns:a="http://schemas.openxmlformats.org/drawingml/2006/main">
            <a:off x="4038600" y="1838495"/>
            <a:ext cx="4438650" cy="2571410"/>
          </a:xfrm>
          <a:prstGeom xmlns:a="http://schemas.openxmlformats.org/drawingml/2006/main" prst="rect">
            <a:avLst/>
          </a:prstGeom>
        </p:spPr>
      </p:pic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724BBDA-796B-47A3-BB97-FF17637102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38600" y="4762500"/>
            <a:ext cx="4381500" cy="628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5B6472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5B6472"/>
                </a:solidFill>
                <a:latin typeface="Aptos"/>
                <a:ea typeface="Aptos"/>
                <a:cs typeface="Aptos"/>
              </a:rPr>
              <a:t>Left: readable crop of the live evidence graph. Above: the same graph in the app, with Evidence / Questions / Full Graph tabs and Mermaid export.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8099779-E49A-4B42-B536-66F5555D71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0" y="1752600"/>
            <a:ext cx="24765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0F766E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0F766E"/>
                </a:solidFill>
                <a:latin typeface="Aptos"/>
                <a:ea typeface="Aptos"/>
                <a:cs typeface="Aptos"/>
              </a:rPr>
              <a:t>What this is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E7C91FD1-C9B0-40BF-87CA-104696DEE9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0" y="2133600"/>
            <a:ext cx="2476500" cy="952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5B6472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5B6472"/>
                </a:solidFill>
                <a:latin typeface="Aptos"/>
                <a:ea typeface="Aptos"/>
                <a:cs typeface="Aptos"/>
              </a:rPr>
              <a:t>A screenshot from the local app route /app/graph, using the evidence view for the PhD zebra finch project.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EAC0BFEC-F274-4F42-94EE-8675674FA0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0" y="3314700"/>
            <a:ext cx="2476500" cy="1314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111827"/>
                </a:solidFill>
                <a:latin typeface="Aptos"/>
                <a:ea typeface="Aptos"/>
                <a:cs typeface="Aptos"/>
              </a:rPr>
              <a:t>The nodes come from the live API projection, not a hand-made diagram: questions, datasets, analyses, claims, and visualizations are all first-class records.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42FEB910-9AD1-4090-ABF1-944E029346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0" y="4953000"/>
            <a:ext cx="2476500" cy="571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5B6472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5B6472"/>
                </a:solidFill>
                <a:latin typeface="Aptos"/>
                <a:ea typeface="Aptos"/>
                <a:cs typeface="Aptos"/>
              </a:rPr>
              <a:t>There is also a Mermaid export for sharing the same graph outside the app.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59EEB69A-5258-4DDC-BF1B-810C1E0DAE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553200"/>
            <a:ext cx="93345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5B6472"/>
                </a:solidFill>
                <a:latin typeface="Aptos"/>
                <a:ea typeface="Aptos"/>
                <a:cs typeface="Aptos"/>
              </a:defRPr>
            </a:pPr>
            <a:r>
              <a:rPr sz="750" b="0">
                <a:solidFill>
                  <a:srgbClr val="5B6472"/>
                </a:solidFill>
                <a:latin typeface="Aptos"/>
                <a:ea typeface="Aptos"/>
                <a:cs typeface="Aptos"/>
              </a:rPr>
              <a:t>Source: screenshot from local Lab Tracker /app/graph evidence view.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DD557E64-C812-4E79-AC93-944DF72ECC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553200"/>
            <a:ext cx="4572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750" b="0">
                <a:solidFill>
                  <a:srgbClr val="5B6472"/>
                </a:solidFill>
                <a:latin typeface="Aptos"/>
                <a:ea typeface="Aptos"/>
                <a:cs typeface="Aptos"/>
              </a:defRPr>
            </a:pPr>
            <a:r>
              <a:rPr sz="750" b="0">
                <a:solidFill>
                  <a:srgbClr val="5B6472"/>
                </a:solidFill>
                <a:latin typeface="Aptos"/>
                <a:ea typeface="Aptos"/>
                <a:cs typeface="Aptos"/>
              </a:rPr>
              <a:t>04</a:t>
            </a:r>
          </a:p>
        </p:txBody>
      </p:sp>
    </p:spTree>
    <p:extLst>
      <p:ext uri="{BB962C8B-B14F-4D97-AF65-F5344CB8AC3E}">
        <p14:creationId xmlns:p14="http://schemas.microsoft.com/office/powerpoint/2010/main" val="1333495819"/>
      </p:ext>
    </p:extLst>
  </p:cSld>
</p:sld>
</file>

<file path=ppt/slides/slide5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B6EBFF28-F19C-405A-B8A9-420E489627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7F4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kicker-marker">
            <a:extLst xmlns:a="http://schemas.openxmlformats.org/drawingml/2006/main">
              <a:ext uri="{FF2B5EF4-FFF2-40B4-BE49-F238E27FC236}">
                <a16:creationId xmlns:a16="http://schemas.microsoft.com/office/drawing/2014/main" id="{E8550AE4-5A8B-4185-A51C-5655FB5B15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428625"/>
            <a:ext cx="762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F766E"/>
          </a:solidFill>
          <a:ln xmlns:a="http://schemas.openxmlformats.org/drawingml/2006/main" w="0">
            <a:solidFill>
              <a:srgbClr val="0F766E"/>
            </a:solidFill>
            <a:prstDash val="solid"/>
          </a:ln>
        </p:spPr>
      </p:sp>
      <p:sp>
        <p:nvSpPr>
          <p:cNvPr id="3" name="kicker-label">
            <a:extLst xmlns:a="http://schemas.openxmlformats.org/drawingml/2006/main">
              <a:ext uri="{FF2B5EF4-FFF2-40B4-BE49-F238E27FC236}">
                <a16:creationId xmlns:a16="http://schemas.microsoft.com/office/drawing/2014/main" id="{72012874-A940-46E5-9DC9-9F8D6A3820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61950"/>
            <a:ext cx="24765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0F766E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0F766E"/>
                </a:solidFill>
                <a:latin typeface="Aptos"/>
                <a:ea typeface="Aptos"/>
                <a:cs typeface="Aptos"/>
              </a:rPr>
              <a:t>ACTUAL GRAPHS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64ED41D-D423-48CC-B092-1FABF4AA5F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28650"/>
            <a:ext cx="9906000" cy="914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700" b="1">
                <a:solidFill>
                  <a:srgbClr val="111827"/>
                </a:solidFill>
                <a:latin typeface="Aptos Display"/>
                <a:ea typeface="Aptos Display"/>
                <a:cs typeface="Aptos Display"/>
              </a:defRPr>
            </a:pPr>
            <a:r>
              <a:rPr sz="2700" b="1">
                <a:solidFill>
                  <a:srgbClr val="111827"/>
                </a:solidFill>
                <a:latin typeface="Aptos Display"/>
                <a:ea typeface="Aptos Display"/>
                <a:cs typeface="Aptos Display"/>
              </a:rPr>
              <a:t>The graph is tracking real analysis figures, not just metadata.</a:t>
            </a:r>
          </a:p>
        </p:txBody>
      </p:sp>
      <p:pic>
        <p:nvPicPr>
          <p:cNvPr id="5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92768b3f37ac4f02"/>
          <a:stretch xmlns:a="http://schemas.openxmlformats.org/drawingml/2006/main"/>
        </p:blipFill>
        <p:spPr>
          <a:xfrm xmlns:a="http://schemas.openxmlformats.org/drawingml/2006/main">
            <a:off x="514350" y="1788781"/>
            <a:ext cx="5429250" cy="2327937"/>
          </a:xfrm>
          <a:prstGeom xmlns:a="http://schemas.openxmlformats.org/drawingml/2006/main" prst="rect">
            <a:avLst/>
          </a:prstGeom>
        </p:spPr>
      </p:pic>
      <p:pic>
        <p:nvPicPr>
          <p:cNvPr id="6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b69da1b140e74992"/>
          <a:stretch xmlns:a="http://schemas.openxmlformats.org/drawingml/2006/main"/>
        </p:blipFill>
        <p:spPr>
          <a:xfrm xmlns:a="http://schemas.openxmlformats.org/drawingml/2006/main">
            <a:off x="6910438" y="1619250"/>
            <a:ext cx="4067074" cy="2667000"/>
          </a:xfrm>
          <a:prstGeom xmlns:a="http://schemas.openxmlformats.org/drawingml/2006/main" prst="rect">
            <a:avLst/>
          </a:prstGeom>
        </p:spPr>
      </p:pic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F7850A3-3DB1-471B-9A54-5CE30F2761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591050"/>
            <a:ext cx="5048250" cy="914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111827"/>
                </a:solidFill>
                <a:latin typeface="Aptos"/>
                <a:ea typeface="Aptos"/>
                <a:cs typeface="Aptos"/>
              </a:rPr>
              <a:t>Example tracked output: a paper-embedding manifold over 832 papers and 9,937 chunks. HDBSCAN finds 7 dense clusters covering 22% of papers; the rest form the diffuse manifold.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F91088A-578E-48DA-A784-20DDCD125B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4591050"/>
            <a:ext cx="5048250" cy="914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5B6472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5B6472"/>
                </a:solidFill>
                <a:latin typeface="Aptos"/>
                <a:ea typeface="Aptos"/>
                <a:cs typeface="Aptos"/>
              </a:rPr>
              <a:t>Lab Tracker stores the question context and notes around these plots so a coworker can tell what the figures answer and where the next analysis branch lives.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BE8F858D-C45E-4587-BE7E-819D71B59A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553200"/>
            <a:ext cx="93345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5B6472"/>
                </a:solidFill>
                <a:latin typeface="Aptos"/>
                <a:ea typeface="Aptos"/>
                <a:cs typeface="Aptos"/>
              </a:defRPr>
            </a:pPr>
            <a:r>
              <a:rPr sz="750" b="0">
                <a:solidFill>
                  <a:srgbClr val="5B6472"/>
                </a:solidFill>
                <a:latin typeface="Aptos"/>
                <a:ea typeface="Aptos"/>
                <a:cs typeface="Aptos"/>
              </a:rPr>
              <a:t>Source PNGs: C:/Users/snb6/Documents/GitHub/LiteratureEmbeddings/plots.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3BE3CCFB-4487-4556-AAD9-2EA96B6E1A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553200"/>
            <a:ext cx="4572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750" b="0">
                <a:solidFill>
                  <a:srgbClr val="5B6472"/>
                </a:solidFill>
                <a:latin typeface="Aptos"/>
                <a:ea typeface="Aptos"/>
                <a:cs typeface="Aptos"/>
              </a:defRPr>
            </a:pPr>
            <a:r>
              <a:rPr sz="750" b="0">
                <a:solidFill>
                  <a:srgbClr val="5B6472"/>
                </a:solidFill>
                <a:latin typeface="Aptos"/>
                <a:ea typeface="Aptos"/>
                <a:cs typeface="Aptos"/>
              </a:rPr>
              <a:t>05</a:t>
            </a:r>
          </a:p>
        </p:txBody>
      </p:sp>
    </p:spTree>
    <p:extLst>
      <p:ext uri="{BB962C8B-B14F-4D97-AF65-F5344CB8AC3E}">
        <p14:creationId xmlns:p14="http://schemas.microsoft.com/office/powerpoint/2010/main" val="2079915770"/>
      </p:ext>
    </p:extLst>
  </p:cSld>
</p:sld>
</file>

<file path=ppt/slides/slide6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7EDB8125-AA65-4F2B-9A12-FED39474C1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7F4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kicker-marker">
            <a:extLst xmlns:a="http://schemas.openxmlformats.org/drawingml/2006/main">
              <a:ext uri="{FF2B5EF4-FFF2-40B4-BE49-F238E27FC236}">
                <a16:creationId xmlns:a16="http://schemas.microsoft.com/office/drawing/2014/main" id="{761B4530-82C5-4CA3-B894-6C0106EF4C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428625"/>
            <a:ext cx="762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F766E"/>
          </a:solidFill>
          <a:ln xmlns:a="http://schemas.openxmlformats.org/drawingml/2006/main" w="0">
            <a:solidFill>
              <a:srgbClr val="0F766E"/>
            </a:solidFill>
            <a:prstDash val="solid"/>
          </a:ln>
        </p:spPr>
      </p:sp>
      <p:sp>
        <p:nvSpPr>
          <p:cNvPr id="3" name="kicker-label">
            <a:extLst xmlns:a="http://schemas.openxmlformats.org/drawingml/2006/main">
              <a:ext uri="{FF2B5EF4-FFF2-40B4-BE49-F238E27FC236}">
                <a16:creationId xmlns:a16="http://schemas.microsoft.com/office/drawing/2014/main" id="{E886D3EB-4EB3-481B-924B-30778958FF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61950"/>
            <a:ext cx="24765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0F766E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0F766E"/>
                </a:solidFill>
                <a:latin typeface="Aptos"/>
                <a:ea typeface="Aptos"/>
                <a:cs typeface="Aptos"/>
              </a:rPr>
              <a:t>GRAPH-AWARE CAPTURE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BD3D544-D7F9-4E8F-84C7-EDC6641D26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28650"/>
            <a:ext cx="9906000" cy="914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700" b="1">
                <a:solidFill>
                  <a:srgbClr val="111827"/>
                </a:solidFill>
                <a:latin typeface="Aptos Display"/>
                <a:ea typeface="Aptos Display"/>
                <a:cs typeface="Aptos Display"/>
              </a:defRPr>
            </a:pPr>
            <a:r>
              <a:rPr sz="2700" b="1">
                <a:solidFill>
                  <a:srgbClr val="111827"/>
                </a:solidFill>
                <a:latin typeface="Aptos Display"/>
                <a:ea typeface="Aptos Display"/>
                <a:cs typeface="Aptos Display"/>
              </a:rPr>
              <a:t>AI suggestions are reviewable graph drafts, not automatic graph mutation.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3288B4E-D5F8-4F41-91D5-51E9789DE5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266950"/>
            <a:ext cx="1657350" cy="1066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EEE9"/>
          </a:solidFill>
          <a:ln xmlns:a="http://schemas.openxmlformats.org/drawingml/2006/main" w="9525">
            <a:solidFill>
              <a:srgbClr val="D4D8D0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1D62727-3ECD-47A0-9EFE-1C59D466FE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2381250"/>
            <a:ext cx="13906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111827"/>
                </a:solidFill>
                <a:latin typeface="Aptos"/>
                <a:ea typeface="Aptos"/>
                <a:cs typeface="Aptos"/>
              </a:rPr>
              <a:t>Capture note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BAA5A95-BC1E-4B5F-9D6B-F1CA79A13D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2667000"/>
            <a:ext cx="139065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5B6472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5B6472"/>
                </a:solidFill>
                <a:latin typeface="Aptos"/>
                <a:ea typeface="Aptos"/>
                <a:cs typeface="Aptos"/>
              </a:rPr>
              <a:t>Photo, voice, photo+voice, text, or manual note.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45AF8AD-D228-4CD6-9C0B-952BEC3748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05150" y="2266950"/>
            <a:ext cx="1657350" cy="1066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4D8D0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0E04BAC3-C4EE-4670-80E2-EFE615B51F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38500" y="2381250"/>
            <a:ext cx="13906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111827"/>
                </a:solidFill>
                <a:latin typeface="Aptos"/>
                <a:ea typeface="Aptos"/>
                <a:cs typeface="Aptos"/>
              </a:rPr>
              <a:t>Build context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AC7D04A2-66FB-4E64-8DFE-E7D69C4FE8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38500" y="2667000"/>
            <a:ext cx="139065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5B6472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5B6472"/>
                </a:solidFill>
                <a:latin typeface="Aptos"/>
                <a:ea typeface="Aptos"/>
                <a:cs typeface="Aptos"/>
              </a:rPr>
              <a:t>Project, targets, recent notes, questions, datasets, claims, visualizations.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BB7C6447-C30C-4DF6-BF50-B81852B7A5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0" y="2266950"/>
            <a:ext cx="1657350" cy="1066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EEF4"/>
          </a:solidFill>
          <a:ln xmlns:a="http://schemas.openxmlformats.org/drawingml/2006/main" w="9525">
            <a:solidFill>
              <a:srgbClr val="D4D8D0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09E0EE3E-8A02-476A-9EBF-70CD7549E7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19750" y="2381250"/>
            <a:ext cx="13906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111827"/>
                </a:solidFill>
                <a:latin typeface="Aptos"/>
                <a:ea typeface="Aptos"/>
                <a:cs typeface="Aptos"/>
              </a:rPr>
              <a:t>Draft ops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0C651EA3-2AAF-49FD-A570-EA80BBCFC9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19750" y="2667000"/>
            <a:ext cx="139065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5B6472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5B6472"/>
                </a:solidFill>
                <a:latin typeface="Aptos"/>
                <a:ea typeface="Aptos"/>
                <a:cs typeface="Aptos"/>
              </a:rPr>
              <a:t>Model proposes structured graph operations with uncertainty.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90493FEB-3419-4AF0-9E89-869EF68C14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67650" y="2266950"/>
            <a:ext cx="1657350" cy="1066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6E7D3"/>
          </a:solidFill>
          <a:ln xmlns:a="http://schemas.openxmlformats.org/drawingml/2006/main" w="9525">
            <a:solidFill>
              <a:srgbClr val="D4D8D0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207BEEFE-3692-4E34-B5F1-21F8F329A8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0" y="2381250"/>
            <a:ext cx="13906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111827"/>
                </a:solidFill>
                <a:latin typeface="Aptos"/>
                <a:ea typeface="Aptos"/>
                <a:cs typeface="Aptos"/>
              </a:rPr>
              <a:t>Human review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AC519F48-9FDE-44DF-B2D1-3F480F4AE9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0" y="2667000"/>
            <a:ext cx="139065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5B6472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5B6472"/>
                </a:solidFill>
                <a:latin typeface="Aptos"/>
                <a:ea typeface="Aptos"/>
                <a:cs typeface="Aptos"/>
              </a:rPr>
              <a:t>Edit, accept, reject, submit, then commit through the API.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545B9D2B-AEC4-40BF-A948-7D02738F9A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81250" y="2800350"/>
            <a:ext cx="7239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4D8D0"/>
          </a:solidFill>
          <a:ln xmlns:a="http://schemas.openxmlformats.org/drawingml/2006/main" w="0">
            <a:solidFill>
              <a:srgbClr val="D4D8D0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B628FDFA-597E-44EF-8D96-09A2E37CEE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0" y="2800350"/>
            <a:ext cx="7239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4D8D0"/>
          </a:solidFill>
          <a:ln xmlns:a="http://schemas.openxmlformats.org/drawingml/2006/main" w="0">
            <a:solidFill>
              <a:srgbClr val="D4D8D0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EAB73650-1F80-464E-B0E8-51A8132169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0" y="2800350"/>
            <a:ext cx="7239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4D8D0"/>
          </a:solidFill>
          <a:ln xmlns:a="http://schemas.openxmlformats.org/drawingml/2006/main" w="0">
            <a:solidFill>
              <a:srgbClr val="D4D8D0"/>
            </a:solidFill>
            <a:prstDash val="solid"/>
          </a:ln>
        </p:spPr>
      </p:sp>
      <p:pic>
        <p:nvPicPr>
          <p:cNvPr id="20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d903ecb199894432"/>
          <a:stretch xmlns:a="http://schemas.openxmlformats.org/drawingml/2006/main"/>
        </p:blipFill>
        <p:spPr>
          <a:xfrm xmlns:a="http://schemas.openxmlformats.org/drawingml/2006/main">
            <a:off x="1157145" y="3924300"/>
            <a:ext cx="4067459" cy="1943100"/>
          </a:xfrm>
          <a:prstGeom xmlns:a="http://schemas.openxmlformats.org/drawingml/2006/main" prst="rect">
            <a:avLst/>
          </a:prstGeom>
        </p:spPr>
      </p:pic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213F73EA-2FBC-48E7-9413-E9CAB498DA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72200" y="4000500"/>
            <a:ext cx="45720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0F766E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0F766E"/>
                </a:solidFill>
                <a:latin typeface="Aptos"/>
                <a:ea typeface="Aptos"/>
                <a:cs typeface="Aptos"/>
              </a:rPr>
              <a:t>Why it matters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3ED46ACF-0D66-4BBF-AFA8-3922A7EC48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72200" y="4400550"/>
            <a:ext cx="4762500" cy="914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111827"/>
                </a:solidFill>
                <a:latin typeface="Aptos"/>
                <a:ea typeface="Aptos"/>
                <a:cs typeface="Aptos"/>
              </a:rPr>
              <a:t>The model sees the existing graph before suggesting changes. That is the main product idea: use the lab record as context, then keep humans in charge of the commit.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69FACD5F-AB8C-49E2-8C14-EE45BBDA05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72200" y="5467350"/>
            <a:ext cx="476250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5B6472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5B6472"/>
                </a:solidFill>
                <a:latin typeface="Aptos"/>
                <a:ea typeface="Aptos"/>
                <a:cs typeface="Aptos"/>
              </a:rPr>
              <a:t>This is also why the repo exposes an MCP decision-context tool for assistants.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1A73853E-F003-43BD-9C2D-51E19A5D1B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553200"/>
            <a:ext cx="93345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5B6472"/>
                </a:solidFill>
                <a:latin typeface="Aptos"/>
                <a:ea typeface="Aptos"/>
                <a:cs typeface="Aptos"/>
              </a:defRPr>
            </a:pPr>
            <a:r>
              <a:rPr sz="750" b="0">
                <a:solidFill>
                  <a:srgbClr val="5B6472"/>
                </a:solidFill>
                <a:latin typeface="Aptos"/>
                <a:ea typeface="Aptos"/>
                <a:cs typeface="Aptos"/>
              </a:rPr>
              <a:t>Sources: docs/mobile-graph-aware-image-draft-review.md and docs/mcp-decision-context-tooling.md.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C25E0DB1-9547-446A-A984-324FFD4386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553200"/>
            <a:ext cx="4572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750" b="0">
                <a:solidFill>
                  <a:srgbClr val="5B6472"/>
                </a:solidFill>
                <a:latin typeface="Aptos"/>
                <a:ea typeface="Aptos"/>
                <a:cs typeface="Aptos"/>
              </a:defRPr>
            </a:pPr>
            <a:r>
              <a:rPr sz="750" b="0">
                <a:solidFill>
                  <a:srgbClr val="5B6472"/>
                </a:solidFill>
                <a:latin typeface="Aptos"/>
                <a:ea typeface="Aptos"/>
                <a:cs typeface="Aptos"/>
              </a:rPr>
              <a:t>06</a:t>
            </a:r>
          </a:p>
        </p:txBody>
      </p:sp>
    </p:spTree>
    <p:extLst>
      <p:ext uri="{BB962C8B-B14F-4D97-AF65-F5344CB8AC3E}">
        <p14:creationId xmlns:p14="http://schemas.microsoft.com/office/powerpoint/2010/main" val="970024218"/>
      </p:ext>
    </p:extLst>
  </p:cSld>
</p:sld>
</file>

<file path=ppt/slides/slide7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B6E70AC6-E048-4E73-8494-8A37475C63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7F4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kicker-marker">
            <a:extLst xmlns:a="http://schemas.openxmlformats.org/drawingml/2006/main">
              <a:ext uri="{FF2B5EF4-FFF2-40B4-BE49-F238E27FC236}">
                <a16:creationId xmlns:a16="http://schemas.microsoft.com/office/drawing/2014/main" id="{0913A40C-2ECE-45C6-AFF4-5A34F3D6E0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428625"/>
            <a:ext cx="762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F766E"/>
          </a:solidFill>
          <a:ln xmlns:a="http://schemas.openxmlformats.org/drawingml/2006/main" w="0">
            <a:solidFill>
              <a:srgbClr val="0F766E"/>
            </a:solidFill>
            <a:prstDash val="solid"/>
          </a:ln>
        </p:spPr>
      </p:sp>
      <p:sp>
        <p:nvSpPr>
          <p:cNvPr id="3" name="kicker-label">
            <a:extLst xmlns:a="http://schemas.openxmlformats.org/drawingml/2006/main">
              <a:ext uri="{FF2B5EF4-FFF2-40B4-BE49-F238E27FC236}">
                <a16:creationId xmlns:a16="http://schemas.microsoft.com/office/drawing/2014/main" id="{3CED7B33-3C1D-4695-BF16-F28BD3B6A8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61950"/>
            <a:ext cx="24765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0F766E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0F766E"/>
                </a:solidFill>
                <a:latin typeface="Aptos"/>
                <a:ea typeface="Aptos"/>
                <a:cs typeface="Aptos"/>
              </a:rPr>
              <a:t>DEMO PATH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3C5E02E-9473-4295-B931-19B33CF900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28650"/>
            <a:ext cx="9906000" cy="914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700" b="1">
                <a:solidFill>
                  <a:srgbClr val="111827"/>
                </a:solidFill>
                <a:latin typeface="Aptos Display"/>
                <a:ea typeface="Aptos Display"/>
                <a:cs typeface="Aptos Display"/>
              </a:defRPr>
            </a:pPr>
            <a:r>
              <a:rPr sz="2700" b="1">
                <a:solidFill>
                  <a:srgbClr val="111827"/>
                </a:solidFill>
                <a:latin typeface="Aptos Display"/>
                <a:ea typeface="Aptos Display"/>
                <a:cs typeface="Aptos Display"/>
              </a:rPr>
              <a:t>A quick coworker demo can stay under five minutes.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07632C8-34F4-4A9D-9F31-7AC5BF033C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1809750"/>
            <a:ext cx="3219450" cy="1123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EEE9"/>
          </a:solidFill>
          <a:ln xmlns:a="http://schemas.openxmlformats.org/drawingml/2006/main" w="9525">
            <a:solidFill>
              <a:srgbClr val="D4D8D0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4A2FE9D-E097-48FB-BC5E-A6678D893A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1924050"/>
            <a:ext cx="29527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111827"/>
                </a:solidFill>
                <a:latin typeface="Aptos"/>
                <a:ea typeface="Aptos"/>
                <a:cs typeface="Aptos"/>
              </a:rPr>
              <a:t>1. Open the app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0B5D3F4-BAC0-4743-9FB7-1040FF3496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2209800"/>
            <a:ext cx="2952750" cy="571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5B6472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5B6472"/>
                </a:solidFill>
                <a:latin typeface="Aptos"/>
                <a:ea typeface="Aptos"/>
                <a:cs typeface="Aptos"/>
              </a:rPr>
              <a:t>http://127.0.0.1:8000/app</a:t>
            </a:r>
          </a:p>
          <a:p xmlns:a="http://schemas.openxmlformats.org/drawingml/2006/main">
            <a:pPr algn="l">
              <a:defRPr sz="1200" b="0">
                <a:solidFill>
                  <a:srgbClr val="5B6472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5B6472"/>
                </a:solidFill>
                <a:latin typeface="Aptos"/>
                <a:ea typeface="Aptos"/>
                <a:cs typeface="Aptos"/>
              </a:rPr>
              <a:t>Pick an active project and show the dashboard counts.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7775D53-4508-4E05-8D69-7DC7D07FCA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1809750"/>
            <a:ext cx="3219450" cy="1123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4D8D0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701BF1F9-2D03-4618-8A69-D756CF62E2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10100" y="1924050"/>
            <a:ext cx="29527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111827"/>
                </a:solidFill>
                <a:latin typeface="Aptos"/>
                <a:ea typeface="Aptos"/>
                <a:cs typeface="Aptos"/>
              </a:rPr>
              <a:t>2. Open Project Graph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CA6F4019-AECA-4A6A-ADCB-C5799A6AF9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10100" y="2209800"/>
            <a:ext cx="2952750" cy="571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5B6472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5B6472"/>
                </a:solidFill>
                <a:latin typeface="Aptos"/>
                <a:ea typeface="Aptos"/>
                <a:cs typeface="Aptos"/>
              </a:rPr>
              <a:t>Use Evidence, Questions, and Full Graph tabs. Export Mermaid when you want a portable graph.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EE464636-CE63-4362-84A1-FC1BEBFE6E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10550" y="1809750"/>
            <a:ext cx="3219450" cy="1123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6E7D3"/>
          </a:solidFill>
          <a:ln xmlns:a="http://schemas.openxmlformats.org/drawingml/2006/main" w="9525">
            <a:solidFill>
              <a:srgbClr val="D4D8D0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AE93FF58-5338-427B-8E57-490DAE1C68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43900" y="1924050"/>
            <a:ext cx="29527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111827"/>
                </a:solidFill>
                <a:latin typeface="Aptos"/>
                <a:ea typeface="Aptos"/>
                <a:cs typeface="Aptos"/>
              </a:rPr>
              <a:t>3. Show plots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3FA39294-103F-4146-B3A4-FE03A20A85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43900" y="2209800"/>
            <a:ext cx="2952750" cy="571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5B6472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5B6472"/>
                </a:solidFill>
                <a:latin typeface="Aptos"/>
                <a:ea typeface="Aptos"/>
                <a:cs typeface="Aptos"/>
              </a:rPr>
              <a:t>Use the literature project notes and plot outputs as the concrete example.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09484562-DFFA-456A-B3CF-DF9FAEB8B9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3638550"/>
            <a:ext cx="49530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0F766E"/>
                </a:solidFill>
                <a:latin typeface="Aptos"/>
                <a:ea typeface="Aptos"/>
                <a:cs typeface="Aptos"/>
              </a:defRPr>
            </a:pPr>
            <a:r>
              <a:rPr sz="1425" b="1">
                <a:solidFill>
                  <a:srgbClr val="0F766E"/>
                </a:solidFill>
                <a:latin typeface="Aptos"/>
                <a:ea typeface="Aptos"/>
                <a:cs typeface="Aptos"/>
              </a:rPr>
              <a:t>Useful commands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D9CA420E-0923-41B5-815B-884EA35B91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4057650"/>
            <a:ext cx="4953000" cy="1276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111827"/>
                </a:solidFill>
                <a:latin typeface="Aptos"/>
                <a:ea typeface="Aptos"/>
                <a:cs typeface="Aptos"/>
              </a:rPr>
              <a:t>uv run uvicorn lab_tracker.asgi:app --reload</a:t>
            </a:r>
          </a:p>
          <a:p xmlns:a="http://schemas.openxmlformats.org/drawingml/2006/main">
            <a:pPr algn="l">
              <a:defRPr sz="1350" b="0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111827"/>
                </a:solidFill>
                <a:latin typeface="Aptos"/>
                <a:ea typeface="Aptos"/>
                <a:cs typeface="Aptos"/>
              </a:rPr>
              <a:t>uv run pytest -q</a:t>
            </a:r>
          </a:p>
          <a:p xmlns:a="http://schemas.openxmlformats.org/drawingml/2006/main">
            <a:pPr algn="l">
              <a:defRPr sz="1350" b="0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111827"/>
                </a:solidFill>
                <a:latin typeface="Aptos"/>
                <a:ea typeface="Aptos"/>
                <a:cs typeface="Aptos"/>
              </a:rPr>
              <a:t>npm run test:frontend</a:t>
            </a:r>
          </a:p>
          <a:p xmlns:a="http://schemas.openxmlformats.org/drawingml/2006/main">
            <a:pPr algn="l">
              <a:defRPr sz="1350" b="0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111827"/>
                </a:solidFill>
                <a:latin typeface="Aptos"/>
                <a:ea typeface="Aptos"/>
                <a:cs typeface="Aptos"/>
              </a:rPr>
              <a:t>bd ready --json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AD097D5B-632A-41DA-BD59-83A580EA30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3638550"/>
            <a:ext cx="43815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0F766E"/>
                </a:solidFill>
                <a:latin typeface="Aptos"/>
                <a:ea typeface="Aptos"/>
                <a:cs typeface="Aptos"/>
              </a:defRPr>
            </a:pPr>
            <a:r>
              <a:rPr sz="1425" b="1">
                <a:solidFill>
                  <a:srgbClr val="0F766E"/>
                </a:solidFill>
                <a:latin typeface="Aptos"/>
                <a:ea typeface="Aptos"/>
                <a:cs typeface="Aptos"/>
              </a:rPr>
              <a:t>One-sentence explanation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6DA87173-0B43-4398-8BFD-844CCA06E0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4057650"/>
            <a:ext cx="4381500" cy="1047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1650" b="1">
                <a:solidFill>
                  <a:srgbClr val="111827"/>
                </a:solidFill>
                <a:latin typeface="Aptos"/>
                <a:ea typeface="Aptos"/>
                <a:cs typeface="Aptos"/>
              </a:rPr>
              <a:t>Lab Tracker is a lightweight graph-backed lab notebook that keeps the question, data, analysis, claim, and visualization chain inspectable.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A4B9C128-D18F-4A79-A396-09C9AA7C91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5295900"/>
            <a:ext cx="438150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5B6472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5B6472"/>
                </a:solidFill>
                <a:latin typeface="Aptos"/>
                <a:ea typeface="Aptos"/>
                <a:cs typeface="Aptos"/>
              </a:rPr>
              <a:t>The current scope is intentionally retained-v1: durable research records first, deferred automations later.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327E3A93-ABF2-4065-A4CF-160A4EC417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553200"/>
            <a:ext cx="93345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5B6472"/>
                </a:solidFill>
                <a:latin typeface="Aptos"/>
                <a:ea typeface="Aptos"/>
                <a:cs typeface="Aptos"/>
              </a:defRPr>
            </a:pPr>
            <a:r>
              <a:rPr sz="750" b="0">
                <a:solidFill>
                  <a:srgbClr val="5B6472"/>
                </a:solidFill>
                <a:latin typeface="Aptos"/>
                <a:ea typeface="Aptos"/>
                <a:cs typeface="Aptos"/>
              </a:rPr>
              <a:t>Source: README.md quickstart and retained-v1 surface.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0F5ED041-AC09-45F5-865B-93C8E38664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553200"/>
            <a:ext cx="4572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750" b="0">
                <a:solidFill>
                  <a:srgbClr val="5B6472"/>
                </a:solidFill>
                <a:latin typeface="Aptos"/>
                <a:ea typeface="Aptos"/>
                <a:cs typeface="Aptos"/>
              </a:defRPr>
            </a:pPr>
            <a:r>
              <a:rPr sz="750" b="0">
                <a:solidFill>
                  <a:srgbClr val="5B6472"/>
                </a:solidFill>
                <a:latin typeface="Aptos"/>
                <a:ea typeface="Aptos"/>
                <a:cs typeface="Aptos"/>
              </a:rPr>
              <a:t>07</a:t>
            </a:r>
          </a:p>
        </p:txBody>
      </p:sp>
    </p:spTree>
    <p:extLst>
      <p:ext uri="{BB962C8B-B14F-4D97-AF65-F5344CB8AC3E}">
        <p14:creationId xmlns:p14="http://schemas.microsoft.com/office/powerpoint/2010/main" val="368713391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solidFill>
          <a:schemeClr val="dk1"/>
        </a:solidFill>
        <a:solidFill>
          <a:schemeClr val="accent1"/>
        </a:soli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2026-05-27T16:53:37.8700000Z</dcterms:created>
  <dcterms:modified xsi:type="dcterms:W3CDTF">2026-05-27T16:53:37.8700000Z</dcterms:modified>
</coreProperties>
</file>