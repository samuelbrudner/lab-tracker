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7cb4160bc34942" /><Relationship Type="http://schemas.openxmlformats.org/officeDocument/2006/relationships/extended-properties" Target="/docProps/app.xml" Id="R61a98c28354c4d81" /><Relationship Type="http://schemas.openxmlformats.org/officeDocument/2006/relationships/officeDocument" Target="/ppt/presentation.xml" Id="R51300b26cde446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1e4e4a31dd4efd"/>
  </p:sldMasterIdLst>
  <p:notesMasterIdLst>
    <p:notesMasterId xmlns:r="http://schemas.openxmlformats.org/officeDocument/2006/relationships" r:id="R165d58aed8a44aff"/>
  </p:notesMasterIdLst>
  <p:sldIdLst>
    <p:sldId xmlns:r="http://schemas.openxmlformats.org/officeDocument/2006/relationships" id="256" r:id="Rd78fdb44cce74930"/>
    <p:sldId xmlns:r="http://schemas.openxmlformats.org/officeDocument/2006/relationships" id="257" r:id="Rb9fae6e9f76d4652"/>
    <p:sldId xmlns:r="http://schemas.openxmlformats.org/officeDocument/2006/relationships" id="258" r:id="R07054e2a53c74dbe"/>
    <p:sldId xmlns:r="http://schemas.openxmlformats.org/officeDocument/2006/relationships" id="259" r:id="R31a130800a764012"/>
    <p:sldId xmlns:r="http://schemas.openxmlformats.org/officeDocument/2006/relationships" id="260" r:id="R8f82ec7015ed45ea"/>
    <p:sldId xmlns:r="http://schemas.openxmlformats.org/officeDocument/2006/relationships" id="261" r:id="R2d6a238fe4494550"/>
    <p:sldId xmlns:r="http://schemas.openxmlformats.org/officeDocument/2006/relationships" id="262" r:id="R81902f76db3d4361"/>
    <p:sldId xmlns:r="http://schemas.openxmlformats.org/officeDocument/2006/relationships" id="263" r:id="R07e2e6f04a4f46ae"/>
    <p:sldId xmlns:r="http://schemas.openxmlformats.org/officeDocument/2006/relationships" id="264" r:id="R5cf900d2ac184e7f"/>
    <p:sldId xmlns:r="http://schemas.openxmlformats.org/officeDocument/2006/relationships" id="265" r:id="Re1e989cd60c14195"/>
    <p:sldId xmlns:r="http://schemas.openxmlformats.org/officeDocument/2006/relationships" id="266" r:id="R65848334cb204adb"/>
    <p:sldId xmlns:r="http://schemas.openxmlformats.org/officeDocument/2006/relationships" id="267" r:id="Rf499988c2be04492"/>
    <p:sldId xmlns:r="http://schemas.openxmlformats.org/officeDocument/2006/relationships" id="268" r:id="R7e0613dc82984bd3"/>
    <p:sldId xmlns:r="http://schemas.openxmlformats.org/officeDocument/2006/relationships" id="269" r:id="R927aac0a579f4660"/>
    <p:sldId xmlns:r="http://schemas.openxmlformats.org/officeDocument/2006/relationships" id="270" r:id="R205f0e0ed8014f32"/>
    <p:sldId xmlns:r="http://schemas.openxmlformats.org/officeDocument/2006/relationships" id="271" r:id="R2fd143908a2b4f5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cdc240a049449c" /><Relationship Type="http://schemas.openxmlformats.org/officeDocument/2006/relationships/slideMaster" Target="/ppt/slideMasters/slideMaster1.xml" Id="R4a1e4e4a31dd4efd" /><Relationship Type="http://schemas.openxmlformats.org/officeDocument/2006/relationships/notesMaster" Target="/ppt/notesMasters/notesMaster1.xml" Id="R165d58aed8a44aff" /><Relationship Type="http://schemas.openxmlformats.org/officeDocument/2006/relationships/presProps" Target="/ppt/presProps.xml" Id="R1dbd1620d0954708" /><Relationship Type="http://schemas.openxmlformats.org/officeDocument/2006/relationships/viewProps" Target="/ppt/viewProps.xml" Id="Ra24c41244481464d" /><Relationship Type="http://schemas.openxmlformats.org/officeDocument/2006/relationships/tableStyles" Target="/ppt/tableStyles.xml" Id="Rcdabed982ca646ab" /><Relationship Type="http://schemas.openxmlformats.org/officeDocument/2006/relationships/slide" Target="/ppt/slides/slide1.xml" Id="Rd78fdb44cce74930" /><Relationship Type="http://schemas.openxmlformats.org/officeDocument/2006/relationships/slide" Target="/ppt/slides/slide2.xml" Id="Rb9fae6e9f76d4652" /><Relationship Type="http://schemas.openxmlformats.org/officeDocument/2006/relationships/slide" Target="/ppt/slides/slide3.xml" Id="R07054e2a53c74dbe" /><Relationship Type="http://schemas.openxmlformats.org/officeDocument/2006/relationships/slide" Target="/ppt/slides/slide4.xml" Id="R31a130800a764012" /><Relationship Type="http://schemas.openxmlformats.org/officeDocument/2006/relationships/slide" Target="/ppt/slides/slide5.xml" Id="R8f82ec7015ed45ea" /><Relationship Type="http://schemas.openxmlformats.org/officeDocument/2006/relationships/slide" Target="/ppt/slides/slide6.xml" Id="R2d6a238fe4494550" /><Relationship Type="http://schemas.openxmlformats.org/officeDocument/2006/relationships/slide" Target="/ppt/slides/slide7.xml" Id="R81902f76db3d4361" /><Relationship Type="http://schemas.openxmlformats.org/officeDocument/2006/relationships/slide" Target="/ppt/slides/slide8.xml" Id="R07e2e6f04a4f46ae" /><Relationship Type="http://schemas.openxmlformats.org/officeDocument/2006/relationships/slide" Target="/ppt/slides/slide9.xml" Id="R5cf900d2ac184e7f" /><Relationship Type="http://schemas.openxmlformats.org/officeDocument/2006/relationships/slide" Target="/ppt/slides/slide10.xml" Id="Re1e989cd60c14195" /><Relationship Type="http://schemas.openxmlformats.org/officeDocument/2006/relationships/slide" Target="/ppt/slides/slide11.xml" Id="R65848334cb204adb" /><Relationship Type="http://schemas.openxmlformats.org/officeDocument/2006/relationships/slide" Target="/ppt/slides/slide12.xml" Id="Rf499988c2be04492" /><Relationship Type="http://schemas.openxmlformats.org/officeDocument/2006/relationships/slide" Target="/ppt/slides/slide13.xml" Id="R7e0613dc82984bd3" /><Relationship Type="http://schemas.openxmlformats.org/officeDocument/2006/relationships/slide" Target="/ppt/slides/slide14.xml" Id="R927aac0a579f4660" /><Relationship Type="http://schemas.openxmlformats.org/officeDocument/2006/relationships/slide" Target="/ppt/slides/slide15.xml" Id="R205f0e0ed8014f32" /><Relationship Type="http://schemas.openxmlformats.org/officeDocument/2006/relationships/slide" Target="/ppt/slides/slide16.xml" Id="R2fd143908a2b4f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1772031b0648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265f5359944846" /><Relationship Type="http://schemas.openxmlformats.org/officeDocument/2006/relationships/notesMaster" Target="/ppt/notesMasters/notesMaster1.xml" Id="R933b82e74e9045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e2cc1980e641ff" /><Relationship Type="http://schemas.openxmlformats.org/officeDocument/2006/relationships/notesMaster" Target="/ppt/notesMasters/notesMaster1.xml" Id="R4d47203cebfe43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4f2b3ee0c346a8" /><Relationship Type="http://schemas.openxmlformats.org/officeDocument/2006/relationships/notesMaster" Target="/ppt/notesMasters/notesMaster1.xml" Id="R60e96e8d0d8e44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4177fddb584237" /><Relationship Type="http://schemas.openxmlformats.org/officeDocument/2006/relationships/notesMaster" Target="/ppt/notesMasters/notesMaster1.xml" Id="Ra8b3b615d4494a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2d3572950f4d0b" /><Relationship Type="http://schemas.openxmlformats.org/officeDocument/2006/relationships/notesMaster" Target="/ppt/notesMasters/notesMaster1.xml" Id="Rbcebfde7c51643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e56b17ec004f94" /><Relationship Type="http://schemas.openxmlformats.org/officeDocument/2006/relationships/notesMaster" Target="/ppt/notesMasters/notesMaster1.xml" Id="Rfb7783edd0704a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a629e1fa3a42d8" /><Relationship Type="http://schemas.openxmlformats.org/officeDocument/2006/relationships/notesMaster" Target="/ppt/notesMasters/notesMaster1.xml" Id="R129b5d2fc3ff48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93ce3171494826" /><Relationship Type="http://schemas.openxmlformats.org/officeDocument/2006/relationships/notesMaster" Target="/ppt/notesMasters/notesMaster1.xml" Id="Rcef8b19e5bc446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725b7a217004075" /><Relationship Type="http://schemas.openxmlformats.org/officeDocument/2006/relationships/notesMaster" Target="/ppt/notesMasters/notesMaster1.xml" Id="Rbb1db3a114d64b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614ff49baf48c5" /><Relationship Type="http://schemas.openxmlformats.org/officeDocument/2006/relationships/notesMaster" Target="/ppt/notesMasters/notesMaster1.xml" Id="R27a4627c9b5445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9af59a13cc646c9" /><Relationship Type="http://schemas.openxmlformats.org/officeDocument/2006/relationships/notesMaster" Target="/ppt/notesMasters/notesMaster1.xml" Id="Ra438a4b89aa04d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5d2e011e024d3a" /><Relationship Type="http://schemas.openxmlformats.org/officeDocument/2006/relationships/notesMaster" Target="/ppt/notesMasters/notesMaster1.xml" Id="R8e980be56f4047e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96f07aa9db426c" /><Relationship Type="http://schemas.openxmlformats.org/officeDocument/2006/relationships/notesMaster" Target="/ppt/notesMasters/notesMaster1.xml" Id="Rf01a81ceea7b4a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fa4ed3befbb4b44" /><Relationship Type="http://schemas.openxmlformats.org/officeDocument/2006/relationships/notesMaster" Target="/ppt/notesMasters/notesMaster1.xml" Id="Rfc361d760212458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73dea6a3c584486" /><Relationship Type="http://schemas.openxmlformats.org/officeDocument/2006/relationships/notesMaster" Target="/ppt/notesMasters/notesMaster1.xml" Id="R655aaff117224c3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41d43ff19544c5a" /><Relationship Type="http://schemas.openxmlformats.org/officeDocument/2006/relationships/notesMaster" Target="/ppt/notesMasters/notesMaster1.xml" Id="R71c7775259cf4a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d9b1c01e8d4e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a50404a59c4f4e" /><Relationship Type="http://schemas.openxmlformats.org/officeDocument/2006/relationships/slideLayout" Target="/ppt/slideLayouts/slideLayout1.xml" Id="R4da22ae8549348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a22ae8549348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77e41a3314ef0" /><Relationship Type="http://schemas.openxmlformats.org/officeDocument/2006/relationships/notesSlide" Target="/ppt/notesSlides/notesSlide1.xml" Id="Rcf4136c9142046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5b361802043b2" /><Relationship Type="http://schemas.openxmlformats.org/officeDocument/2006/relationships/image" Target="/ppt/media/image.png" Id="Rc43e2b54f6ba42fd" /><Relationship Type="http://schemas.openxmlformats.org/officeDocument/2006/relationships/image" Target="/ppt/media/image.svg" Id="Ree5a5b1c3d744815" /><Relationship Type="http://schemas.openxmlformats.org/officeDocument/2006/relationships/image" Target="/ppt/media/image2.png" Id="R23cb8c04b1824427" /><Relationship Type="http://schemas.openxmlformats.org/officeDocument/2006/relationships/image" Target="/ppt/media/image2.svg" Id="Rc63b4d9939a646d4" /><Relationship Type="http://schemas.openxmlformats.org/officeDocument/2006/relationships/image" Target="/ppt/media/image3.png" Id="R00ba0c46e31e4c26" /><Relationship Type="http://schemas.openxmlformats.org/officeDocument/2006/relationships/image" Target="/ppt/media/image3.svg" Id="R6a53cf05bab94106" /><Relationship Type="http://schemas.openxmlformats.org/officeDocument/2006/relationships/notesSlide" Target="/ppt/notesSlides/notesSlide2.xml" Id="Rf52e3be78e5348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c4ab7643e84766" /><Relationship Type="http://schemas.openxmlformats.org/officeDocument/2006/relationships/notesSlide" Target="/ppt/notesSlides/notesSlide3.xml" Id="R97897917db7c4d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9565c17234037" /><Relationship Type="http://schemas.openxmlformats.org/officeDocument/2006/relationships/image" Target="/ppt/media/image4.png" Id="R7b00092b9985420c" /><Relationship Type="http://schemas.openxmlformats.org/officeDocument/2006/relationships/image" Target="/ppt/media/image4.svg" Id="R77d97cb1e18b4cb0" /><Relationship Type="http://schemas.openxmlformats.org/officeDocument/2006/relationships/image" Target="/ppt/media/image5.png" Id="R7abc3c8cfa9b4bc0" /><Relationship Type="http://schemas.openxmlformats.org/officeDocument/2006/relationships/image" Target="/ppt/media/image5.svg" Id="R02c36dc6aedb4251" /><Relationship Type="http://schemas.openxmlformats.org/officeDocument/2006/relationships/notesSlide" Target="/ppt/notesSlides/notesSlide4.xml" Id="R33c4ff98657148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ab6b63743442b" /><Relationship Type="http://schemas.openxmlformats.org/officeDocument/2006/relationships/notesSlide" Target="/ppt/notesSlides/notesSlide5.xml" Id="Ra126228cda204b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fe6d9527164461" /><Relationship Type="http://schemas.openxmlformats.org/officeDocument/2006/relationships/image" Target="/ppt/media/image6.png" Id="Raee9521c1bc14317" /><Relationship Type="http://schemas.openxmlformats.org/officeDocument/2006/relationships/image" Target="/ppt/media/image6.svg" Id="R1ae3428bdb984387" /><Relationship Type="http://schemas.openxmlformats.org/officeDocument/2006/relationships/image" Target="/ppt/media/image7.png" Id="R54297fd6eecd4416" /><Relationship Type="http://schemas.openxmlformats.org/officeDocument/2006/relationships/image" Target="/ppt/media/image7.svg" Id="R7e08296a1ff748f5" /><Relationship Type="http://schemas.openxmlformats.org/officeDocument/2006/relationships/image" Target="/ppt/media/image8.png" Id="Rd95993c691dd4c30" /><Relationship Type="http://schemas.openxmlformats.org/officeDocument/2006/relationships/image" Target="/ppt/media/image8.svg" Id="R6047efabf2774cc9" /><Relationship Type="http://schemas.openxmlformats.org/officeDocument/2006/relationships/image" Target="/ppt/media/image9.png" Id="R9043a5954144474f" /><Relationship Type="http://schemas.openxmlformats.org/officeDocument/2006/relationships/image" Target="/ppt/media/image9.svg" Id="R848e064637da4510" /><Relationship Type="http://schemas.openxmlformats.org/officeDocument/2006/relationships/notesSlide" Target="/ppt/notesSlides/notesSlide6.xml" Id="R6b0051bb1a5347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babc60a58a43aa" /><Relationship Type="http://schemas.openxmlformats.org/officeDocument/2006/relationships/notesSlide" Target="/ppt/notesSlides/notesSlide7.xml" Id="R9a9dc34194df45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888dc4d054dfa" /><Relationship Type="http://schemas.openxmlformats.org/officeDocument/2006/relationships/image" Target="/ppt/media/image10.png" Id="Ref4fd766e0e14c60" /><Relationship Type="http://schemas.openxmlformats.org/officeDocument/2006/relationships/notesSlide" Target="/ppt/notesSlides/notesSlide8.xml" Id="R1d20afbc6f924fb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2a950cad94ab0" /><Relationship Type="http://schemas.openxmlformats.org/officeDocument/2006/relationships/image" Target="/ppt/media/image11.png" Id="R87da002e630743c6" /><Relationship Type="http://schemas.openxmlformats.org/officeDocument/2006/relationships/image" Target="/ppt/media/image10.svg" Id="Rbf64635cc2d84c5e" /><Relationship Type="http://schemas.openxmlformats.org/officeDocument/2006/relationships/image" Target="/ppt/media/image12.png" Id="R0ce4a45458694ddf" /><Relationship Type="http://schemas.openxmlformats.org/officeDocument/2006/relationships/image" Target="/ppt/media/image11.svg" Id="R7cf814554b0449e2" /><Relationship Type="http://schemas.openxmlformats.org/officeDocument/2006/relationships/image" Target="/ppt/media/image13.png" Id="R4efa37a2fe3a463b" /><Relationship Type="http://schemas.openxmlformats.org/officeDocument/2006/relationships/image" Target="/ppt/media/image12.svg" Id="R19f968e733c84bb7" /><Relationship Type="http://schemas.openxmlformats.org/officeDocument/2006/relationships/image" Target="/ppt/media/image14.png" Id="Ra09620b3ef5d4623" /><Relationship Type="http://schemas.openxmlformats.org/officeDocument/2006/relationships/image" Target="/ppt/media/image13.svg" Id="R0024766a55714b9b" /><Relationship Type="http://schemas.openxmlformats.org/officeDocument/2006/relationships/image" Target="/ppt/media/image15.png" Id="R4ff2698829304603" /><Relationship Type="http://schemas.openxmlformats.org/officeDocument/2006/relationships/image" Target="/ppt/media/image14.svg" Id="R8386f13806964459" /><Relationship Type="http://schemas.openxmlformats.org/officeDocument/2006/relationships/image" Target="/ppt/media/image16.png" Id="R290da034c6974f07" /><Relationship Type="http://schemas.openxmlformats.org/officeDocument/2006/relationships/image" Target="/ppt/media/image15.svg" Id="R65c2d523b62744d4" /><Relationship Type="http://schemas.openxmlformats.org/officeDocument/2006/relationships/image" Target="/ppt/media/image17.png" Id="R7a6b351251fe434a" /><Relationship Type="http://schemas.openxmlformats.org/officeDocument/2006/relationships/image" Target="/ppt/media/image16.svg" Id="Rf5d6418761d04e9b" /><Relationship Type="http://schemas.openxmlformats.org/officeDocument/2006/relationships/image" Target="/ppt/media/image18.png" Id="Rbcd77e6656df4717" /><Relationship Type="http://schemas.openxmlformats.org/officeDocument/2006/relationships/image" Target="/ppt/media/image17.svg" Id="Rda594232fda847c2" /><Relationship Type="http://schemas.openxmlformats.org/officeDocument/2006/relationships/image" Target="/ppt/media/image19.png" Id="R634f2428466b4474" /><Relationship Type="http://schemas.openxmlformats.org/officeDocument/2006/relationships/image" Target="/ppt/media/image18.svg" Id="R8084b7dd5d824938" /><Relationship Type="http://schemas.openxmlformats.org/officeDocument/2006/relationships/image" Target="/ppt/media/image20.png" Id="R9592663af5c04a97" /><Relationship Type="http://schemas.openxmlformats.org/officeDocument/2006/relationships/image" Target="/ppt/media/image19.svg" Id="R2b2fff59b96f4bb1" /><Relationship Type="http://schemas.openxmlformats.org/officeDocument/2006/relationships/image" Target="/ppt/media/image21.png" Id="Rf233a328f771403a" /><Relationship Type="http://schemas.openxmlformats.org/officeDocument/2006/relationships/image" Target="/ppt/media/image20.svg" Id="R5f8cf51ab2a44462" /><Relationship Type="http://schemas.openxmlformats.org/officeDocument/2006/relationships/notesSlide" Target="/ppt/notesSlides/notesSlide9.xml" Id="R4bc3234faee842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f16e09f494f7a" /><Relationship Type="http://schemas.openxmlformats.org/officeDocument/2006/relationships/image" Target="/ppt/media/image22.png" Id="R5f8e2a13a4f04998" /><Relationship Type="http://schemas.openxmlformats.org/officeDocument/2006/relationships/image" Target="/ppt/media/image21.svg" Id="Rdb034896a1fc4700" /><Relationship Type="http://schemas.openxmlformats.org/officeDocument/2006/relationships/image" Target="/ppt/media/image23.png" Id="R035c32df7dd1430a" /><Relationship Type="http://schemas.openxmlformats.org/officeDocument/2006/relationships/image" Target="/ppt/media/image22.svg" Id="R25d094468ac34d0c" /><Relationship Type="http://schemas.openxmlformats.org/officeDocument/2006/relationships/image" Target="/ppt/media/image24.png" Id="R7cd35361c6de4695" /><Relationship Type="http://schemas.openxmlformats.org/officeDocument/2006/relationships/image" Target="/ppt/media/image23.svg" Id="R87c4feba44fa4278" /><Relationship Type="http://schemas.openxmlformats.org/officeDocument/2006/relationships/image" Target="/ppt/media/image25.png" Id="R77f93067b8a748b2" /><Relationship Type="http://schemas.openxmlformats.org/officeDocument/2006/relationships/image" Target="/ppt/media/image24.svg" Id="R6a6365cc1e8f47e3" /><Relationship Type="http://schemas.openxmlformats.org/officeDocument/2006/relationships/image" Target="/ppt/media/image26.png" Id="R4ee67ff591be4c05" /><Relationship Type="http://schemas.openxmlformats.org/officeDocument/2006/relationships/image" Target="/ppt/media/image25.svg" Id="R523532fc85084bc5" /><Relationship Type="http://schemas.openxmlformats.org/officeDocument/2006/relationships/image" Target="/ppt/media/image27.png" Id="R0b6d8ebc40aa4107" /><Relationship Type="http://schemas.openxmlformats.org/officeDocument/2006/relationships/image" Target="/ppt/media/image26.svg" Id="Rdc388cfc1e674ed2" /><Relationship Type="http://schemas.openxmlformats.org/officeDocument/2006/relationships/image" Target="/ppt/media/image28.png" Id="Rd93239cee825428c" /><Relationship Type="http://schemas.openxmlformats.org/officeDocument/2006/relationships/image" Target="/ppt/media/image27.svg" Id="R8de13c1be4424cb2" /><Relationship Type="http://schemas.openxmlformats.org/officeDocument/2006/relationships/image" Target="/ppt/media/image29.png" Id="Rafa7e358d87145a9" /><Relationship Type="http://schemas.openxmlformats.org/officeDocument/2006/relationships/image" Target="/ppt/media/image28.svg" Id="R264ad253203c4d30" /><Relationship Type="http://schemas.openxmlformats.org/officeDocument/2006/relationships/image" Target="/ppt/media/image30.png" Id="R2971d4265f2c43dd" /><Relationship Type="http://schemas.openxmlformats.org/officeDocument/2006/relationships/image" Target="/ppt/media/image29.svg" Id="R635cecb62d9649f8" /><Relationship Type="http://schemas.openxmlformats.org/officeDocument/2006/relationships/notesSlide" Target="/ppt/notesSlides/notesSlide10.xml" Id="R754553211c4a47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98e18e0834b46" /><Relationship Type="http://schemas.openxmlformats.org/officeDocument/2006/relationships/notesSlide" Target="/ppt/notesSlides/notesSlide11.xml" Id="R3154f63d085340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1320ed52114128" /><Relationship Type="http://schemas.openxmlformats.org/officeDocument/2006/relationships/image" Target="/ppt/media/image31.png" Id="Rfdba783fe01a48a1" /><Relationship Type="http://schemas.openxmlformats.org/officeDocument/2006/relationships/image" Target="/ppt/media/image30.svg" Id="Rdb857a0fd60d493d" /><Relationship Type="http://schemas.openxmlformats.org/officeDocument/2006/relationships/image" Target="/ppt/media/image32.png" Id="R8739b68cb96c4789" /><Relationship Type="http://schemas.openxmlformats.org/officeDocument/2006/relationships/image" Target="/ppt/media/image31.svg" Id="R25250861260c4592" /><Relationship Type="http://schemas.openxmlformats.org/officeDocument/2006/relationships/image" Target="/ppt/media/image33.png" Id="R466b758a9abd4c88" /><Relationship Type="http://schemas.openxmlformats.org/officeDocument/2006/relationships/image" Target="/ppt/media/image32.svg" Id="R75ef0d7e540b4f95" /><Relationship Type="http://schemas.openxmlformats.org/officeDocument/2006/relationships/image" Target="/ppt/media/image34.png" Id="Rdf89d6eae062402e" /><Relationship Type="http://schemas.openxmlformats.org/officeDocument/2006/relationships/image" Target="/ppt/media/image33.svg" Id="R9c1ffa33c05b475e" /><Relationship Type="http://schemas.openxmlformats.org/officeDocument/2006/relationships/image" Target="/ppt/media/image35.png" Id="R4a4d7ed6c4bd4ed1" /><Relationship Type="http://schemas.openxmlformats.org/officeDocument/2006/relationships/image" Target="/ppt/media/image34.svg" Id="Ra0c033bc86d44fa1" /><Relationship Type="http://schemas.openxmlformats.org/officeDocument/2006/relationships/notesSlide" Target="/ppt/notesSlides/notesSlide12.xml" Id="R49af87edf0934b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124bb7cf04bdf" /><Relationship Type="http://schemas.openxmlformats.org/officeDocument/2006/relationships/image" Target="/ppt/media/image.jpeg" Id="Rf1eeb28ef3a2484a" /><Relationship Type="http://schemas.openxmlformats.org/officeDocument/2006/relationships/notesSlide" Target="/ppt/notesSlides/notesSlide13.xml" Id="R238454e8f2954c0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7292edf50344f2" /><Relationship Type="http://schemas.openxmlformats.org/officeDocument/2006/relationships/notesSlide" Target="/ppt/notesSlides/notesSlide14.xml" Id="Ra53c864b4683452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b18e981c954afa" /><Relationship Type="http://schemas.openxmlformats.org/officeDocument/2006/relationships/image" Target="/ppt/media/image36.png" Id="R562b40585fb046af" /><Relationship Type="http://schemas.openxmlformats.org/officeDocument/2006/relationships/image" Target="/ppt/media/image35.svg" Id="R8d4b4e6654c44754" /><Relationship Type="http://schemas.openxmlformats.org/officeDocument/2006/relationships/image" Target="/ppt/media/image37.png" Id="R3385ecc8f94a4698" /><Relationship Type="http://schemas.openxmlformats.org/officeDocument/2006/relationships/image" Target="/ppt/media/image36.svg" Id="R3d0cbb03e4244c09" /><Relationship Type="http://schemas.openxmlformats.org/officeDocument/2006/relationships/notesSlide" Target="/ppt/notesSlides/notesSlide15.xml" Id="Rfa29e2e8b2a544f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36eac1b4a4a88" /><Relationship Type="http://schemas.openxmlformats.org/officeDocument/2006/relationships/notesSlide" Target="/ppt/notesSlides/notesSlide16.xml" Id="Rd66e522d60c2434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5EEE9E-539D-47AE-9FAC-7C83725C6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4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graph-link">
            <a:extLst xmlns:a="http://schemas.openxmlformats.org/drawingml/2006/main">
              <a:ext uri="{FF2B5EF4-FFF2-40B4-BE49-F238E27FC236}">
                <a16:creationId xmlns:a16="http://schemas.microsoft.com/office/drawing/2014/main" id="{BD1988F9-83EB-4F15-8606-96A11C59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066800"/>
            <a:ext cx="19050" cy="473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0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graph-link">
            <a:extLst xmlns:a="http://schemas.openxmlformats.org/drawingml/2006/main">
              <a:ext uri="{FF2B5EF4-FFF2-40B4-BE49-F238E27FC236}">
                <a16:creationId xmlns:a16="http://schemas.microsoft.com/office/drawing/2014/main" id="{C494D276-3945-4A95-B2A0-4EF1FCCB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066800"/>
            <a:ext cx="102527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0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graph-link">
            <a:extLst xmlns:a="http://schemas.openxmlformats.org/drawingml/2006/main">
              <a:ext uri="{FF2B5EF4-FFF2-40B4-BE49-F238E27FC236}">
                <a16:creationId xmlns:a16="http://schemas.microsoft.com/office/drawing/2014/main" id="{DBE41BDC-3BF9-40F1-A251-B64E3DAF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146" y="1066800"/>
            <a:ext cx="19050" cy="5520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0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graph-link">
            <a:extLst xmlns:a="http://schemas.openxmlformats.org/drawingml/2006/main">
              <a:ext uri="{FF2B5EF4-FFF2-40B4-BE49-F238E27FC236}">
                <a16:creationId xmlns:a16="http://schemas.microsoft.com/office/drawing/2014/main" id="{3F4FBE90-81D0-402E-9C25-3F3CE419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146" y="1618869"/>
            <a:ext cx="102527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0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graph-link">
            <a:extLst xmlns:a="http://schemas.openxmlformats.org/drawingml/2006/main">
              <a:ext uri="{FF2B5EF4-FFF2-40B4-BE49-F238E27FC236}">
                <a16:creationId xmlns:a16="http://schemas.microsoft.com/office/drawing/2014/main" id="{F3DCBF72-D6D5-4721-9737-2624D24F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146" y="1066800"/>
            <a:ext cx="19050" cy="12881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0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graph-link">
            <a:extLst xmlns:a="http://schemas.openxmlformats.org/drawingml/2006/main">
              <a:ext uri="{FF2B5EF4-FFF2-40B4-BE49-F238E27FC236}">
                <a16:creationId xmlns:a16="http://schemas.microsoft.com/office/drawing/2014/main" id="{5BCEE668-D498-4BF8-9A8F-2A3176B1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146" y="2354961"/>
            <a:ext cx="7886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0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graph-link">
            <a:extLst xmlns:a="http://schemas.openxmlformats.org/drawingml/2006/main">
              <a:ext uri="{FF2B5EF4-FFF2-40B4-BE49-F238E27FC236}">
                <a16:creationId xmlns:a16="http://schemas.microsoft.com/office/drawing/2014/main" id="{B169DA4D-29A4-4824-9506-80F7348E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013" y="2354961"/>
            <a:ext cx="19050" cy="1840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0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graph-link">
            <a:extLst xmlns:a="http://schemas.openxmlformats.org/drawingml/2006/main">
              <a:ext uri="{FF2B5EF4-FFF2-40B4-BE49-F238E27FC236}">
                <a16:creationId xmlns:a16="http://schemas.microsoft.com/office/drawing/2014/main" id="{7D467411-9553-49B6-90EE-E52DE3A0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013" y="2538984"/>
            <a:ext cx="165620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0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graph-link">
            <a:extLst xmlns:a="http://schemas.openxmlformats.org/drawingml/2006/main">
              <a:ext uri="{FF2B5EF4-FFF2-40B4-BE49-F238E27FC236}">
                <a16:creationId xmlns:a16="http://schemas.microsoft.com/office/drawing/2014/main" id="{05A14676-4BA5-49B7-85E5-BCEBC4A4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417" y="1618869"/>
            <a:ext cx="123558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0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graph-node">
            <a:extLst xmlns:a="http://schemas.openxmlformats.org/drawingml/2006/main">
              <a:ext uri="{FF2B5EF4-FFF2-40B4-BE49-F238E27FC236}">
                <a16:creationId xmlns:a16="http://schemas.microsoft.com/office/drawing/2014/main" id="{8ED277C7-C720-4B62-A096-19F33B6A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2430" y="1408557"/>
            <a:ext cx="262890" cy="2628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111418"/>
            </a:solidFill>
            <a:prstDash val="solid"/>
          </a:ln>
        </p:spPr>
      </p:sp>
      <p:sp>
        <p:nvSpPr>
          <p:cNvPr id="12" name="graph-node">
            <a:extLst xmlns:a="http://schemas.openxmlformats.org/drawingml/2006/main">
              <a:ext uri="{FF2B5EF4-FFF2-40B4-BE49-F238E27FC236}">
                <a16:creationId xmlns:a16="http://schemas.microsoft.com/office/drawing/2014/main" id="{80E37D8A-AEAD-4270-AAC5-11FE3D5A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7701" y="935355"/>
            <a:ext cx="262890" cy="2628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5BDB"/>
          </a:solidFill>
          <a:ln xmlns:a="http://schemas.openxmlformats.org/drawingml/2006/main" w="19050">
            <a:solidFill>
              <a:srgbClr val="111418"/>
            </a:solidFill>
            <a:prstDash val="solid"/>
          </a:ln>
        </p:spPr>
      </p:sp>
      <p:sp>
        <p:nvSpPr>
          <p:cNvPr id="13" name="graph-node">
            <a:extLst xmlns:a="http://schemas.openxmlformats.org/drawingml/2006/main">
              <a:ext uri="{FF2B5EF4-FFF2-40B4-BE49-F238E27FC236}">
                <a16:creationId xmlns:a16="http://schemas.microsoft.com/office/drawing/2014/main" id="{627FA9F6-D1EB-41B6-9225-C7934DAB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2972" y="1487424"/>
            <a:ext cx="262890" cy="2628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 w="19050">
            <a:solidFill>
              <a:srgbClr val="111418"/>
            </a:solidFill>
            <a:prstDash val="solid"/>
          </a:ln>
        </p:spPr>
      </p:sp>
      <p:sp>
        <p:nvSpPr>
          <p:cNvPr id="14" name="graph-node">
            <a:extLst xmlns:a="http://schemas.openxmlformats.org/drawingml/2006/main">
              <a:ext uri="{FF2B5EF4-FFF2-40B4-BE49-F238E27FC236}">
                <a16:creationId xmlns:a16="http://schemas.microsoft.com/office/drawing/2014/main" id="{782D443B-B81E-441F-9E3E-01816A06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6568" y="2223516"/>
            <a:ext cx="262890" cy="2628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D2FE"/>
          </a:solidFill>
          <a:ln xmlns:a="http://schemas.openxmlformats.org/drawingml/2006/main" w="19050">
            <a:solidFill>
              <a:srgbClr val="111418"/>
            </a:solidFill>
            <a:prstDash val="solid"/>
          </a:ln>
        </p:spPr>
      </p:sp>
      <p:sp>
        <p:nvSpPr>
          <p:cNvPr id="15" name="graph-node">
            <a:extLst xmlns:a="http://schemas.openxmlformats.org/drawingml/2006/main">
              <a:ext uri="{FF2B5EF4-FFF2-40B4-BE49-F238E27FC236}">
                <a16:creationId xmlns:a16="http://schemas.microsoft.com/office/drawing/2014/main" id="{B3B0DED7-2B97-40D6-A049-DC361A46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2407539"/>
            <a:ext cx="262890" cy="2628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9F6E4"/>
          </a:solidFill>
          <a:ln xmlns:a="http://schemas.openxmlformats.org/drawingml/2006/main" w="19050">
            <a:solidFill>
              <a:srgbClr val="111418"/>
            </a:solidFill>
            <a:prstDash val="solid"/>
          </a:ln>
        </p:spPr>
      </p:sp>
      <p:sp>
        <p:nvSpPr>
          <p:cNvPr id="16" name="graph-node">
            <a:extLst xmlns:a="http://schemas.openxmlformats.org/drawingml/2006/main">
              <a:ext uri="{FF2B5EF4-FFF2-40B4-BE49-F238E27FC236}">
                <a16:creationId xmlns:a16="http://schemas.microsoft.com/office/drawing/2014/main" id="{3255BE7C-211F-4904-B214-0F856D25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8555" y="1461135"/>
            <a:ext cx="262890" cy="26289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111418"/>
            </a:solidFill>
            <a:prstDash val="solid"/>
          </a:ln>
        </p:spPr>
      </p:sp>
      <p:sp>
        <p:nvSpPr>
          <p:cNvPr id="17" name="rule">
            <a:extLst xmlns:a="http://schemas.openxmlformats.org/drawingml/2006/main">
              <a:ext uri="{FF2B5EF4-FFF2-40B4-BE49-F238E27FC236}">
                <a16:creationId xmlns:a16="http://schemas.microsoft.com/office/drawing/2014/main" id="{803E930E-B918-432C-A8F1-0FF9248B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claim-title">
            <a:extLst xmlns:a="http://schemas.openxmlformats.org/drawingml/2006/main">
              <a:ext uri="{FF2B5EF4-FFF2-40B4-BE49-F238E27FC236}">
                <a16:creationId xmlns:a16="http://schemas.microsoft.com/office/drawing/2014/main" id="{D9AEF666-1B39-4BDA-BC46-4B8DAAC9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666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35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Lab Tracker keeps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435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reasoning behind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435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experiments.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152EA6-05D5-4B1B-9FB3-64969D3B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148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Research group presentation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252A02-F9A0-4F20-9C25-5DABB2BB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8B1C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8B1C2"/>
                </a:solidFill>
                <a:latin typeface="Aptos"/>
                <a:ea typeface="Aptos"/>
                <a:cs typeface="Aptos"/>
              </a:rPr>
              <a:t>Questions -&gt; data -&gt; analyses -&gt; claims -&gt; figures</a:t>
            </a:r>
          </a:p>
        </p:txBody>
      </p:sp>
      <p:sp>
        <p:nvSpPr>
          <p:cNvPr id="21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B0C9108C-3C47-4A88-879F-E0B3EDB1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22" name="page-marker">
            <a:extLst xmlns:a="http://schemas.openxmlformats.org/drawingml/2006/main">
              <a:ext uri="{FF2B5EF4-FFF2-40B4-BE49-F238E27FC236}">
                <a16:creationId xmlns:a16="http://schemas.microsoft.com/office/drawing/2014/main" id="{55C47A85-88D9-4606-9A8B-731B5CA4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4449179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B68449-03DB-4112-BC94-5FF0DBA6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488E6F4-9BC3-46E3-858B-432DD48F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E991E98-CD37-4D60-B1DF-8DC7035E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TALK ARC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42B30926-B752-4F70-96DA-058A323E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Three failures collapse into one product requirement.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D0B25A9F-69B4-4326-A8E1-B23DA803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865AE38E-6219-4DAB-8ECF-DB396CD5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problem-one-box">
            <a:extLst xmlns:a="http://schemas.openxmlformats.org/drawingml/2006/main">
              <a:ext uri="{FF2B5EF4-FFF2-40B4-BE49-F238E27FC236}">
                <a16:creationId xmlns:a16="http://schemas.microsoft.com/office/drawing/2014/main" id="{96FB77F1-6E4B-40CC-9ED3-3199CF51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5550"/>
            <a:ext cx="2266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9525">
            <a:solidFill>
              <a:srgbClr val="D9480F"/>
            </a:solidFill>
            <a:prstDash val="solid"/>
          </a:ln>
        </p:spPr>
      </p:sp>
      <p:sp>
        <p:nvSpPr>
          <p:cNvPr id="8" name="problem-one-label">
            <a:extLst xmlns:a="http://schemas.openxmlformats.org/drawingml/2006/main">
              <a:ext uri="{FF2B5EF4-FFF2-40B4-BE49-F238E27FC236}">
                <a16:creationId xmlns:a16="http://schemas.microsoft.com/office/drawing/2014/main" id="{1AB7950E-4F85-4B52-8BD8-613C6580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1962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1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Reasoning disappears</a:t>
            </a:r>
          </a:p>
        </p:txBody>
      </p:sp>
      <p:sp>
        <p:nvSpPr>
          <p:cNvPr id="9" name="problem-two-box">
            <a:extLst xmlns:a="http://schemas.openxmlformats.org/drawingml/2006/main">
              <a:ext uri="{FF2B5EF4-FFF2-40B4-BE49-F238E27FC236}">
                <a16:creationId xmlns:a16="http://schemas.microsoft.com/office/drawing/2014/main" id="{4A5349F4-4AF7-46F8-AE98-D17810FA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66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F"/>
          </a:solidFill>
          <a:ln xmlns:a="http://schemas.openxmlformats.org/drawingml/2006/main" w="9525">
            <a:solidFill>
              <a:srgbClr val="3B5BDB"/>
            </a:solidFill>
            <a:prstDash val="solid"/>
          </a:ln>
        </p:spPr>
      </p:sp>
      <p:sp>
        <p:nvSpPr>
          <p:cNvPr id="10" name="problem-two-label">
            <a:extLst xmlns:a="http://schemas.openxmlformats.org/drawingml/2006/main">
              <a:ext uri="{FF2B5EF4-FFF2-40B4-BE49-F238E27FC236}">
                <a16:creationId xmlns:a16="http://schemas.microsoft.com/office/drawing/2014/main" id="{B6502E75-EACB-4CF5-A2F1-F0DA2CF2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1962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2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AI starts from zero</a:t>
            </a:r>
          </a:p>
        </p:txBody>
      </p:sp>
      <p:sp>
        <p:nvSpPr>
          <p:cNvPr id="11" name="problem-three-box">
            <a:extLst xmlns:a="http://schemas.openxmlformats.org/drawingml/2006/main">
              <a:ext uri="{FF2B5EF4-FFF2-40B4-BE49-F238E27FC236}">
                <a16:creationId xmlns:a16="http://schemas.microsoft.com/office/drawing/2014/main" id="{E703467D-D75B-46DD-B0B6-0B23D75D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22669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C2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12" name="problem-three-label">
            <a:extLst xmlns:a="http://schemas.openxmlformats.org/drawingml/2006/main">
              <a:ext uri="{FF2B5EF4-FFF2-40B4-BE49-F238E27FC236}">
                <a16:creationId xmlns:a16="http://schemas.microsoft.com/office/drawing/2014/main" id="{476BF1C3-1E3A-4AA0-B71C-F19BAB7B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29250"/>
            <a:ext cx="1962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8A5A0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8A5A00"/>
                </a:solidFill>
                <a:latin typeface="Aptos"/>
                <a:ea typeface="Aptos"/>
                <a:cs typeface="Aptos"/>
              </a:rPr>
              <a:t>3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8A5A0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8A5A00"/>
                </a:solidFill>
                <a:latin typeface="Aptos"/>
                <a:ea typeface="Aptos"/>
                <a:cs typeface="Aptos"/>
              </a:rPr>
              <a:t>Structure decays</a:t>
            </a:r>
          </a:p>
        </p:txBody>
      </p:sp>
      <p:sp>
        <p:nvSpPr>
          <p:cNvPr id="13" name="rule">
            <a:extLst xmlns:a="http://schemas.openxmlformats.org/drawingml/2006/main">
              <a:ext uri="{FF2B5EF4-FFF2-40B4-BE49-F238E27FC236}">
                <a16:creationId xmlns:a16="http://schemas.microsoft.com/office/drawing/2014/main" id="{B92ED6FC-82AA-44D0-A603-568AC9D9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861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ule">
            <a:extLst xmlns:a="http://schemas.openxmlformats.org/drawingml/2006/main">
              <a:ext uri="{FF2B5EF4-FFF2-40B4-BE49-F238E27FC236}">
                <a16:creationId xmlns:a16="http://schemas.microsoft.com/office/drawing/2014/main" id="{E0C63776-3ED8-4728-8F71-399DB528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958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49D59A8E-2FF1-40F7-AA99-43ECAA4E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8293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3e2b54f6ba42fd">
            <a:extLst>
              <a:ext uri="{96DAC541-7B7A-43D3-8B79-37D633B846F1}">
                <asvg:svgBlip xmlns:asvg="http://schemas.microsoft.com/office/drawing/2016/SVG/main" r:embed="Ree5a5b1c3d7448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53000" y="2971800"/>
            <a:ext cx="266700" cy="2667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cb8c04b1824427">
            <a:extLst>
              <a:ext uri="{96DAC541-7B7A-43D3-8B79-37D633B846F1}">
                <asvg:svgBlip xmlns:asvg="http://schemas.microsoft.com/office/drawing/2016/SVG/main" r:embed="Rc63b4d9939a646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53000" y="4381500"/>
            <a:ext cx="266700" cy="26670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a0c46e31e4c26">
            <a:extLst>
              <a:ext uri="{96DAC541-7B7A-43D3-8B79-37D633B846F1}">
                <asvg:svgBlip xmlns:asvg="http://schemas.microsoft.com/office/drawing/2016/SVG/main" r:embed="R6a53cf05bab9410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53000" y="571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9" name="resolution-box">
            <a:extLst xmlns:a="http://schemas.openxmlformats.org/drawingml/2006/main">
              <a:ext uri="{FF2B5EF4-FFF2-40B4-BE49-F238E27FC236}">
                <a16:creationId xmlns:a16="http://schemas.microsoft.com/office/drawing/2014/main" id="{4ED0FCA7-4686-45D9-B132-7BA2F79A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667000"/>
            <a:ext cx="37338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20" name="resolution-label">
            <a:extLst xmlns:a="http://schemas.openxmlformats.org/drawingml/2006/main">
              <a:ext uri="{FF2B5EF4-FFF2-40B4-BE49-F238E27FC236}">
                <a16:creationId xmlns:a16="http://schemas.microsoft.com/office/drawing/2014/main" id="{59106278-D518-4621-BF6D-F18789B3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81300"/>
            <a:ext cx="3429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One structured graph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that humans read,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agents retrieve,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and AI-assisted capture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keeps current.</a:t>
            </a:r>
          </a:p>
        </p:txBody>
      </p:sp>
      <p:sp>
        <p:nvSpPr>
          <p:cNvPr id="21" name="graph-link">
            <a:extLst xmlns:a="http://schemas.openxmlformats.org/drawingml/2006/main">
              <a:ext uri="{FF2B5EF4-FFF2-40B4-BE49-F238E27FC236}">
                <a16:creationId xmlns:a16="http://schemas.microsoft.com/office/drawing/2014/main" id="{1E5F08CA-A602-4CD7-B76C-19967275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276600"/>
            <a:ext cx="19050" cy="2468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graph-link">
            <a:extLst xmlns:a="http://schemas.openxmlformats.org/drawingml/2006/main">
              <a:ext uri="{FF2B5EF4-FFF2-40B4-BE49-F238E27FC236}">
                <a16:creationId xmlns:a16="http://schemas.microsoft.com/office/drawing/2014/main" id="{381B53DC-45BE-4A65-BAD5-61AF84D5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276600"/>
            <a:ext cx="53492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graph-link">
            <a:extLst xmlns:a="http://schemas.openxmlformats.org/drawingml/2006/main">
              <a:ext uri="{FF2B5EF4-FFF2-40B4-BE49-F238E27FC236}">
                <a16:creationId xmlns:a16="http://schemas.microsoft.com/office/drawing/2014/main" id="{39F561F2-33D5-4C67-B729-E8FE2076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3276600"/>
            <a:ext cx="19050" cy="2880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graph-link">
            <a:extLst xmlns:a="http://schemas.openxmlformats.org/drawingml/2006/main">
              <a:ext uri="{FF2B5EF4-FFF2-40B4-BE49-F238E27FC236}">
                <a16:creationId xmlns:a16="http://schemas.microsoft.com/office/drawing/2014/main" id="{29F128C2-CA58-461B-9D63-E9BF923B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3564636"/>
            <a:ext cx="53492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graph-link">
            <a:extLst xmlns:a="http://schemas.openxmlformats.org/drawingml/2006/main">
              <a:ext uri="{FF2B5EF4-FFF2-40B4-BE49-F238E27FC236}">
                <a16:creationId xmlns:a16="http://schemas.microsoft.com/office/drawing/2014/main" id="{49C3B619-552C-4A8C-931C-338556EC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3276600"/>
            <a:ext cx="19050" cy="6720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graph-link">
            <a:extLst xmlns:a="http://schemas.openxmlformats.org/drawingml/2006/main">
              <a:ext uri="{FF2B5EF4-FFF2-40B4-BE49-F238E27FC236}">
                <a16:creationId xmlns:a16="http://schemas.microsoft.com/office/drawing/2014/main" id="{10B12AFA-BE3A-4CCA-907A-B77AA442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3948684"/>
            <a:ext cx="4114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graph-link">
            <a:extLst xmlns:a="http://schemas.openxmlformats.org/drawingml/2006/main">
              <a:ext uri="{FF2B5EF4-FFF2-40B4-BE49-F238E27FC236}">
                <a16:creationId xmlns:a16="http://schemas.microsoft.com/office/drawing/2014/main" id="{C0DB14E2-1F77-45F4-A575-2BC3747E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0172" y="3948684"/>
            <a:ext cx="19050" cy="960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graph-link">
            <a:extLst xmlns:a="http://schemas.openxmlformats.org/drawingml/2006/main">
              <a:ext uri="{FF2B5EF4-FFF2-40B4-BE49-F238E27FC236}">
                <a16:creationId xmlns:a16="http://schemas.microsoft.com/office/drawing/2014/main" id="{A64EEEB9-242B-4015-A6DC-0DB7FCE7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0172" y="4044696"/>
            <a:ext cx="86410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graph-link">
            <a:extLst xmlns:a="http://schemas.openxmlformats.org/drawingml/2006/main">
              <a:ext uri="{FF2B5EF4-FFF2-40B4-BE49-F238E27FC236}">
                <a16:creationId xmlns:a16="http://schemas.microsoft.com/office/drawing/2014/main" id="{B7F1E6F6-765D-4838-AB1C-67386603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3948" y="3564636"/>
            <a:ext cx="64465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graph-node">
            <a:extLst xmlns:a="http://schemas.openxmlformats.org/drawingml/2006/main">
              <a:ext uri="{FF2B5EF4-FFF2-40B4-BE49-F238E27FC236}">
                <a16:creationId xmlns:a16="http://schemas.microsoft.com/office/drawing/2014/main" id="{DE266BA1-2B9B-476C-AFB8-71A4CF84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3454908"/>
            <a:ext cx="137160" cy="137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31" name="graph-node">
            <a:extLst xmlns:a="http://schemas.openxmlformats.org/drawingml/2006/main">
              <a:ext uri="{FF2B5EF4-FFF2-40B4-BE49-F238E27FC236}">
                <a16:creationId xmlns:a16="http://schemas.microsoft.com/office/drawing/2014/main" id="{59EFBCC8-D3C4-4CA3-B674-91F99C40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444" y="3208020"/>
            <a:ext cx="137160" cy="137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5BDB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32" name="graph-node">
            <a:extLst xmlns:a="http://schemas.openxmlformats.org/drawingml/2006/main">
              <a:ext uri="{FF2B5EF4-FFF2-40B4-BE49-F238E27FC236}">
                <a16:creationId xmlns:a16="http://schemas.microsoft.com/office/drawing/2014/main" id="{143D2664-ABC0-4AEA-9472-973FCEA9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5368" y="3496056"/>
            <a:ext cx="137160" cy="137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33" name="graph-node">
            <a:extLst xmlns:a="http://schemas.openxmlformats.org/drawingml/2006/main">
              <a:ext uri="{FF2B5EF4-FFF2-40B4-BE49-F238E27FC236}">
                <a16:creationId xmlns:a16="http://schemas.microsoft.com/office/drawing/2014/main" id="{F5428E22-E526-4258-9584-4BFABA70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1592" y="3880104"/>
            <a:ext cx="137160" cy="137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34" name="graph-node">
            <a:extLst xmlns:a="http://schemas.openxmlformats.org/drawingml/2006/main">
              <a:ext uri="{FF2B5EF4-FFF2-40B4-BE49-F238E27FC236}">
                <a16:creationId xmlns:a16="http://schemas.microsoft.com/office/drawing/2014/main" id="{49C25219-4FD0-45E2-898F-E4C2B1FE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976116"/>
            <a:ext cx="137160" cy="137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6470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35" name="graph-node">
            <a:extLst xmlns:a="http://schemas.openxmlformats.org/drawingml/2006/main">
              <a:ext uri="{FF2B5EF4-FFF2-40B4-BE49-F238E27FC236}">
                <a16:creationId xmlns:a16="http://schemas.microsoft.com/office/drawing/2014/main" id="{3C01885F-5D60-455A-96C2-9716C636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90020" y="3482340"/>
            <a:ext cx="137160" cy="137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595282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48A879-8D18-47BB-B3BD-EC4DB887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364C07E-1A8A-4A57-834F-97EF652A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98F672D-744F-4F30-A26B-85DF0D93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PROBLEM 1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09566E33-5731-47DA-84C0-2BAA831C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Data files keep what happened, not why it mattered.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4EFF055-D105-4540-8412-6B7EA1A3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README.md; docs/research-group-presentation.md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EF299240-8875-4599-B316-71529595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filename-box">
            <a:extLst xmlns:a="http://schemas.openxmlformats.org/drawingml/2006/main">
              <a:ext uri="{FF2B5EF4-FFF2-40B4-BE49-F238E27FC236}">
                <a16:creationId xmlns:a16="http://schemas.microsoft.com/office/drawing/2014/main" id="{77EB2F7D-1810-4761-B7FA-D40A793D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4C8"/>
            </a:solidFill>
            <a:prstDash val="solid"/>
          </a:ln>
        </p:spPr>
      </p:sp>
      <p:sp>
        <p:nvSpPr>
          <p:cNvPr id="8" name="filename-label">
            <a:extLst xmlns:a="http://schemas.openxmlformats.org/drawingml/2006/main">
              <a:ext uri="{FF2B5EF4-FFF2-40B4-BE49-F238E27FC236}">
                <a16:creationId xmlns:a16="http://schemas.microsoft.com/office/drawing/2014/main" id="{4DD44DBF-38B3-4C98-9D9A-D05AA231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483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2025_12_10_Rig2_session001.nwb</a:t>
            </a:r>
          </a:p>
        </p:txBody>
      </p:sp>
      <p:sp>
        <p:nvSpPr>
          <p:cNvPr id="9" name="small-caps">
            <a:extLst xmlns:a="http://schemas.openxmlformats.org/drawingml/2006/main">
              <a:ext uri="{FF2B5EF4-FFF2-40B4-BE49-F238E27FC236}">
                <a16:creationId xmlns:a16="http://schemas.microsoft.com/office/drawing/2014/main" id="{CDC69659-BD8F-43FF-8365-A30240E9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470"/>
                </a:solidFill>
                <a:latin typeface="Aptos"/>
                <a:ea typeface="Aptos"/>
                <a:cs typeface="Aptos"/>
              </a:rPr>
              <a:t>THE FILE GIVES YOU</a:t>
            </a:r>
          </a:p>
        </p:txBody>
      </p:sp>
      <p:sp>
        <p:nvSpPr>
          <p:cNvPr id="10" name="chip">
            <a:extLst xmlns:a="http://schemas.openxmlformats.org/drawingml/2006/main">
              <a:ext uri="{FF2B5EF4-FFF2-40B4-BE49-F238E27FC236}">
                <a16:creationId xmlns:a16="http://schemas.microsoft.com/office/drawing/2014/main" id="{B8F642DB-2406-4346-B560-1DAC5556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4C8"/>
            </a:solidFill>
            <a:prstDash val="solid"/>
          </a:ln>
        </p:spPr>
      </p:sp>
      <p:sp>
        <p:nvSpPr>
          <p:cNvPr id="11" name="chip-text">
            <a:extLst xmlns:a="http://schemas.openxmlformats.org/drawingml/2006/main">
              <a:ext uri="{FF2B5EF4-FFF2-40B4-BE49-F238E27FC236}">
                <a16:creationId xmlns:a16="http://schemas.microsoft.com/office/drawing/2014/main" id="{65F02652-30F8-4A57-B889-6E850DF1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957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470"/>
                </a:solidFill>
                <a:latin typeface="Aptos"/>
                <a:ea typeface="Aptos"/>
                <a:cs typeface="Aptos"/>
              </a:rPr>
              <a:t>when</a:t>
            </a:r>
          </a:p>
        </p:txBody>
      </p:sp>
      <p:sp>
        <p:nvSpPr>
          <p:cNvPr id="12" name="chip">
            <a:extLst xmlns:a="http://schemas.openxmlformats.org/drawingml/2006/main">
              <a:ext uri="{FF2B5EF4-FFF2-40B4-BE49-F238E27FC236}">
                <a16:creationId xmlns:a16="http://schemas.microsoft.com/office/drawing/2014/main" id="{2249E6C6-11C2-492E-83A0-BF17BA26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38550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4C8"/>
            </a:solidFill>
            <a:prstDash val="solid"/>
          </a:ln>
        </p:spPr>
      </p:sp>
      <p:sp>
        <p:nvSpPr>
          <p:cNvPr id="13" name="chip-text">
            <a:extLst xmlns:a="http://schemas.openxmlformats.org/drawingml/2006/main">
              <a:ext uri="{FF2B5EF4-FFF2-40B4-BE49-F238E27FC236}">
                <a16:creationId xmlns:a16="http://schemas.microsoft.com/office/drawing/2014/main" id="{00A3E5AE-6B03-4DD1-A983-E3BBCC2D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957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470"/>
                </a:solidFill>
                <a:latin typeface="Aptos"/>
                <a:ea typeface="Aptos"/>
                <a:cs typeface="Aptos"/>
              </a:rPr>
              <a:t>where</a:t>
            </a:r>
          </a:p>
        </p:txBody>
      </p:sp>
      <p:sp>
        <p:nvSpPr>
          <p:cNvPr id="14" name="chip">
            <a:extLst xmlns:a="http://schemas.openxmlformats.org/drawingml/2006/main">
              <a:ext uri="{FF2B5EF4-FFF2-40B4-BE49-F238E27FC236}">
                <a16:creationId xmlns:a16="http://schemas.microsoft.com/office/drawing/2014/main" id="{18E27D8B-9561-4ADF-8765-A7336A6B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38550"/>
            <a:ext cx="95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4C8"/>
            </a:solidFill>
            <a:prstDash val="solid"/>
          </a:ln>
        </p:spPr>
      </p:sp>
      <p:sp>
        <p:nvSpPr>
          <p:cNvPr id="15" name="chip-text">
            <a:extLst xmlns:a="http://schemas.openxmlformats.org/drawingml/2006/main">
              <a:ext uri="{FF2B5EF4-FFF2-40B4-BE49-F238E27FC236}">
                <a16:creationId xmlns:a16="http://schemas.microsoft.com/office/drawing/2014/main" id="{1FCE76F4-8F52-4CB6-A13A-7285BEA9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957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470"/>
                </a:solidFill>
                <a:latin typeface="Aptos"/>
                <a:ea typeface="Aptos"/>
                <a:cs typeface="Aptos"/>
              </a:rPr>
              <a:t>what</a:t>
            </a:r>
          </a:p>
        </p:txBody>
      </p:sp>
      <p:sp>
        <p:nvSpPr>
          <p:cNvPr id="16" name="small-caps">
            <a:extLst xmlns:a="http://schemas.openxmlformats.org/drawingml/2006/main">
              <a:ext uri="{FF2B5EF4-FFF2-40B4-BE49-F238E27FC236}">
                <a16:creationId xmlns:a16="http://schemas.microsoft.com/office/drawing/2014/main" id="{E894F12E-371D-4574-A689-2271D746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WHAT IS MISSING</a:t>
            </a:r>
          </a:p>
        </p:txBody>
      </p:sp>
      <p:sp>
        <p:nvSpPr>
          <p:cNvPr id="17" name="missing-0">
            <a:extLst xmlns:a="http://schemas.openxmlformats.org/drawingml/2006/main">
              <a:ext uri="{FF2B5EF4-FFF2-40B4-BE49-F238E27FC236}">
                <a16:creationId xmlns:a16="http://schemas.microsoft.com/office/drawing/2014/main" id="{73205FE1-62DE-4F27-B8BA-DD180794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47950"/>
            <a:ext cx="3028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18" name="missing-0-text">
            <a:extLst xmlns:a="http://schemas.openxmlformats.org/drawingml/2006/main">
              <a:ext uri="{FF2B5EF4-FFF2-40B4-BE49-F238E27FC236}">
                <a16:creationId xmlns:a16="http://schemas.microsoft.com/office/drawing/2014/main" id="{9FC109D8-C578-4FD4-8ACC-2A6CF4DA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5272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Why collected?</a:t>
            </a:r>
          </a:p>
        </p:txBody>
      </p:sp>
      <p:sp>
        <p:nvSpPr>
          <p:cNvPr id="19" name="missing-1">
            <a:extLst xmlns:a="http://schemas.openxmlformats.org/drawingml/2006/main">
              <a:ext uri="{FF2B5EF4-FFF2-40B4-BE49-F238E27FC236}">
                <a16:creationId xmlns:a16="http://schemas.microsoft.com/office/drawing/2014/main" id="{8887CA7E-5F31-4721-9845-D7FB2C63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86150"/>
            <a:ext cx="3028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20" name="missing-1-text">
            <a:extLst xmlns:a="http://schemas.openxmlformats.org/drawingml/2006/main">
              <a:ext uri="{FF2B5EF4-FFF2-40B4-BE49-F238E27FC236}">
                <a16:creationId xmlns:a16="http://schemas.microsoft.com/office/drawing/2014/main" id="{93224854-00A9-41B5-8508-7E687296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9092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What was expected?</a:t>
            </a:r>
          </a:p>
        </p:txBody>
      </p:sp>
      <p:sp>
        <p:nvSpPr>
          <p:cNvPr id="21" name="missing-2">
            <a:extLst xmlns:a="http://schemas.openxmlformats.org/drawingml/2006/main">
              <a:ext uri="{FF2B5EF4-FFF2-40B4-BE49-F238E27FC236}">
                <a16:creationId xmlns:a16="http://schemas.microsoft.com/office/drawing/2014/main" id="{3349F9D6-E97D-413D-903E-BEB23800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24350"/>
            <a:ext cx="3028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22" name="missing-2-text">
            <a:extLst xmlns:a="http://schemas.openxmlformats.org/drawingml/2006/main">
              <a:ext uri="{FF2B5EF4-FFF2-40B4-BE49-F238E27FC236}">
                <a16:creationId xmlns:a16="http://schemas.microsoft.com/office/drawing/2014/main" id="{934DE055-ECDE-4B87-BC42-FE4F9EFC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2912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What was observed?</a:t>
            </a:r>
          </a:p>
        </p:txBody>
      </p:sp>
      <p:sp>
        <p:nvSpPr>
          <p:cNvPr id="23" name="missing-3">
            <a:extLst xmlns:a="http://schemas.openxmlformats.org/drawingml/2006/main">
              <a:ext uri="{FF2B5EF4-FFF2-40B4-BE49-F238E27FC236}">
                <a16:creationId xmlns:a16="http://schemas.microsoft.com/office/drawing/2014/main" id="{A02BE777-849B-41C9-BC70-E9E55F5A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62550"/>
            <a:ext cx="3028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24" name="missing-3-text">
            <a:extLst xmlns:a="http://schemas.openxmlformats.org/drawingml/2006/main">
              <a:ext uri="{FF2B5EF4-FFF2-40B4-BE49-F238E27FC236}">
                <a16:creationId xmlns:a16="http://schemas.microsoft.com/office/drawing/2014/main" id="{7454C24C-D2D5-433D-BD69-B4D1BFB0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26732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What decision followed?</a:t>
            </a:r>
          </a:p>
        </p:txBody>
      </p:sp>
      <p:sp>
        <p:nvSpPr>
          <p:cNvPr id="25" name="rule">
            <a:extLst xmlns:a="http://schemas.openxmlformats.org/drawingml/2006/main">
              <a:ext uri="{FF2B5EF4-FFF2-40B4-BE49-F238E27FC236}">
                <a16:creationId xmlns:a16="http://schemas.microsoft.com/office/drawing/2014/main" id="{210DFEFE-4A73-42E7-B42D-A5D860D3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718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rule">
            <a:extLst xmlns:a="http://schemas.openxmlformats.org/drawingml/2006/main">
              <a:ext uri="{FF2B5EF4-FFF2-40B4-BE49-F238E27FC236}">
                <a16:creationId xmlns:a16="http://schemas.microsoft.com/office/drawing/2014/main" id="{0DD1AC59-8707-49CE-894B-10C8EA9C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100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rule">
            <a:extLst xmlns:a="http://schemas.openxmlformats.org/drawingml/2006/main">
              <a:ext uri="{FF2B5EF4-FFF2-40B4-BE49-F238E27FC236}">
                <a16:creationId xmlns:a16="http://schemas.microsoft.com/office/drawing/2014/main" id="{3DF14F33-E050-4BDB-B31E-4594C19C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9FF9D0-7C14-44C1-BCA8-EA8633DE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Cost: repeated experiments, unreconstructable figures, slow onboarding.</a:t>
            </a:r>
          </a:p>
        </p:txBody>
      </p:sp>
    </p:spTree>
    <p:extLst>
      <p:ext uri="{BB962C8B-B14F-4D97-AF65-F5344CB8AC3E}">
        <p14:creationId xmlns:p14="http://schemas.microsoft.com/office/powerpoint/2010/main" val="2477916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C9D2FF-492F-4795-9456-2C527C5A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A0D554A-82E1-49F8-A729-5096970F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B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63F9D3D-C770-4FC8-B69C-D72DDEF7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4B1416BE-327D-4A2F-A591-4A4251C6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AI assistants are only as grounded as their harness.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55FC1E80-082C-411C-9B24-4D161EAC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docs/mcp-decision-context-tooling.md; docs/research-group-presentation.md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EB4C28B1-A833-4888-8E1A-77AACE5C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00092b9985420c">
            <a:extLst>
              <a:ext uri="{96DAC541-7B7A-43D3-8B79-37D633B846F1}">
                <asvg:svgBlip xmlns:asvg="http://schemas.microsoft.com/office/drawing/2016/SVG/main" r:embed="R77d97cb1e18b4cb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5350" y="268605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2EACA9-0EFA-4B72-AD5A-195CA822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agent</a:t>
            </a:r>
          </a:p>
        </p:txBody>
      </p:sp>
      <p:sp>
        <p:nvSpPr>
          <p:cNvPr id="9" name="box">
            <a:extLst xmlns:a="http://schemas.openxmlformats.org/drawingml/2006/main">
              <a:ext uri="{FF2B5EF4-FFF2-40B4-BE49-F238E27FC236}">
                <a16:creationId xmlns:a16="http://schemas.microsoft.com/office/drawing/2014/main" id="{27B303EA-0A41-4D26-8A4B-306F6896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457450"/>
            <a:ext cx="28194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F"/>
          </a:solidFill>
          <a:ln xmlns:a="http://schemas.openxmlformats.org/drawingml/2006/main" w="9525">
            <a:solidFill>
              <a:srgbClr val="3B5B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3C8587-8B3B-4908-B62F-7C0FE044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743200"/>
            <a:ext cx="2362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The model can reason,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but it does not know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what the lab has already learned.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c3c8cfa9b4bc0">
            <a:extLst>
              <a:ext uri="{96DAC541-7B7A-43D3-8B79-37D633B846F1}">
                <asvg:svgBlip xmlns:asvg="http://schemas.microsoft.com/office/drawing/2016/SVG/main" r:embed="R02c36dc6aedb42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57800" y="29527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2" name="failure-header-box">
            <a:extLst xmlns:a="http://schemas.openxmlformats.org/drawingml/2006/main">
              <a:ext uri="{FF2B5EF4-FFF2-40B4-BE49-F238E27FC236}">
                <a16:creationId xmlns:a16="http://schemas.microsoft.com/office/drawing/2014/main" id="{86715AD0-1CBA-41BC-8353-A10CD604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2479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418"/>
          </a:solidFill>
          <a:ln xmlns:a="http://schemas.openxmlformats.org/drawingml/2006/main" w="9525">
            <a:solidFill>
              <a:srgbClr val="111418"/>
            </a:solidFill>
            <a:prstDash val="solid"/>
          </a:ln>
        </p:spPr>
      </p:sp>
      <p:sp>
        <p:nvSpPr>
          <p:cNvPr id="13" name="failure-header-label">
            <a:extLst xmlns:a="http://schemas.openxmlformats.org/drawingml/2006/main">
              <a:ext uri="{FF2B5EF4-FFF2-40B4-BE49-F238E27FC236}">
                <a16:creationId xmlns:a16="http://schemas.microsoft.com/office/drawing/2014/main" id="{6035CBF7-7ECF-47FB-9C85-44BD117E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2838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14" name="failure-0-box">
            <a:extLst xmlns:a="http://schemas.openxmlformats.org/drawingml/2006/main">
              <a:ext uri="{FF2B5EF4-FFF2-40B4-BE49-F238E27FC236}">
                <a16:creationId xmlns:a16="http://schemas.microsoft.com/office/drawing/2014/main" id="{A88A7648-89FB-4387-8B57-03442604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9908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C2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15" name="failure-0-label">
            <a:extLst xmlns:a="http://schemas.openxmlformats.org/drawingml/2006/main">
              <a:ext uri="{FF2B5EF4-FFF2-40B4-BE49-F238E27FC236}">
                <a16:creationId xmlns:a16="http://schemas.microsoft.com/office/drawing/2014/main" id="{AE83AE6C-6EFA-412B-AC1D-B17347A8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051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59F0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F00"/>
                </a:solidFill>
                <a:latin typeface="Aptos"/>
                <a:ea typeface="Aptos"/>
                <a:cs typeface="Aptos"/>
              </a:rPr>
              <a:t>Proposes analysis already ruled out</a:t>
            </a:r>
          </a:p>
        </p:txBody>
      </p:sp>
      <p:sp>
        <p:nvSpPr>
          <p:cNvPr id="16" name="failure-1-box">
            <a:extLst xmlns:a="http://schemas.openxmlformats.org/drawingml/2006/main">
              <a:ext uri="{FF2B5EF4-FFF2-40B4-BE49-F238E27FC236}">
                <a16:creationId xmlns:a16="http://schemas.microsoft.com/office/drawing/2014/main" id="{439DAF1B-B9C8-4861-99C4-5A678A84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771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9525">
            <a:solidFill>
              <a:srgbClr val="D9480F"/>
            </a:solidFill>
            <a:prstDash val="solid"/>
          </a:ln>
        </p:spPr>
      </p:sp>
      <p:sp>
        <p:nvSpPr>
          <p:cNvPr id="17" name="failure-1-label">
            <a:extLst xmlns:a="http://schemas.openxmlformats.org/drawingml/2006/main">
              <a:ext uri="{FF2B5EF4-FFF2-40B4-BE49-F238E27FC236}">
                <a16:creationId xmlns:a16="http://schemas.microsoft.com/office/drawing/2014/main" id="{814CFAFF-F48E-4170-9D0F-410092EA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8620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Asserts a claim without evidence</a:t>
            </a:r>
          </a:p>
        </p:txBody>
      </p:sp>
      <p:sp>
        <p:nvSpPr>
          <p:cNvPr id="18" name="failure-2-box">
            <a:extLst xmlns:a="http://schemas.openxmlformats.org/drawingml/2006/main">
              <a:ext uri="{FF2B5EF4-FFF2-40B4-BE49-F238E27FC236}">
                <a16:creationId xmlns:a16="http://schemas.microsoft.com/office/drawing/2014/main" id="{2638E92B-0CCA-4E3F-A713-788B892F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529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F"/>
          </a:solidFill>
          <a:ln xmlns:a="http://schemas.openxmlformats.org/drawingml/2006/main" w="9525">
            <a:solidFill>
              <a:srgbClr val="3B5BDB"/>
            </a:solidFill>
            <a:prstDash val="solid"/>
          </a:ln>
        </p:spPr>
      </p:sp>
      <p:sp>
        <p:nvSpPr>
          <p:cNvPr id="19" name="failure-2-label">
            <a:extLst xmlns:a="http://schemas.openxmlformats.org/drawingml/2006/main">
              <a:ext uri="{FF2B5EF4-FFF2-40B4-BE49-F238E27FC236}">
                <a16:creationId xmlns:a16="http://schemas.microsoft.com/office/drawing/2014/main" id="{FC2B4D5C-00FD-4324-AD91-B31EAC22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672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Looks productive while drifting off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D9BCB9-4A43-46B7-9D67-D7F6A26E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054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470"/>
                </a:solidFill>
                <a:latin typeface="Aptos"/>
                <a:ea typeface="Aptos"/>
                <a:cs typeface="Aptos"/>
              </a:rPr>
              <a:t>Harness = retrieval, memory, orchestration, and write-back around the model.</a:t>
            </a:r>
          </a:p>
        </p:txBody>
      </p:sp>
    </p:spTree>
    <p:extLst>
      <p:ext uri="{BB962C8B-B14F-4D97-AF65-F5344CB8AC3E}">
        <p14:creationId xmlns:p14="http://schemas.microsoft.com/office/powerpoint/2010/main" val="4353956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566F74-94D3-4290-B33F-CA150F4D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0F35F0B-45AD-47C4-9CAC-C4B2DD78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77E2E96-F7E4-4AB5-9790-C12A8340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9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59F00"/>
                </a:solidFill>
                <a:latin typeface="Aptos"/>
                <a:ea typeface="Aptos"/>
                <a:cs typeface="Aptos"/>
              </a:rPr>
              <a:t>PROBLEM 3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661EB201-C827-47D1-A5BA-C5C3CCD5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Useful structure decays when upkeep is manual.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38159191-1E52-4DAC-B93A-E3623542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BC8E9187-2C89-495F-A601-8B3509DC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small-caps">
            <a:extLst xmlns:a="http://schemas.openxmlformats.org/drawingml/2006/main">
              <a:ext uri="{FF2B5EF4-FFF2-40B4-BE49-F238E27FC236}">
                <a16:creationId xmlns:a16="http://schemas.microsoft.com/office/drawing/2014/main" id="{7281129F-09A3-413F-9DE6-F5785798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526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470"/>
                </a:solidFill>
                <a:latin typeface="Aptos"/>
                <a:ea typeface="Aptos"/>
                <a:cs typeface="Aptos"/>
              </a:rPr>
              <a:t>PAST ATTEMPTS</a:t>
            </a:r>
          </a:p>
        </p:txBody>
      </p:sp>
      <p:sp>
        <p:nvSpPr>
          <p:cNvPr id="8" name="attempt-0-box">
            <a:extLst xmlns:a="http://schemas.openxmlformats.org/drawingml/2006/main">
              <a:ext uri="{FF2B5EF4-FFF2-40B4-BE49-F238E27FC236}">
                <a16:creationId xmlns:a16="http://schemas.microsoft.com/office/drawing/2014/main" id="{45381CA2-EF90-4298-A77A-A0F042B5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2724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7"/>
          </a:solidFill>
          <a:ln xmlns:a="http://schemas.openxmlformats.org/drawingml/2006/main" w="9525">
            <a:solidFill>
              <a:srgbClr val="D7D4C8"/>
            </a:solidFill>
            <a:prstDash val="solid"/>
          </a:ln>
        </p:spPr>
      </p:sp>
      <p:sp>
        <p:nvSpPr>
          <p:cNvPr id="9" name="attempt-0-label">
            <a:extLst xmlns:a="http://schemas.openxmlformats.org/drawingml/2006/main">
              <a:ext uri="{FF2B5EF4-FFF2-40B4-BE49-F238E27FC236}">
                <a16:creationId xmlns:a16="http://schemas.microsoft.com/office/drawing/2014/main" id="{CCD675D3-0EAD-4CB8-8BCF-9DD553A8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2419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418"/>
                </a:solidFill>
                <a:latin typeface="Aptos"/>
                <a:ea typeface="Aptos"/>
                <a:cs typeface="Aptos"/>
              </a:rPr>
              <a:t>Shared spreadsheet</a:t>
            </a:r>
          </a:p>
        </p:txBody>
      </p:sp>
      <p:sp>
        <p:nvSpPr>
          <p:cNvPr id="10" name="attempt-1-box">
            <a:extLst xmlns:a="http://schemas.openxmlformats.org/drawingml/2006/main">
              <a:ext uri="{FF2B5EF4-FFF2-40B4-BE49-F238E27FC236}">
                <a16:creationId xmlns:a16="http://schemas.microsoft.com/office/drawing/2014/main" id="{BF8821BD-414D-4B71-A56F-99B31166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2724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4C8"/>
            </a:solidFill>
            <a:prstDash val="solid"/>
          </a:ln>
        </p:spPr>
      </p:sp>
      <p:sp>
        <p:nvSpPr>
          <p:cNvPr id="11" name="attempt-1-label">
            <a:extLst xmlns:a="http://schemas.openxmlformats.org/drawingml/2006/main">
              <a:ext uri="{FF2B5EF4-FFF2-40B4-BE49-F238E27FC236}">
                <a16:creationId xmlns:a16="http://schemas.microsoft.com/office/drawing/2014/main" id="{65F2D423-48FF-405A-BE79-DC9AD9C2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2419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418"/>
                </a:solidFill>
                <a:latin typeface="Aptos"/>
                <a:ea typeface="Aptos"/>
                <a:cs typeface="Aptos"/>
              </a:rPr>
              <a:t>Wiki</a:t>
            </a:r>
          </a:p>
        </p:txBody>
      </p:sp>
      <p:sp>
        <p:nvSpPr>
          <p:cNvPr id="12" name="attempt-2-box">
            <a:extLst xmlns:a="http://schemas.openxmlformats.org/drawingml/2006/main">
              <a:ext uri="{FF2B5EF4-FFF2-40B4-BE49-F238E27FC236}">
                <a16:creationId xmlns:a16="http://schemas.microsoft.com/office/drawing/2014/main" id="{502A3605-9105-45A2-B26D-3B092661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2724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7"/>
          </a:solidFill>
          <a:ln xmlns:a="http://schemas.openxmlformats.org/drawingml/2006/main" w="9525">
            <a:solidFill>
              <a:srgbClr val="D7D4C8"/>
            </a:solidFill>
            <a:prstDash val="solid"/>
          </a:ln>
        </p:spPr>
      </p:sp>
      <p:sp>
        <p:nvSpPr>
          <p:cNvPr id="13" name="attempt-2-label">
            <a:extLst xmlns:a="http://schemas.openxmlformats.org/drawingml/2006/main">
              <a:ext uri="{FF2B5EF4-FFF2-40B4-BE49-F238E27FC236}">
                <a16:creationId xmlns:a16="http://schemas.microsoft.com/office/drawing/2014/main" id="{604CD016-FCD6-40AC-9837-988EBA36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10050"/>
            <a:ext cx="2419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418"/>
                </a:solidFill>
                <a:latin typeface="Aptos"/>
                <a:ea typeface="Aptos"/>
                <a:cs typeface="Aptos"/>
              </a:rPr>
              <a:t>ELN</a:t>
            </a:r>
          </a:p>
        </p:txBody>
      </p:sp>
      <p:sp>
        <p:nvSpPr>
          <p:cNvPr id="14" name="attempt-3-box">
            <a:extLst xmlns:a="http://schemas.openxmlformats.org/drawingml/2006/main">
              <a:ext uri="{FF2B5EF4-FFF2-40B4-BE49-F238E27FC236}">
                <a16:creationId xmlns:a16="http://schemas.microsoft.com/office/drawing/2014/main" id="{A7FBFCF0-EC58-46F5-9E64-3CB5191E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2724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4C8"/>
            </a:solidFill>
            <a:prstDash val="solid"/>
          </a:ln>
        </p:spPr>
      </p:sp>
      <p:sp>
        <p:nvSpPr>
          <p:cNvPr id="15" name="attempt-3-label">
            <a:extLst xmlns:a="http://schemas.openxmlformats.org/drawingml/2006/main">
              <a:ext uri="{FF2B5EF4-FFF2-40B4-BE49-F238E27FC236}">
                <a16:creationId xmlns:a16="http://schemas.microsoft.com/office/drawing/2014/main" id="{B0C5AC60-091E-4A18-A18E-3A5F3C77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2419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418"/>
                </a:solidFill>
                <a:latin typeface="Aptos"/>
                <a:ea typeface="Aptos"/>
                <a:cs typeface="Aptos"/>
              </a:rPr>
              <a:t>Lab-meeting slides</a:t>
            </a:r>
          </a:p>
        </p:txBody>
      </p:sp>
      <p:sp>
        <p:nvSpPr>
          <p:cNvPr id="16" name="small-caps">
            <a:extLst xmlns:a="http://schemas.openxmlformats.org/drawingml/2006/main">
              <a:ext uri="{FF2B5EF4-FFF2-40B4-BE49-F238E27FC236}">
                <a16:creationId xmlns:a16="http://schemas.microsoft.com/office/drawing/2014/main" id="{798B6849-1CAB-4B9E-A5F9-10F3504F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526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59F0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59F00"/>
                </a:solidFill>
                <a:latin typeface="Aptos"/>
                <a:ea typeface="Aptos"/>
                <a:cs typeface="Aptos"/>
              </a:rPr>
              <a:t>WHAT HAPPENS AFTER LAUNCH</a:t>
            </a:r>
          </a:p>
        </p:txBody>
      </p:sp>
      <p:sp>
        <p:nvSpPr>
          <p:cNvPr id="17" name="rule">
            <a:extLst xmlns:a="http://schemas.openxmlformats.org/drawingml/2006/main">
              <a:ext uri="{FF2B5EF4-FFF2-40B4-BE49-F238E27FC236}">
                <a16:creationId xmlns:a16="http://schemas.microsoft.com/office/drawing/2014/main" id="{D3300130-2DF5-482C-9687-7A72A277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638800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ule">
            <a:extLst xmlns:a="http://schemas.openxmlformats.org/drawingml/2006/main">
              <a:ext uri="{FF2B5EF4-FFF2-40B4-BE49-F238E27FC236}">
                <a16:creationId xmlns:a16="http://schemas.microsoft.com/office/drawing/2014/main" id="{15A6128F-CE2F-4F74-8157-1B002516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62300"/>
            <a:ext cx="19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freshness-bar-0">
            <a:extLst xmlns:a="http://schemas.openxmlformats.org/drawingml/2006/main">
              <a:ext uri="{FF2B5EF4-FFF2-40B4-BE49-F238E27FC236}">
                <a16:creationId xmlns:a16="http://schemas.microsoft.com/office/drawing/2014/main" id="{7E8E44F4-E704-49B0-858A-72AD684F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48050"/>
            <a:ext cx="5905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F781A9-3EC8-4D2A-B324-65B00418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7721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470"/>
                </a:solidFill>
                <a:latin typeface="Aptos"/>
                <a:ea typeface="Aptos"/>
                <a:cs typeface="Aptos"/>
              </a:rPr>
              <a:t>week 0</a:t>
            </a:r>
          </a:p>
        </p:txBody>
      </p:sp>
      <p:sp>
        <p:nvSpPr>
          <p:cNvPr id="21" name="freshness-bar-1">
            <a:extLst xmlns:a="http://schemas.openxmlformats.org/drawingml/2006/main">
              <a:ext uri="{FF2B5EF4-FFF2-40B4-BE49-F238E27FC236}">
                <a16:creationId xmlns:a16="http://schemas.microsoft.com/office/drawing/2014/main" id="{9CE1EFF2-BFE7-4100-9B85-B243FAAB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95750"/>
            <a:ext cx="5905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DC33E4-A6BF-4EFA-8E91-E986F12B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7721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470"/>
                </a:solidFill>
                <a:latin typeface="Aptos"/>
                <a:ea typeface="Aptos"/>
                <a:cs typeface="Aptos"/>
              </a:rPr>
              <a:t>week 2</a:t>
            </a:r>
          </a:p>
        </p:txBody>
      </p:sp>
      <p:sp>
        <p:nvSpPr>
          <p:cNvPr id="23" name="freshness-bar-2">
            <a:extLst xmlns:a="http://schemas.openxmlformats.org/drawingml/2006/main">
              <a:ext uri="{FF2B5EF4-FFF2-40B4-BE49-F238E27FC236}">
                <a16:creationId xmlns:a16="http://schemas.microsoft.com/office/drawing/2014/main" id="{95C93221-82A4-4400-8310-135F9F40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24400"/>
            <a:ext cx="5905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1E500F-19B9-4C48-BB3D-C75DE780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7721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470"/>
                </a:solidFill>
                <a:latin typeface="Aptos"/>
                <a:ea typeface="Aptos"/>
                <a:cs typeface="Aptos"/>
              </a:rPr>
              <a:t>week 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CA045A-646A-4DC7-A61B-2999F71E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8610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470"/>
                </a:solidFill>
                <a:latin typeface="Aptos"/>
                <a:ea typeface="Aptos"/>
                <a:cs typeface="Aptos"/>
              </a:rPr>
              <a:t>freshness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9B1A4C-20A2-4848-9C4E-E4EBB16D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51460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1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Manual upkeep becomes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21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the bottleneck.</a:t>
            </a:r>
          </a:p>
        </p:txBody>
      </p:sp>
    </p:spTree>
    <p:extLst>
      <p:ext uri="{BB962C8B-B14F-4D97-AF65-F5344CB8AC3E}">
        <p14:creationId xmlns:p14="http://schemas.microsoft.com/office/powerpoint/2010/main" val="150936438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48C96D-4C75-42DC-984F-C2AF6FE3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6828374-720A-4655-87BF-3CAE77E4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198814F-A61F-4232-B492-387F1F95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1C2D500A-0234-4929-A19D-68D77CE4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One graph serves people, agents, and upkeep.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DFC326DF-D9B4-4783-9370-6027B646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98426297-21DE-4535-B9E7-ECCD8E03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graph-link">
            <a:extLst xmlns:a="http://schemas.openxmlformats.org/drawingml/2006/main">
              <a:ext uri="{FF2B5EF4-FFF2-40B4-BE49-F238E27FC236}">
                <a16:creationId xmlns:a16="http://schemas.microsoft.com/office/drawing/2014/main" id="{BA7F4096-5701-46CB-A2EC-08608204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38450"/>
            <a:ext cx="19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graph-link">
            <a:extLst xmlns:a="http://schemas.openxmlformats.org/drawingml/2006/main">
              <a:ext uri="{FF2B5EF4-FFF2-40B4-BE49-F238E27FC236}">
                <a16:creationId xmlns:a16="http://schemas.microsoft.com/office/drawing/2014/main" id="{BFAD02EF-2009-46C4-BFEF-81F97FDD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38450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graph-link">
            <a:extLst xmlns:a="http://schemas.openxmlformats.org/drawingml/2006/main">
              <a:ext uri="{FF2B5EF4-FFF2-40B4-BE49-F238E27FC236}">
                <a16:creationId xmlns:a16="http://schemas.microsoft.com/office/drawing/2014/main" id="{340B620E-EDC2-4CD0-BE65-38FBA9A1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83845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graph-link">
            <a:extLst xmlns:a="http://schemas.openxmlformats.org/drawingml/2006/main">
              <a:ext uri="{FF2B5EF4-FFF2-40B4-BE49-F238E27FC236}">
                <a16:creationId xmlns:a16="http://schemas.microsoft.com/office/drawing/2014/main" id="{48B76CB3-F48A-4345-AF42-61A87028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38500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graph-link">
            <a:extLst xmlns:a="http://schemas.openxmlformats.org/drawingml/2006/main">
              <a:ext uri="{FF2B5EF4-FFF2-40B4-BE49-F238E27FC236}">
                <a16:creationId xmlns:a16="http://schemas.microsoft.com/office/drawing/2014/main" id="{F75AFFE6-7894-409B-BC96-C884DAFF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838450"/>
            <a:ext cx="190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graph-link">
            <a:extLst xmlns:a="http://schemas.openxmlformats.org/drawingml/2006/main">
              <a:ext uri="{FF2B5EF4-FFF2-40B4-BE49-F238E27FC236}">
                <a16:creationId xmlns:a16="http://schemas.microsoft.com/office/drawing/2014/main" id="{511FB68A-8662-4D4A-B816-2F18B8ED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771900"/>
            <a:ext cx="57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graph-link">
            <a:extLst xmlns:a="http://schemas.openxmlformats.org/drawingml/2006/main">
              <a:ext uri="{FF2B5EF4-FFF2-40B4-BE49-F238E27FC236}">
                <a16:creationId xmlns:a16="http://schemas.microsoft.com/office/drawing/2014/main" id="{A6A6D986-AC94-439A-A888-6DBDB76E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71900"/>
            <a:ext cx="19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graph-link">
            <a:extLst xmlns:a="http://schemas.openxmlformats.org/drawingml/2006/main">
              <a:ext uri="{FF2B5EF4-FFF2-40B4-BE49-F238E27FC236}">
                <a16:creationId xmlns:a16="http://schemas.microsoft.com/office/drawing/2014/main" id="{23901353-C0F3-4A3C-8280-92DCC14B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90525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graph-link">
            <a:extLst xmlns:a="http://schemas.openxmlformats.org/drawingml/2006/main">
              <a:ext uri="{FF2B5EF4-FFF2-40B4-BE49-F238E27FC236}">
                <a16:creationId xmlns:a16="http://schemas.microsoft.com/office/drawing/2014/main" id="{2DD1B69A-6D28-4C2C-9EA4-50AA9F10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38500"/>
            <a:ext cx="895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graph-node">
            <a:extLst xmlns:a="http://schemas.openxmlformats.org/drawingml/2006/main">
              <a:ext uri="{FF2B5EF4-FFF2-40B4-BE49-F238E27FC236}">
                <a16:creationId xmlns:a16="http://schemas.microsoft.com/office/drawing/2014/main" id="{C0C271D6-29A8-4D39-89E0-C68084A5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17" name="graph-node">
            <a:extLst xmlns:a="http://schemas.openxmlformats.org/drawingml/2006/main">
              <a:ext uri="{FF2B5EF4-FFF2-40B4-BE49-F238E27FC236}">
                <a16:creationId xmlns:a16="http://schemas.microsoft.com/office/drawing/2014/main" id="{37D40430-A8F6-4DF0-8B8F-6F817B0F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43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5BDB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18" name="graph-node">
            <a:extLst xmlns:a="http://schemas.openxmlformats.org/drawingml/2006/main">
              <a:ext uri="{FF2B5EF4-FFF2-40B4-BE49-F238E27FC236}">
                <a16:creationId xmlns:a16="http://schemas.microsoft.com/office/drawing/2014/main" id="{FF44FD25-091F-4925-B3AB-C8F9B713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19" name="graph-node">
            <a:extLst xmlns:a="http://schemas.openxmlformats.org/drawingml/2006/main">
              <a:ext uri="{FF2B5EF4-FFF2-40B4-BE49-F238E27FC236}">
                <a16:creationId xmlns:a16="http://schemas.microsoft.com/office/drawing/2014/main" id="{F4E827F7-31F8-4A6A-BC79-0B4EEE37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6766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20" name="graph-node">
            <a:extLst xmlns:a="http://schemas.openxmlformats.org/drawingml/2006/main">
              <a:ext uri="{FF2B5EF4-FFF2-40B4-BE49-F238E27FC236}">
                <a16:creationId xmlns:a16="http://schemas.microsoft.com/office/drawing/2014/main" id="{F14DCDB7-5E61-4EDC-8FBE-CD7B3238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100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6470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21" name="graph-node">
            <a:extLst xmlns:a="http://schemas.openxmlformats.org/drawingml/2006/main">
              <a:ext uri="{FF2B5EF4-FFF2-40B4-BE49-F238E27FC236}">
                <a16:creationId xmlns:a16="http://schemas.microsoft.com/office/drawing/2014/main" id="{E35588C5-621B-4928-B34A-3F08B53E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22" name="central-graph-box">
            <a:extLst xmlns:a="http://schemas.openxmlformats.org/drawingml/2006/main">
              <a:ext uri="{FF2B5EF4-FFF2-40B4-BE49-F238E27FC236}">
                <a16:creationId xmlns:a16="http://schemas.microsoft.com/office/drawing/2014/main" id="{6F83DFB4-2391-466F-A5D8-70B4041A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38600"/>
            <a:ext cx="24574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23" name="central-graph-label">
            <a:extLst xmlns:a="http://schemas.openxmlformats.org/drawingml/2006/main">
              <a:ext uri="{FF2B5EF4-FFF2-40B4-BE49-F238E27FC236}">
                <a16:creationId xmlns:a16="http://schemas.microsoft.com/office/drawing/2014/main" id="{30056A84-4975-435D-8B25-772A5DA0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152900"/>
            <a:ext cx="21526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Research-context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e9521c1bc14317">
            <a:extLst>
              <a:ext uri="{96DAC541-7B7A-43D3-8B79-37D633B846F1}">
                <asvg:svgBlip xmlns:asvg="http://schemas.microsoft.com/office/drawing/2016/SVG/main" r:embed="R1ae3428bdb9843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4900" y="280035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25" name="human-reader-box">
            <a:extLst xmlns:a="http://schemas.openxmlformats.org/drawingml/2006/main">
              <a:ext uri="{FF2B5EF4-FFF2-40B4-BE49-F238E27FC236}">
                <a16:creationId xmlns:a16="http://schemas.microsoft.com/office/drawing/2014/main" id="{9284B876-F0A0-4055-9171-91192C24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2571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2EE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26" name="human-reader-label">
            <a:extLst xmlns:a="http://schemas.openxmlformats.org/drawingml/2006/main">
              <a:ext uri="{FF2B5EF4-FFF2-40B4-BE49-F238E27FC236}">
                <a16:creationId xmlns:a16="http://schemas.microsoft.com/office/drawing/2014/main" id="{74794569-4B65-4241-93F9-22C44B24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2669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Humans read it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to recover rationale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297fd6eecd4416">
            <a:extLst>
              <a:ext uri="{96DAC541-7B7A-43D3-8B79-37D633B846F1}">
                <asvg:svgBlip xmlns:asvg="http://schemas.microsoft.com/office/drawing/2016/SVG/main" r:embed="R7e08296a1ff748f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96450" y="280035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28" name="agent-reader-box">
            <a:extLst xmlns:a="http://schemas.openxmlformats.org/drawingml/2006/main">
              <a:ext uri="{FF2B5EF4-FFF2-40B4-BE49-F238E27FC236}">
                <a16:creationId xmlns:a16="http://schemas.microsoft.com/office/drawing/2014/main" id="{9047CFA1-92A7-485C-B3C1-5FF014FE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619500"/>
            <a:ext cx="2628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F"/>
          </a:solidFill>
          <a:ln xmlns:a="http://schemas.openxmlformats.org/drawingml/2006/main" w="9525">
            <a:solidFill>
              <a:srgbClr val="3B5BDB"/>
            </a:solidFill>
            <a:prstDash val="solid"/>
          </a:ln>
        </p:spPr>
      </p:sp>
      <p:sp>
        <p:nvSpPr>
          <p:cNvPr id="29" name="agent-reader-label">
            <a:extLst xmlns:a="http://schemas.openxmlformats.org/drawingml/2006/main">
              <a:ext uri="{FF2B5EF4-FFF2-40B4-BE49-F238E27FC236}">
                <a16:creationId xmlns:a16="http://schemas.microsoft.com/office/drawing/2014/main" id="{24544CAF-5904-4807-9EBE-BAC3B04A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33800"/>
            <a:ext cx="2324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Agents retrieve it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to stay on target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993c691dd4c30">
            <a:extLst>
              <a:ext uri="{96DAC541-7B7A-43D3-8B79-37D633B846F1}">
                <asvg:svgBlip xmlns:asvg="http://schemas.microsoft.com/office/drawing/2016/SVG/main" r:embed="R6047efabf2774cc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72050" y="5372100"/>
            <a:ext cx="400050" cy="400050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3a5954144474f">
            <a:extLst>
              <a:ext uri="{96DAC541-7B7A-43D3-8B79-37D633B846F1}">
                <asvg:svgBlip xmlns:asvg="http://schemas.microsoft.com/office/drawing/2016/SVG/main" r:embed="R848e064637da45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81650" y="53721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32" name="capture-box">
            <a:extLst xmlns:a="http://schemas.openxmlformats.org/drawingml/2006/main">
              <a:ext uri="{FF2B5EF4-FFF2-40B4-BE49-F238E27FC236}">
                <a16:creationId xmlns:a16="http://schemas.microsoft.com/office/drawing/2014/main" id="{7509D4DB-FCE1-4471-95E2-87D8D83A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9055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C2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33" name="capture-label">
            <a:extLst xmlns:a="http://schemas.openxmlformats.org/drawingml/2006/main">
              <a:ext uri="{FF2B5EF4-FFF2-40B4-BE49-F238E27FC236}">
                <a16:creationId xmlns:a16="http://schemas.microsoft.com/office/drawing/2014/main" id="{C9D2EE32-4A33-4B86-8580-D21AC71D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6019800"/>
            <a:ext cx="255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7A510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7A5100"/>
                </a:solidFill>
                <a:latin typeface="Aptos"/>
                <a:ea typeface="Aptos"/>
                <a:cs typeface="Aptos"/>
              </a:rPr>
              <a:t>AI drafts; humans approve</a:t>
            </a:r>
          </a:p>
        </p:txBody>
      </p:sp>
      <p:sp>
        <p:nvSpPr>
          <p:cNvPr id="34" name="rule">
            <a:extLst xmlns:a="http://schemas.openxmlformats.org/drawingml/2006/main">
              <a:ext uri="{FF2B5EF4-FFF2-40B4-BE49-F238E27FC236}">
                <a16:creationId xmlns:a16="http://schemas.microsoft.com/office/drawing/2014/main" id="{D8DF89A6-08D2-4D80-A802-94BE1A06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76700"/>
            <a:ext cx="914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rule">
            <a:extLst xmlns:a="http://schemas.openxmlformats.org/drawingml/2006/main">
              <a:ext uri="{FF2B5EF4-FFF2-40B4-BE49-F238E27FC236}">
                <a16:creationId xmlns:a16="http://schemas.microsoft.com/office/drawing/2014/main" id="{4BD8872F-0D16-4D8C-A8C9-16B55B86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767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rule">
            <a:extLst xmlns:a="http://schemas.openxmlformats.org/drawingml/2006/main">
              <a:ext uri="{FF2B5EF4-FFF2-40B4-BE49-F238E27FC236}">
                <a16:creationId xmlns:a16="http://schemas.microsoft.com/office/drawing/2014/main" id="{92DCB11C-F4B9-4686-B25E-ECE667C4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857750"/>
            <a:ext cx="19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841121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AC6E76-DE93-4C00-BA1C-51CD6227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753B943-9204-4FD0-AA2E-54113E8E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B988C5B-200A-4E94-905B-3158259F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CCD10010-8AE7-4E36-BFF4-BE4B1393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Lab Tracker is the reasoning layer, not another storage layer.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98E6DCBE-F82E-45C3-BBF4-3BAEFDA9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README.md; docs/retained-v1-surface.md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74CE6FEF-6178-40FE-A2B2-9797DAF4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not-file-box">
            <a:extLst xmlns:a="http://schemas.openxmlformats.org/drawingml/2006/main">
              <a:ext uri="{FF2B5EF4-FFF2-40B4-BE49-F238E27FC236}">
                <a16:creationId xmlns:a16="http://schemas.microsoft.com/office/drawing/2014/main" id="{C8B96987-1CFF-41C6-BFA6-5705E629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2762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9525">
            <a:solidFill>
              <a:srgbClr val="D9480F"/>
            </a:solidFill>
            <a:prstDash val="solid"/>
          </a:ln>
        </p:spPr>
      </p:sp>
      <p:sp>
        <p:nvSpPr>
          <p:cNvPr id="8" name="not-file-label">
            <a:extLst xmlns:a="http://schemas.openxmlformats.org/drawingml/2006/main">
              <a:ext uri="{FF2B5EF4-FFF2-40B4-BE49-F238E27FC236}">
                <a16:creationId xmlns:a16="http://schemas.microsoft.com/office/drawing/2014/main" id="{CB5E254E-AA96-4B23-90B3-311C5742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28900"/>
            <a:ext cx="245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Not the file manager</a:t>
            </a:r>
          </a:p>
        </p:txBody>
      </p:sp>
      <p:sp>
        <p:nvSpPr>
          <p:cNvPr id="9" name="not-doc-box">
            <a:extLst xmlns:a="http://schemas.openxmlformats.org/drawingml/2006/main">
              <a:ext uri="{FF2B5EF4-FFF2-40B4-BE49-F238E27FC236}">
                <a16:creationId xmlns:a16="http://schemas.microsoft.com/office/drawing/2014/main" id="{64C8EBF5-5EE7-4C43-84A3-2BBE7C0B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2762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9525">
            <a:solidFill>
              <a:srgbClr val="D9480F"/>
            </a:solidFill>
            <a:prstDash val="solid"/>
          </a:ln>
        </p:spPr>
      </p:sp>
      <p:sp>
        <p:nvSpPr>
          <p:cNvPr id="10" name="not-doc-label">
            <a:extLst xmlns:a="http://schemas.openxmlformats.org/drawingml/2006/main">
              <a:ext uri="{FF2B5EF4-FFF2-40B4-BE49-F238E27FC236}">
                <a16:creationId xmlns:a16="http://schemas.microsoft.com/office/drawing/2014/main" id="{7C389F92-C28F-4B32-A2DD-1612ABE2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29100"/>
            <a:ext cx="245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Not the document store</a:t>
            </a:r>
          </a:p>
        </p:txBody>
      </p:sp>
      <p:sp>
        <p:nvSpPr>
          <p:cNvPr id="11" name="is-graph-box">
            <a:extLst xmlns:a="http://schemas.openxmlformats.org/drawingml/2006/main">
              <a:ext uri="{FF2B5EF4-FFF2-40B4-BE49-F238E27FC236}">
                <a16:creationId xmlns:a16="http://schemas.microsoft.com/office/drawing/2014/main" id="{C9636455-F6A4-4B24-A236-0B025C8C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57500"/>
            <a:ext cx="3429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2EE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2" name="is-graph-label">
            <a:extLst xmlns:a="http://schemas.openxmlformats.org/drawingml/2006/main">
              <a:ext uri="{FF2B5EF4-FFF2-40B4-BE49-F238E27FC236}">
                <a16:creationId xmlns:a16="http://schemas.microsoft.com/office/drawing/2014/main" id="{378461BD-A3FC-4297-B37E-F747DD12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71800"/>
            <a:ext cx="3124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Research-context graph</a:t>
            </a:r>
          </a:p>
        </p:txBody>
      </p:sp>
      <p:sp>
        <p:nvSpPr>
          <p:cNvPr id="13" name="chip">
            <a:extLst xmlns:a="http://schemas.openxmlformats.org/drawingml/2006/main">
              <a:ext uri="{FF2B5EF4-FFF2-40B4-BE49-F238E27FC236}">
                <a16:creationId xmlns:a16="http://schemas.microsoft.com/office/drawing/2014/main" id="{73CD8DA2-08FE-458E-B9A0-38170C09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719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4" name="chip-text">
            <a:extLst xmlns:a="http://schemas.openxmlformats.org/drawingml/2006/main">
              <a:ext uri="{FF2B5EF4-FFF2-40B4-BE49-F238E27FC236}">
                <a16:creationId xmlns:a16="http://schemas.microsoft.com/office/drawing/2014/main" id="{16D11C56-D6AF-45CB-850E-49E38A3E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291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15" name="chip">
            <a:extLst xmlns:a="http://schemas.openxmlformats.org/drawingml/2006/main">
              <a:ext uri="{FF2B5EF4-FFF2-40B4-BE49-F238E27FC236}">
                <a16:creationId xmlns:a16="http://schemas.microsoft.com/office/drawing/2014/main" id="{9C66F20E-C832-4F1C-8CC0-98EE5B38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719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6" name="chip-text">
            <a:extLst xmlns:a="http://schemas.openxmlformats.org/drawingml/2006/main">
              <a:ext uri="{FF2B5EF4-FFF2-40B4-BE49-F238E27FC236}">
                <a16:creationId xmlns:a16="http://schemas.microsoft.com/office/drawing/2014/main" id="{2FC15E74-0864-4C69-832E-22D28AE2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291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chip">
            <a:extLst xmlns:a="http://schemas.openxmlformats.org/drawingml/2006/main">
              <a:ext uri="{FF2B5EF4-FFF2-40B4-BE49-F238E27FC236}">
                <a16:creationId xmlns:a16="http://schemas.microsoft.com/office/drawing/2014/main" id="{7D1B4C01-7443-4D22-9B46-926646A7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91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8" name="chip-text">
            <a:extLst xmlns:a="http://schemas.openxmlformats.org/drawingml/2006/main">
              <a:ext uri="{FF2B5EF4-FFF2-40B4-BE49-F238E27FC236}">
                <a16:creationId xmlns:a16="http://schemas.microsoft.com/office/drawing/2014/main" id="{D3FD8532-2E07-4FD5-BA7C-75B80F71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482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Sessions</a:t>
            </a:r>
          </a:p>
        </p:txBody>
      </p:sp>
      <p:sp>
        <p:nvSpPr>
          <p:cNvPr id="19" name="chip">
            <a:extLst xmlns:a="http://schemas.openxmlformats.org/drawingml/2006/main">
              <a:ext uri="{FF2B5EF4-FFF2-40B4-BE49-F238E27FC236}">
                <a16:creationId xmlns:a16="http://schemas.microsoft.com/office/drawing/2014/main" id="{EA5A7CB1-5DFC-4A6D-9E4A-3B388165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91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20" name="chip-text">
            <a:extLst xmlns:a="http://schemas.openxmlformats.org/drawingml/2006/main">
              <a:ext uri="{FF2B5EF4-FFF2-40B4-BE49-F238E27FC236}">
                <a16:creationId xmlns:a16="http://schemas.microsoft.com/office/drawing/2014/main" id="{DD93B6DD-5BA6-4142-A039-E2DC7F41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482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Datasets</a:t>
            </a:r>
          </a:p>
        </p:txBody>
      </p:sp>
      <p:sp>
        <p:nvSpPr>
          <p:cNvPr id="21" name="chip">
            <a:extLst xmlns:a="http://schemas.openxmlformats.org/drawingml/2006/main">
              <a:ext uri="{FF2B5EF4-FFF2-40B4-BE49-F238E27FC236}">
                <a16:creationId xmlns:a16="http://schemas.microsoft.com/office/drawing/2014/main" id="{C5424AFE-BCEB-4521-82BB-303F01AE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101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22" name="chip-text">
            <a:extLst xmlns:a="http://schemas.openxmlformats.org/drawingml/2006/main">
              <a:ext uri="{FF2B5EF4-FFF2-40B4-BE49-F238E27FC236}">
                <a16:creationId xmlns:a16="http://schemas.microsoft.com/office/drawing/2014/main" id="{8849E58D-1F52-46ED-8CEE-01A4DFCF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673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Analyses</a:t>
            </a:r>
          </a:p>
        </p:txBody>
      </p:sp>
      <p:sp>
        <p:nvSpPr>
          <p:cNvPr id="23" name="chip">
            <a:extLst xmlns:a="http://schemas.openxmlformats.org/drawingml/2006/main">
              <a:ext uri="{FF2B5EF4-FFF2-40B4-BE49-F238E27FC236}">
                <a16:creationId xmlns:a16="http://schemas.microsoft.com/office/drawing/2014/main" id="{6A0CE444-228B-4268-8D3D-B0261E19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101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24" name="chip-text">
            <a:extLst xmlns:a="http://schemas.openxmlformats.org/drawingml/2006/main">
              <a:ext uri="{FF2B5EF4-FFF2-40B4-BE49-F238E27FC236}">
                <a16:creationId xmlns:a16="http://schemas.microsoft.com/office/drawing/2014/main" id="{3E8F213B-249D-4EB7-87A5-50D3D37A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0673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Claims</a:t>
            </a:r>
          </a:p>
        </p:txBody>
      </p:sp>
      <p:sp>
        <p:nvSpPr>
          <p:cNvPr id="25" name="chip">
            <a:extLst xmlns:a="http://schemas.openxmlformats.org/drawingml/2006/main">
              <a:ext uri="{FF2B5EF4-FFF2-40B4-BE49-F238E27FC236}">
                <a16:creationId xmlns:a16="http://schemas.microsoft.com/office/drawing/2014/main" id="{6887625D-A092-42FE-81B7-2754AF7C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4292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26" name="chip-text">
            <a:extLst xmlns:a="http://schemas.openxmlformats.org/drawingml/2006/main">
              <a:ext uri="{FF2B5EF4-FFF2-40B4-BE49-F238E27FC236}">
                <a16:creationId xmlns:a16="http://schemas.microsoft.com/office/drawing/2014/main" id="{A6DC9395-5705-481F-B00F-2FFF890E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4864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Visualizations</a:t>
            </a:r>
          </a:p>
        </p:txBody>
      </p:sp>
      <p:sp>
        <p:nvSpPr>
          <p:cNvPr id="27" name="rule">
            <a:extLst xmlns:a="http://schemas.openxmlformats.org/drawingml/2006/main">
              <a:ext uri="{FF2B5EF4-FFF2-40B4-BE49-F238E27FC236}">
                <a16:creationId xmlns:a16="http://schemas.microsoft.com/office/drawing/2014/main" id="{51C6E259-5171-4C88-BC40-CBF5E4B9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575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rule">
            <a:extLst xmlns:a="http://schemas.openxmlformats.org/drawingml/2006/main">
              <a:ext uri="{FF2B5EF4-FFF2-40B4-BE49-F238E27FC236}">
                <a16:creationId xmlns:a16="http://schemas.microsoft.com/office/drawing/2014/main" id="{55B5AC43-3C29-4F00-8518-A8CDD19D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4577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rule">
            <a:extLst xmlns:a="http://schemas.openxmlformats.org/drawingml/2006/main">
              <a:ext uri="{FF2B5EF4-FFF2-40B4-BE49-F238E27FC236}">
                <a16:creationId xmlns:a16="http://schemas.microsoft.com/office/drawing/2014/main" id="{F36ADCCD-7561-4365-A758-245FD6C9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52800"/>
            <a:ext cx="1181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E52A7D-1134-4D5F-94B4-2128E818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95600"/>
            <a:ext cx="1790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Keep external artifacts referenced;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keep scientific meaning in the graph.</a:t>
            </a:r>
          </a:p>
        </p:txBody>
      </p:sp>
    </p:spTree>
    <p:extLst>
      <p:ext uri="{BB962C8B-B14F-4D97-AF65-F5344CB8AC3E}">
        <p14:creationId xmlns:p14="http://schemas.microsoft.com/office/powerpoint/2010/main" val="188280446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7A32DB-9F33-4B88-834D-3D8CD370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C9540A0-29E3-4D84-BA67-CD8311BB6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936930B-EAB7-4DD7-8AEA-05338F36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GRAPH MODEL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3362920E-7CAE-49C5-96E9-F4BF13C8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Questions-first structure records why before what.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B60181DB-D4C2-4585-80C6-30C6596D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docs/retained-v1-surface.md; extracted project graph screenshot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506CB725-DDB8-4233-A60F-EFD3DAA6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entity-0">
            <a:extLst xmlns:a="http://schemas.openxmlformats.org/drawingml/2006/main">
              <a:ext uri="{FF2B5EF4-FFF2-40B4-BE49-F238E27FC236}">
                <a16:creationId xmlns:a16="http://schemas.microsoft.com/office/drawing/2014/main" id="{BAE2B784-B187-4367-9335-41B6CBA9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895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D6470"/>
            </a:solidFill>
            <a:prstDash val="solid"/>
          </a:ln>
        </p:spPr>
      </p:sp>
      <p:sp>
        <p:nvSpPr>
          <p:cNvPr id="8" name="entity-0-text">
            <a:extLst xmlns:a="http://schemas.openxmlformats.org/drawingml/2006/main">
              <a:ext uri="{FF2B5EF4-FFF2-40B4-BE49-F238E27FC236}">
                <a16:creationId xmlns:a16="http://schemas.microsoft.com/office/drawing/2014/main" id="{CF452DBF-6AA9-4D61-AF15-FD5D452A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62225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D6470"/>
                </a:solidFill>
                <a:latin typeface="Aptos"/>
                <a:ea typeface="Aptos"/>
                <a:cs typeface="Aptos"/>
              </a:rPr>
              <a:t>Project</a:t>
            </a:r>
          </a:p>
        </p:txBody>
      </p:sp>
      <p:sp>
        <p:nvSpPr>
          <p:cNvPr id="9" name="rule">
            <a:extLst xmlns:a="http://schemas.openxmlformats.org/drawingml/2006/main">
              <a:ext uri="{FF2B5EF4-FFF2-40B4-BE49-F238E27FC236}">
                <a16:creationId xmlns:a16="http://schemas.microsoft.com/office/drawing/2014/main" id="{BB1AFDC7-78BB-448C-8549-6CF73A97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52725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entity-1">
            <a:extLst xmlns:a="http://schemas.openxmlformats.org/drawingml/2006/main">
              <a:ext uri="{FF2B5EF4-FFF2-40B4-BE49-F238E27FC236}">
                <a16:creationId xmlns:a16="http://schemas.microsoft.com/office/drawing/2014/main" id="{FF4D0AF9-2489-4348-A406-756688F3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457450"/>
            <a:ext cx="895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2EE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1" name="entity-1-text">
            <a:extLst xmlns:a="http://schemas.openxmlformats.org/drawingml/2006/main">
              <a:ext uri="{FF2B5EF4-FFF2-40B4-BE49-F238E27FC236}">
                <a16:creationId xmlns:a16="http://schemas.microsoft.com/office/drawing/2014/main" id="{B493BE7C-FA14-46DE-A4B5-ABC204DF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562225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2" name="rule">
            <a:extLst xmlns:a="http://schemas.openxmlformats.org/drawingml/2006/main">
              <a:ext uri="{FF2B5EF4-FFF2-40B4-BE49-F238E27FC236}">
                <a16:creationId xmlns:a16="http://schemas.microsoft.com/office/drawing/2014/main" id="{66B2FCCA-5719-4550-AE5F-DF9CA6D6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52725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entity-2">
            <a:extLst xmlns:a="http://schemas.openxmlformats.org/drawingml/2006/main">
              <a:ext uri="{FF2B5EF4-FFF2-40B4-BE49-F238E27FC236}">
                <a16:creationId xmlns:a16="http://schemas.microsoft.com/office/drawing/2014/main" id="{4A5C153E-93CD-4765-858D-B9706963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57450"/>
            <a:ext cx="895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59F00"/>
            </a:solidFill>
            <a:prstDash val="solid"/>
          </a:ln>
        </p:spPr>
      </p:sp>
      <p:sp>
        <p:nvSpPr>
          <p:cNvPr id="14" name="entity-2-text">
            <a:extLst xmlns:a="http://schemas.openxmlformats.org/drawingml/2006/main">
              <a:ext uri="{FF2B5EF4-FFF2-40B4-BE49-F238E27FC236}">
                <a16:creationId xmlns:a16="http://schemas.microsoft.com/office/drawing/2014/main" id="{43B9EDF8-5B23-474C-8EAA-73C0CAA1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62225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F59F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9F00"/>
                </a:solidFill>
                <a:latin typeface="Aptos"/>
                <a:ea typeface="Aptos"/>
                <a:cs typeface="Aptos"/>
              </a:rPr>
              <a:t>Session</a:t>
            </a:r>
          </a:p>
        </p:txBody>
      </p:sp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FEFDBF02-4E9E-409D-A499-FBC87C80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52725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entity-3">
            <a:extLst xmlns:a="http://schemas.openxmlformats.org/drawingml/2006/main">
              <a:ext uri="{FF2B5EF4-FFF2-40B4-BE49-F238E27FC236}">
                <a16:creationId xmlns:a16="http://schemas.microsoft.com/office/drawing/2014/main" id="{67336D95-775F-4D6F-9252-E293DDCE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457450"/>
            <a:ext cx="895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B5BDB"/>
            </a:solidFill>
            <a:prstDash val="solid"/>
          </a:ln>
        </p:spPr>
      </p:sp>
      <p:sp>
        <p:nvSpPr>
          <p:cNvPr id="17" name="entity-3-text">
            <a:extLst xmlns:a="http://schemas.openxmlformats.org/drawingml/2006/main">
              <a:ext uri="{FF2B5EF4-FFF2-40B4-BE49-F238E27FC236}">
                <a16:creationId xmlns:a16="http://schemas.microsoft.com/office/drawing/2014/main" id="{7D29756B-E587-4BDC-ABC1-170AC56A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562225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8" name="rule">
            <a:extLst xmlns:a="http://schemas.openxmlformats.org/drawingml/2006/main">
              <a:ext uri="{FF2B5EF4-FFF2-40B4-BE49-F238E27FC236}">
                <a16:creationId xmlns:a16="http://schemas.microsoft.com/office/drawing/2014/main" id="{CE00A5E3-4C1F-41BF-8C1D-C9FA4505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52725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entity-4">
            <a:extLst xmlns:a="http://schemas.openxmlformats.org/drawingml/2006/main">
              <a:ext uri="{FF2B5EF4-FFF2-40B4-BE49-F238E27FC236}">
                <a16:creationId xmlns:a16="http://schemas.microsoft.com/office/drawing/2014/main" id="{55171D83-6EFC-4C5A-B186-14C5881A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57450"/>
            <a:ext cx="895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B5BDB"/>
            </a:solidFill>
            <a:prstDash val="solid"/>
          </a:ln>
        </p:spPr>
      </p:sp>
      <p:sp>
        <p:nvSpPr>
          <p:cNvPr id="20" name="entity-4-text">
            <a:extLst xmlns:a="http://schemas.openxmlformats.org/drawingml/2006/main">
              <a:ext uri="{FF2B5EF4-FFF2-40B4-BE49-F238E27FC236}">
                <a16:creationId xmlns:a16="http://schemas.microsoft.com/office/drawing/2014/main" id="{BC5DDE8B-5D37-4A0E-AC62-708EB757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562225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F509647F-20A1-4141-92CE-8E53AF38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52725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entity-5">
            <a:extLst xmlns:a="http://schemas.openxmlformats.org/drawingml/2006/main">
              <a:ext uri="{FF2B5EF4-FFF2-40B4-BE49-F238E27FC236}">
                <a16:creationId xmlns:a16="http://schemas.microsoft.com/office/drawing/2014/main" id="{899AB48C-C373-4659-91F2-3514D01C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57450"/>
            <a:ext cx="895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23" name="entity-5-text">
            <a:extLst xmlns:a="http://schemas.openxmlformats.org/drawingml/2006/main">
              <a:ext uri="{FF2B5EF4-FFF2-40B4-BE49-F238E27FC236}">
                <a16:creationId xmlns:a16="http://schemas.microsoft.com/office/drawing/2014/main" id="{9FC9C92E-9E07-4A57-979A-AFF0F415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62225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Claim</a:t>
            </a:r>
          </a:p>
        </p:txBody>
      </p:sp>
      <p:sp>
        <p:nvSpPr>
          <p:cNvPr id="24" name="rule">
            <a:extLst xmlns:a="http://schemas.openxmlformats.org/drawingml/2006/main">
              <a:ext uri="{FF2B5EF4-FFF2-40B4-BE49-F238E27FC236}">
                <a16:creationId xmlns:a16="http://schemas.microsoft.com/office/drawing/2014/main" id="{D395B40B-28A2-446B-8A32-0CEDEF96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52725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entity-6">
            <a:extLst xmlns:a="http://schemas.openxmlformats.org/drawingml/2006/main">
              <a:ext uri="{FF2B5EF4-FFF2-40B4-BE49-F238E27FC236}">
                <a16:creationId xmlns:a16="http://schemas.microsoft.com/office/drawing/2014/main" id="{758FDD9C-86C8-4F69-A899-8CD0DC13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57450"/>
            <a:ext cx="895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26" name="entity-6-text">
            <a:extLst xmlns:a="http://schemas.openxmlformats.org/drawingml/2006/main">
              <a:ext uri="{FF2B5EF4-FFF2-40B4-BE49-F238E27FC236}">
                <a16:creationId xmlns:a16="http://schemas.microsoft.com/office/drawing/2014/main" id="{39566938-CD8D-410D-8071-930FA092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62225"/>
            <a:ext cx="66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Visualization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B9460A-0876-4703-94EF-75A84C41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D6470"/>
                </a:solidFill>
                <a:latin typeface="Aptos"/>
                <a:ea typeface="Aptos"/>
                <a:cs typeface="Aptos"/>
              </a:rPr>
              <a:t>Evidence spine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DD4CC4-6E2E-4F66-8067-ACB3340A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638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Broad questions sit above atomic experimental, control, and analysis questions.</a:t>
            </a:r>
          </a:p>
        </p:txBody>
      </p:sp>
      <p:sp>
        <p:nvSpPr>
          <p:cNvPr id="29" name="box">
            <a:extLst xmlns:a="http://schemas.openxmlformats.org/drawingml/2006/main">
              <a:ext uri="{FF2B5EF4-FFF2-40B4-BE49-F238E27FC236}">
                <a16:creationId xmlns:a16="http://schemas.microsoft.com/office/drawing/2014/main" id="{EE5355C0-0BB6-4866-B7D5-A1099E49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64795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4C8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4fd766e0e14c60"/>
          <a:stretch xmlns:a="http://schemas.openxmlformats.org/drawingml/2006/main"/>
        </p:blipFill>
        <p:spPr>
          <a:xfrm xmlns:a="http://schemas.openxmlformats.org/drawingml/2006/main">
            <a:off x="8724900" y="2562157"/>
            <a:ext cx="2495550" cy="3048136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42DA76-BC74-4E40-AAEE-1CDD18A6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60388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Real app graph crop</a:t>
            </a:r>
          </a:p>
        </p:txBody>
      </p:sp>
    </p:spTree>
    <p:extLst>
      <p:ext uri="{BB962C8B-B14F-4D97-AF65-F5344CB8AC3E}">
        <p14:creationId xmlns:p14="http://schemas.microsoft.com/office/powerpoint/2010/main" val="70070913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D33482-B368-41EB-BFC5-D742991D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88F37AE-FD1F-4F19-834B-3E8ECCE4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42B74E7-0DE5-49FA-8644-C332672D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WORKED EXAMPLE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5B281F0E-345B-4AA0-9C67-2339640A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A final figure can be traced backward to the decisions behind it.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34976671-B447-49BF-BD75-067E086B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D35E81E8-2FC4-4CC2-BAB3-99E24677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trace-0">
            <a:extLst xmlns:a="http://schemas.openxmlformats.org/drawingml/2006/main">
              <a:ext uri="{FF2B5EF4-FFF2-40B4-BE49-F238E27FC236}">
                <a16:creationId xmlns:a16="http://schemas.microsoft.com/office/drawing/2014/main" id="{64460EE3-F3B8-453A-BDE9-1E9020F3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139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2EE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trace-0-text">
            <a:extLst xmlns:a="http://schemas.openxmlformats.org/drawingml/2006/main">
              <a:ext uri="{FF2B5EF4-FFF2-40B4-BE49-F238E27FC236}">
                <a16:creationId xmlns:a16="http://schemas.microsoft.com/office/drawing/2014/main" id="{204ABFBD-5460-458E-93E8-750AFF32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52775"/>
            <a:ext cx="1162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Final figure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a002e630743c6">
            <a:extLst>
              <a:ext uri="{96DAC541-7B7A-43D3-8B79-37D633B846F1}">
                <asvg:svgBlip xmlns:asvg="http://schemas.microsoft.com/office/drawing/2016/SVG/main" r:embed="Rbf64635cc2d84c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466850" y="23241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0" name="rule">
            <a:extLst xmlns:a="http://schemas.openxmlformats.org/drawingml/2006/main">
              <a:ext uri="{FF2B5EF4-FFF2-40B4-BE49-F238E27FC236}">
                <a16:creationId xmlns:a16="http://schemas.microsoft.com/office/drawing/2014/main" id="{BCE34B35-E57A-45CA-8B95-C8B4FA05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3909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4a45458694ddf">
            <a:extLst>
              <a:ext uri="{96DAC541-7B7A-43D3-8B79-37D633B846F1}">
                <asvg:svgBlip xmlns:asvg="http://schemas.microsoft.com/office/drawing/2016/SVG/main" r:embed="R7cf814554b0449e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381250" y="325755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2" name="trace-1">
            <a:extLst xmlns:a="http://schemas.openxmlformats.org/drawingml/2006/main">
              <a:ext uri="{FF2B5EF4-FFF2-40B4-BE49-F238E27FC236}">
                <a16:creationId xmlns:a16="http://schemas.microsoft.com/office/drawing/2014/main" id="{65D8D96C-C110-46EF-9E70-0679D2E8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48000"/>
            <a:ext cx="139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13" name="trace-1-text">
            <a:extLst xmlns:a="http://schemas.openxmlformats.org/drawingml/2006/main">
              <a:ext uri="{FF2B5EF4-FFF2-40B4-BE49-F238E27FC236}">
                <a16:creationId xmlns:a16="http://schemas.microsoft.com/office/drawing/2014/main" id="{0327B70C-C2BA-4490-9439-71BEB6EA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152775"/>
            <a:ext cx="1162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Supported claim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a37a2fe3a463b">
            <a:extLst>
              <a:ext uri="{96DAC541-7B7A-43D3-8B79-37D633B846F1}">
                <asvg:svgBlip xmlns:asvg="http://schemas.microsoft.com/office/drawing/2016/SVG/main" r:embed="R19f968e733c84bb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38500" y="23241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7666A46C-FCAB-41AD-A9C2-FBDAC7B3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3909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620b3ef5d4623">
            <a:extLst>
              <a:ext uri="{96DAC541-7B7A-43D3-8B79-37D633B846F1}">
                <asvg:svgBlip xmlns:asvg="http://schemas.microsoft.com/office/drawing/2016/SVG/main" r:embed="R0024766a55714b9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52900" y="325755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17" name="trace-2">
            <a:extLst xmlns:a="http://schemas.openxmlformats.org/drawingml/2006/main">
              <a:ext uri="{FF2B5EF4-FFF2-40B4-BE49-F238E27FC236}">
                <a16:creationId xmlns:a16="http://schemas.microsoft.com/office/drawing/2014/main" id="{6B553C89-DB90-4A7D-BC21-ABCC43D8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48000"/>
            <a:ext cx="139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B5BDB"/>
            </a:solidFill>
            <a:prstDash val="solid"/>
          </a:ln>
        </p:spPr>
      </p:sp>
      <p:sp>
        <p:nvSpPr>
          <p:cNvPr id="18" name="trace-2-text">
            <a:extLst xmlns:a="http://schemas.openxmlformats.org/drawingml/2006/main">
              <a:ext uri="{FF2B5EF4-FFF2-40B4-BE49-F238E27FC236}">
                <a16:creationId xmlns:a16="http://schemas.microsoft.com/office/drawing/2014/main" id="{406D8CB8-B7B6-44AD-B8D5-251E769A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52775"/>
            <a:ext cx="1162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Analysis run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2698829304603">
            <a:extLst>
              <a:ext uri="{96DAC541-7B7A-43D3-8B79-37D633B846F1}">
                <asvg:svgBlip xmlns:asvg="http://schemas.microsoft.com/office/drawing/2016/SVG/main" r:embed="R8386f1380696445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010150" y="23241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0" name="rule">
            <a:extLst xmlns:a="http://schemas.openxmlformats.org/drawingml/2006/main">
              <a:ext uri="{FF2B5EF4-FFF2-40B4-BE49-F238E27FC236}">
                <a16:creationId xmlns:a16="http://schemas.microsoft.com/office/drawing/2014/main" id="{B40330E2-8285-4BB1-BACF-98D4F8F0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909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0da034c6974f07">
            <a:extLst>
              <a:ext uri="{96DAC541-7B7A-43D3-8B79-37D633B846F1}">
                <asvg:svgBlip xmlns:asvg="http://schemas.microsoft.com/office/drawing/2016/SVG/main" r:embed="R65c2d523b62744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24550" y="325755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2" name="trace-3">
            <a:extLst xmlns:a="http://schemas.openxmlformats.org/drawingml/2006/main">
              <a:ext uri="{FF2B5EF4-FFF2-40B4-BE49-F238E27FC236}">
                <a16:creationId xmlns:a16="http://schemas.microsoft.com/office/drawing/2014/main" id="{6FCADB74-AEA0-425F-98E9-CE136861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48000"/>
            <a:ext cx="139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B5BDB"/>
            </a:solidFill>
            <a:prstDash val="solid"/>
          </a:ln>
        </p:spPr>
      </p:sp>
      <p:sp>
        <p:nvSpPr>
          <p:cNvPr id="23" name="trace-3-text">
            <a:extLst xmlns:a="http://schemas.openxmlformats.org/drawingml/2006/main">
              <a:ext uri="{FF2B5EF4-FFF2-40B4-BE49-F238E27FC236}">
                <a16:creationId xmlns:a16="http://schemas.microsoft.com/office/drawing/2014/main" id="{8012DA65-0D01-49A0-86D1-6F1ADD6B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52775"/>
            <a:ext cx="1162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Committed dataset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6b351251fe434a">
            <a:extLst>
              <a:ext uri="{96DAC541-7B7A-43D3-8B79-37D633B846F1}">
                <asvg:svgBlip xmlns:asvg="http://schemas.microsoft.com/office/drawing/2016/SVG/main" r:embed="Rf5d6418761d04e9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781800" y="23241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25" name="rule">
            <a:extLst xmlns:a="http://schemas.openxmlformats.org/drawingml/2006/main">
              <a:ext uri="{FF2B5EF4-FFF2-40B4-BE49-F238E27FC236}">
                <a16:creationId xmlns:a16="http://schemas.microsoft.com/office/drawing/2014/main" id="{1D7845BC-66DB-4536-8513-796CA5D9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909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77e6656df4717">
            <a:extLst>
              <a:ext uri="{96DAC541-7B7A-43D3-8B79-37D633B846F1}">
                <asvg:svgBlip xmlns:asvg="http://schemas.microsoft.com/office/drawing/2016/SVG/main" r:embed="Rda594232fda847c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696200" y="325755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27" name="trace-4">
            <a:extLst xmlns:a="http://schemas.openxmlformats.org/drawingml/2006/main">
              <a:ext uri="{FF2B5EF4-FFF2-40B4-BE49-F238E27FC236}">
                <a16:creationId xmlns:a16="http://schemas.microsoft.com/office/drawing/2014/main" id="{2FF529DB-40D4-4C72-BB1C-02EAFF6A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48000"/>
            <a:ext cx="139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59F00"/>
            </a:solidFill>
            <a:prstDash val="solid"/>
          </a:ln>
        </p:spPr>
      </p:sp>
      <p:sp>
        <p:nvSpPr>
          <p:cNvPr id="28" name="trace-4-text">
            <a:extLst xmlns:a="http://schemas.openxmlformats.org/drawingml/2006/main">
              <a:ext uri="{FF2B5EF4-FFF2-40B4-BE49-F238E27FC236}">
                <a16:creationId xmlns:a16="http://schemas.microsoft.com/office/drawing/2014/main" id="{D5B04089-F129-451F-9565-6AC7763A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52775"/>
            <a:ext cx="1162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59F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9F00"/>
                </a:solidFill>
                <a:latin typeface="Aptos"/>
                <a:ea typeface="Aptos"/>
                <a:cs typeface="Aptos"/>
              </a:rPr>
              <a:t>Bench note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4f2428466b4474">
            <a:extLst>
              <a:ext uri="{96DAC541-7B7A-43D3-8B79-37D633B846F1}">
                <asvg:svgBlip xmlns:asvg="http://schemas.microsoft.com/office/drawing/2016/SVG/main" r:embed="R8084b7dd5d8249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553450" y="23241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0" name="rule">
            <a:extLst xmlns:a="http://schemas.openxmlformats.org/drawingml/2006/main">
              <a:ext uri="{FF2B5EF4-FFF2-40B4-BE49-F238E27FC236}">
                <a16:creationId xmlns:a16="http://schemas.microsoft.com/office/drawing/2014/main" id="{EE7045C8-6349-479D-A09E-02025768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909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92663af5c04a97">
            <a:extLst>
              <a:ext uri="{96DAC541-7B7A-43D3-8B79-37D633B846F1}">
                <asvg:svgBlip xmlns:asvg="http://schemas.microsoft.com/office/drawing/2016/SVG/main" r:embed="R2b2fff59b96f4bb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467850" y="325755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32" name="trace-5">
            <a:extLst xmlns:a="http://schemas.openxmlformats.org/drawingml/2006/main">
              <a:ext uri="{FF2B5EF4-FFF2-40B4-BE49-F238E27FC236}">
                <a16:creationId xmlns:a16="http://schemas.microsoft.com/office/drawing/2014/main" id="{DFB682A0-CCC2-47A4-B458-95ECB324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48000"/>
            <a:ext cx="139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33" name="trace-5-text">
            <a:extLst xmlns:a="http://schemas.openxmlformats.org/drawingml/2006/main">
              <a:ext uri="{FF2B5EF4-FFF2-40B4-BE49-F238E27FC236}">
                <a16:creationId xmlns:a16="http://schemas.microsoft.com/office/drawing/2014/main" id="{AFD0B926-8788-4F69-BBB5-C3B8F94E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52775"/>
            <a:ext cx="1162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Active question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33a328f771403a">
            <a:extLst>
              <a:ext uri="{96DAC541-7B7A-43D3-8B79-37D633B846F1}">
                <asvg:svgBlip xmlns:asvg="http://schemas.microsoft.com/office/drawing/2016/SVG/main" r:embed="R5f8cf51ab2a444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325100" y="23241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2414EC-BD4F-4665-B16C-FEDCB51A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00600"/>
            <a:ext cx="914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D6470"/>
                </a:solidFill>
                <a:latin typeface="Aptos"/>
                <a:ea typeface="Aptos"/>
                <a:cs typeface="Aptos"/>
              </a:rPr>
              <a:t>Forward path: question -&gt; session -&gt; dataset -&gt; analysis -&gt; claim -&gt; visualization.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9E1951-51B0-44DF-A1CE-67CCC668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781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Backward path: figure -&gt; every dataset, note, and decision.</a:t>
            </a:r>
          </a:p>
        </p:txBody>
      </p:sp>
    </p:spTree>
    <p:extLst>
      <p:ext uri="{BB962C8B-B14F-4D97-AF65-F5344CB8AC3E}">
        <p14:creationId xmlns:p14="http://schemas.microsoft.com/office/powerpoint/2010/main" val="38347587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D16E1F-6301-419B-A516-5F5874AB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D44E336-8BAF-43EF-A790-F9329083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F582364-8BC8-4813-A767-B234166C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9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59F00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79995553-E845-42F8-99EC-35388091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Upkeep shifts from manual entry to human-approved drafts.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A2B5AA9-D1AF-4B37-B99C-08441B6F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docs/mobile-graph-aware-image-draft-review.md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26768920-8649-4BA4-8BE6-9B9E3CA2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8e2a13a4f04998">
            <a:extLst>
              <a:ext uri="{96DAC541-7B7A-43D3-8B79-37D633B846F1}">
                <asvg:svgBlip xmlns:asvg="http://schemas.microsoft.com/office/drawing/2016/SVG/main" r:embed="Rdb034896a1fc47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257300" y="2381250"/>
            <a:ext cx="43815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capture-step-0">
            <a:extLst xmlns:a="http://schemas.openxmlformats.org/drawingml/2006/main">
              <a:ext uri="{FF2B5EF4-FFF2-40B4-BE49-F238E27FC236}">
                <a16:creationId xmlns:a16="http://schemas.microsoft.com/office/drawing/2014/main" id="{97B69AA4-BEA1-4116-B116-1B01E7F9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4200"/>
            <a:ext cx="165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C2"/>
          </a:solidFill>
          <a:ln xmlns:a="http://schemas.openxmlformats.org/drawingml/2006/main" w="11430">
            <a:solidFill>
              <a:srgbClr val="F59F00"/>
            </a:solidFill>
            <a:prstDash val="solid"/>
          </a:ln>
        </p:spPr>
      </p:sp>
      <p:sp>
        <p:nvSpPr>
          <p:cNvPr id="9" name="capture-step-0-text">
            <a:extLst xmlns:a="http://schemas.openxmlformats.org/drawingml/2006/main">
              <a:ext uri="{FF2B5EF4-FFF2-40B4-BE49-F238E27FC236}">
                <a16:creationId xmlns:a16="http://schemas.microsoft.com/office/drawing/2014/main" id="{EA22851F-9CB8-470D-B194-E8AC1F31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59F0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59F00"/>
                </a:solidFill>
                <a:latin typeface="Aptos"/>
                <a:ea typeface="Aptos"/>
                <a:cs typeface="Aptos"/>
              </a:rPr>
              <a:t>Capture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59F0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59F00"/>
                </a:solidFill>
                <a:latin typeface="Aptos"/>
                <a:ea typeface="Aptos"/>
                <a:cs typeface="Aptos"/>
              </a:rPr>
              <a:t>photo / voice / text</a:t>
            </a:r>
          </a:p>
        </p:txBody>
      </p:sp>
      <p:sp>
        <p:nvSpPr>
          <p:cNvPr id="10" name="rule">
            <a:extLst xmlns:a="http://schemas.openxmlformats.org/drawingml/2006/main">
              <a:ext uri="{FF2B5EF4-FFF2-40B4-BE49-F238E27FC236}">
                <a16:creationId xmlns:a16="http://schemas.microsoft.com/office/drawing/2014/main" id="{9C6E092B-3467-48C2-81B2-9E5E2D59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5814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c32df7dd1430a">
            <a:extLst>
              <a:ext uri="{96DAC541-7B7A-43D3-8B79-37D633B846F1}">
                <asvg:svgBlip xmlns:asvg="http://schemas.microsoft.com/office/drawing/2016/SVG/main" r:embed="R25d094468ac34d0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495550" y="3448050"/>
            <a:ext cx="266700" cy="266700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d35361c6de4695">
            <a:extLst>
              <a:ext uri="{96DAC541-7B7A-43D3-8B79-37D633B846F1}">
                <asvg:svgBlip xmlns:asvg="http://schemas.microsoft.com/office/drawing/2016/SVG/main" r:embed="R87c4feba44fa427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67100" y="2381250"/>
            <a:ext cx="438150" cy="438150"/>
          </a:xfrm>
          <a:prstGeom xmlns:a="http://schemas.openxmlformats.org/drawingml/2006/main" prst="rect">
            <a:avLst/>
          </a:prstGeom>
        </p:spPr>
      </p:pic>
      <p:sp>
        <p:nvSpPr>
          <p:cNvPr id="13" name="capture-step-1">
            <a:extLst xmlns:a="http://schemas.openxmlformats.org/drawingml/2006/main">
              <a:ext uri="{FF2B5EF4-FFF2-40B4-BE49-F238E27FC236}">
                <a16:creationId xmlns:a16="http://schemas.microsoft.com/office/drawing/2014/main" id="{E4773752-8A42-4440-808A-DA64219D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124200"/>
            <a:ext cx="165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4" name="capture-step-1-text">
            <a:extLst xmlns:a="http://schemas.openxmlformats.org/drawingml/2006/main">
              <a:ext uri="{FF2B5EF4-FFF2-40B4-BE49-F238E27FC236}">
                <a16:creationId xmlns:a16="http://schemas.microsoft.com/office/drawing/2014/main" id="{8C92E50C-72C4-4476-B017-8A88FA0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28975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project-scoped graph</a:t>
            </a:r>
          </a:p>
        </p:txBody>
      </p:sp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F26FFFBF-E259-4CB3-90F3-7B588787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814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f93067b8a748b2">
            <a:extLst>
              <a:ext uri="{96DAC541-7B7A-43D3-8B79-37D633B846F1}">
                <asvg:svgBlip xmlns:asvg="http://schemas.microsoft.com/office/drawing/2016/SVG/main" r:embed="R6a6365cc1e8f47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705350" y="3448050"/>
            <a:ext cx="266700" cy="2667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e67ff591be4c05">
            <a:extLst>
              <a:ext uri="{96DAC541-7B7A-43D3-8B79-37D633B846F1}">
                <asvg:svgBlip xmlns:asvg="http://schemas.microsoft.com/office/drawing/2016/SVG/main" r:embed="R523532fc85084b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676900" y="2381250"/>
            <a:ext cx="438150" cy="438150"/>
          </a:xfrm>
          <a:prstGeom xmlns:a="http://schemas.openxmlformats.org/drawingml/2006/main" prst="rect">
            <a:avLst/>
          </a:prstGeom>
        </p:spPr>
      </p:pic>
      <p:sp>
        <p:nvSpPr>
          <p:cNvPr id="18" name="capture-step-2">
            <a:extLst xmlns:a="http://schemas.openxmlformats.org/drawingml/2006/main">
              <a:ext uri="{FF2B5EF4-FFF2-40B4-BE49-F238E27FC236}">
                <a16:creationId xmlns:a16="http://schemas.microsoft.com/office/drawing/2014/main" id="{6A8B1CAC-4225-46B8-A8B4-CB2CF4DC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24200"/>
            <a:ext cx="165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B5BDB"/>
            </a:solidFill>
            <a:prstDash val="solid"/>
          </a:ln>
        </p:spPr>
      </p:sp>
      <p:sp>
        <p:nvSpPr>
          <p:cNvPr id="19" name="capture-step-2-text">
            <a:extLst xmlns:a="http://schemas.openxmlformats.org/drawingml/2006/main">
              <a:ext uri="{FF2B5EF4-FFF2-40B4-BE49-F238E27FC236}">
                <a16:creationId xmlns:a16="http://schemas.microsoft.com/office/drawing/2014/main" id="{B70F927F-FB90-4502-B790-A1952228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28975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Draft ops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schema-bound proposal</a:t>
            </a:r>
          </a:p>
        </p:txBody>
      </p:sp>
      <p:sp>
        <p:nvSpPr>
          <p:cNvPr id="20" name="rule">
            <a:extLst xmlns:a="http://schemas.openxmlformats.org/drawingml/2006/main">
              <a:ext uri="{FF2B5EF4-FFF2-40B4-BE49-F238E27FC236}">
                <a16:creationId xmlns:a16="http://schemas.microsoft.com/office/drawing/2014/main" id="{FB5460D0-4920-4355-B19C-CED89312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814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6d8ebc40aa4107">
            <a:extLst>
              <a:ext uri="{96DAC541-7B7A-43D3-8B79-37D633B846F1}">
                <asvg:svgBlip xmlns:asvg="http://schemas.microsoft.com/office/drawing/2016/SVG/main" r:embed="Rdc388cfc1e674ed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915150" y="3448050"/>
            <a:ext cx="266700" cy="2667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3239cee825428c">
            <a:extLst>
              <a:ext uri="{96DAC541-7B7A-43D3-8B79-37D633B846F1}">
                <asvg:svgBlip xmlns:asvg="http://schemas.microsoft.com/office/drawing/2016/SVG/main" r:embed="R8de13c1be4424cb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86700" y="2381250"/>
            <a:ext cx="438150" cy="438150"/>
          </a:xfrm>
          <a:prstGeom xmlns:a="http://schemas.openxmlformats.org/drawingml/2006/main" prst="rect">
            <a:avLst/>
          </a:prstGeom>
        </p:spPr>
      </p:pic>
      <p:sp>
        <p:nvSpPr>
          <p:cNvPr id="23" name="capture-step-3">
            <a:extLst xmlns:a="http://schemas.openxmlformats.org/drawingml/2006/main">
              <a:ext uri="{FF2B5EF4-FFF2-40B4-BE49-F238E27FC236}">
                <a16:creationId xmlns:a16="http://schemas.microsoft.com/office/drawing/2014/main" id="{7A312D4D-7307-4FFC-9E94-8C266FEB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24200"/>
            <a:ext cx="165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24" name="capture-step-3-text">
            <a:extLst xmlns:a="http://schemas.openxmlformats.org/drawingml/2006/main">
              <a:ext uri="{FF2B5EF4-FFF2-40B4-BE49-F238E27FC236}">
                <a16:creationId xmlns:a16="http://schemas.microsoft.com/office/drawing/2014/main" id="{7187C3B7-2439-450C-BCC4-911B4DCC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28975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Review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edit / accept / reject</a:t>
            </a:r>
          </a:p>
        </p:txBody>
      </p:sp>
      <p:sp>
        <p:nvSpPr>
          <p:cNvPr id="25" name="rule">
            <a:extLst xmlns:a="http://schemas.openxmlformats.org/drawingml/2006/main">
              <a:ext uri="{FF2B5EF4-FFF2-40B4-BE49-F238E27FC236}">
                <a16:creationId xmlns:a16="http://schemas.microsoft.com/office/drawing/2014/main" id="{CA5BB961-D0A9-442C-8C42-9D2C9D12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814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a7e358d87145a9">
            <a:extLst>
              <a:ext uri="{96DAC541-7B7A-43D3-8B79-37D633B846F1}">
                <asvg:svgBlip xmlns:asvg="http://schemas.microsoft.com/office/drawing/2016/SVG/main" r:embed="R264ad253203c4d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124950" y="3448050"/>
            <a:ext cx="266700" cy="266700"/>
          </a:xfrm>
          <a:prstGeom xmlns:a="http://schemas.openxmlformats.org/drawingml/2006/main" prst="rect">
            <a:avLst/>
          </a:prstGeom>
        </p:spPr>
      </p:pic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1d4265f2c43dd">
            <a:extLst>
              <a:ext uri="{96DAC541-7B7A-43D3-8B79-37D633B846F1}">
                <asvg:svgBlip xmlns:asvg="http://schemas.microsoft.com/office/drawing/2016/SVG/main" r:embed="R635cecb62d9649f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096500" y="2381250"/>
            <a:ext cx="438150" cy="438150"/>
          </a:xfrm>
          <a:prstGeom xmlns:a="http://schemas.openxmlformats.org/drawingml/2006/main" prst="rect">
            <a:avLst/>
          </a:prstGeom>
        </p:spPr>
      </p:pic>
      <p:sp>
        <p:nvSpPr>
          <p:cNvPr id="28" name="capture-step-4">
            <a:extLst xmlns:a="http://schemas.openxmlformats.org/drawingml/2006/main">
              <a:ext uri="{FF2B5EF4-FFF2-40B4-BE49-F238E27FC236}">
                <a16:creationId xmlns:a16="http://schemas.microsoft.com/office/drawing/2014/main" id="{02F57E18-E258-4693-8DBC-902A3E10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124200"/>
            <a:ext cx="165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29" name="capture-step-4-text">
            <a:extLst xmlns:a="http://schemas.openxmlformats.org/drawingml/2006/main">
              <a:ext uri="{FF2B5EF4-FFF2-40B4-BE49-F238E27FC236}">
                <a16:creationId xmlns:a16="http://schemas.microsoft.com/office/drawing/2014/main" id="{08AB0599-58FC-42A5-A7FB-3005CC5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28975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Commit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normal API validation</a:t>
            </a:r>
          </a:p>
        </p:txBody>
      </p:sp>
      <p:sp>
        <p:nvSpPr>
          <p:cNvPr id="30" name="capture-guarantee-box">
            <a:extLst xmlns:a="http://schemas.openxmlformats.org/drawingml/2006/main">
              <a:ext uri="{FF2B5EF4-FFF2-40B4-BE49-F238E27FC236}">
                <a16:creationId xmlns:a16="http://schemas.microsoft.com/office/drawing/2014/main" id="{0395541A-E358-4D19-A1EF-BFCD8A7E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105400"/>
            <a:ext cx="628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31" name="capture-guarantee-label">
            <a:extLst xmlns:a="http://schemas.openxmlformats.org/drawingml/2006/main">
              <a:ext uri="{FF2B5EF4-FFF2-40B4-BE49-F238E27FC236}">
                <a16:creationId xmlns:a16="http://schemas.microsoft.com/office/drawing/2014/main" id="{DBB55413-4C0A-4037-A5EE-07305458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219700"/>
            <a:ext cx="5981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7A510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A5100"/>
                </a:solidFill>
                <a:latin typeface="Aptos"/>
                <a:ea typeface="Aptos"/>
                <a:cs typeface="Aptos"/>
              </a:rPr>
              <a:t>Guarantee: the model never directly mutates the graph.</a:t>
            </a:r>
          </a:p>
        </p:txBody>
      </p:sp>
    </p:spTree>
    <p:extLst>
      <p:ext uri="{BB962C8B-B14F-4D97-AF65-F5344CB8AC3E}">
        <p14:creationId xmlns:p14="http://schemas.microsoft.com/office/powerpoint/2010/main" val="40867975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19977E-225F-4547-8B08-388CD510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520A2B1-B9C2-407E-A1B6-310EFEE7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B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68AD0D2-0D31-45E8-ACA2-C3B5B617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AI HARNESS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33F43CD1-7C27-4E24-A561-88F44404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The graph keeps assistants tied to the scientific question.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F2B87D6-142B-43EC-B448-48F69157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docs/mcp-decision-context-tooling.md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8EF796E4-CE82-4590-821F-4A927C7A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generic-rag-box">
            <a:extLst xmlns:a="http://schemas.openxmlformats.org/drawingml/2006/main">
              <a:ext uri="{FF2B5EF4-FFF2-40B4-BE49-F238E27FC236}">
                <a16:creationId xmlns:a16="http://schemas.microsoft.com/office/drawing/2014/main" id="{02D5E90B-36D0-46DD-B2CE-B752F8E9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9525">
            <a:solidFill>
              <a:srgbClr val="D9480F"/>
            </a:solidFill>
            <a:prstDash val="solid"/>
          </a:ln>
        </p:spPr>
      </p:sp>
      <p:sp>
        <p:nvSpPr>
          <p:cNvPr id="8" name="generic-rag-label">
            <a:extLst xmlns:a="http://schemas.openxmlformats.org/drawingml/2006/main">
              <a:ext uri="{FF2B5EF4-FFF2-40B4-BE49-F238E27FC236}">
                <a16:creationId xmlns:a16="http://schemas.microsoft.com/office/drawing/2014/main" id="{FDC3775A-A066-4FBF-8984-CA4A7999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695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Generic file retrieval</a:t>
            </a:r>
          </a:p>
        </p:txBody>
      </p:sp>
      <p:sp>
        <p:nvSpPr>
          <p:cNvPr id="9" name="word-match-box">
            <a:extLst xmlns:a="http://schemas.openxmlformats.org/drawingml/2006/main">
              <a:ext uri="{FF2B5EF4-FFF2-40B4-BE49-F238E27FC236}">
                <a16:creationId xmlns:a16="http://schemas.microsoft.com/office/drawing/2014/main" id="{0362746B-AE6B-4D59-AE01-0C26B84C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2575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480F"/>
            </a:solidFill>
            <a:prstDash val="solid"/>
          </a:ln>
        </p:spPr>
      </p:sp>
      <p:sp>
        <p:nvSpPr>
          <p:cNvPr id="10" name="word-match-label">
            <a:extLst xmlns:a="http://schemas.openxmlformats.org/drawingml/2006/main">
              <a:ext uri="{FF2B5EF4-FFF2-40B4-BE49-F238E27FC236}">
                <a16:creationId xmlns:a16="http://schemas.microsoft.com/office/drawing/2014/main" id="{6F040194-FDBB-4162-9B3E-9B864B7C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1850"/>
            <a:ext cx="2552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Matches words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but not intent</a:t>
            </a:r>
          </a:p>
        </p:txBody>
      </p:sp>
      <p:sp>
        <p:nvSpPr>
          <p:cNvPr id="11" name="graph-harness-box">
            <a:extLst xmlns:a="http://schemas.openxmlformats.org/drawingml/2006/main">
              <a:ext uri="{FF2B5EF4-FFF2-40B4-BE49-F238E27FC236}">
                <a16:creationId xmlns:a16="http://schemas.microsoft.com/office/drawing/2014/main" id="{590F699F-2A70-4B1F-9905-AEEF5FB6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F"/>
          </a:solidFill>
          <a:ln xmlns:a="http://schemas.openxmlformats.org/drawingml/2006/main" w="9525">
            <a:solidFill>
              <a:srgbClr val="3B5BDB"/>
            </a:solidFill>
            <a:prstDash val="solid"/>
          </a:ln>
        </p:spPr>
      </p:sp>
      <p:sp>
        <p:nvSpPr>
          <p:cNvPr id="12" name="graph-harness-label">
            <a:extLst xmlns:a="http://schemas.openxmlformats.org/drawingml/2006/main">
              <a:ext uri="{FF2B5EF4-FFF2-40B4-BE49-F238E27FC236}">
                <a16:creationId xmlns:a16="http://schemas.microsoft.com/office/drawing/2014/main" id="{A1ADA027-99D5-4AC9-AB9E-EF4097F4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3695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Lab Tracker harness</a:t>
            </a:r>
          </a:p>
        </p:txBody>
      </p:sp>
      <p:sp>
        <p:nvSpPr>
          <p:cNvPr id="13" name="node">
            <a:extLst xmlns:a="http://schemas.openxmlformats.org/drawingml/2006/main">
              <a:ext uri="{FF2B5EF4-FFF2-40B4-BE49-F238E27FC236}">
                <a16:creationId xmlns:a16="http://schemas.microsoft.com/office/drawing/2014/main" id="{1265E1A9-F8CC-4A94-A0AC-8D084077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257550"/>
            <a:ext cx="1123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4" name="node-text">
            <a:extLst xmlns:a="http://schemas.openxmlformats.org/drawingml/2006/main">
              <a:ext uri="{FF2B5EF4-FFF2-40B4-BE49-F238E27FC236}">
                <a16:creationId xmlns:a16="http://schemas.microsoft.com/office/drawing/2014/main" id="{C759D1D2-61AB-428F-A048-BB419E13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62325"/>
            <a:ext cx="895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broad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A2395658-8543-409B-B969-04CCFBCC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5623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node">
            <a:extLst xmlns:a="http://schemas.openxmlformats.org/drawingml/2006/main">
              <a:ext uri="{FF2B5EF4-FFF2-40B4-BE49-F238E27FC236}">
                <a16:creationId xmlns:a16="http://schemas.microsoft.com/office/drawing/2014/main" id="{56154795-B27A-491D-ACE2-AA5B3412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57550"/>
            <a:ext cx="11239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7" name="node-text">
            <a:extLst xmlns:a="http://schemas.openxmlformats.org/drawingml/2006/main">
              <a:ext uri="{FF2B5EF4-FFF2-40B4-BE49-F238E27FC236}">
                <a16:creationId xmlns:a16="http://schemas.microsoft.com/office/drawing/2014/main" id="{A0EDEBF7-F328-45BE-9BEA-550E52B5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62325"/>
            <a:ext cx="895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atomic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8" name="rule">
            <a:extLst xmlns:a="http://schemas.openxmlformats.org/drawingml/2006/main">
              <a:ext uri="{FF2B5EF4-FFF2-40B4-BE49-F238E27FC236}">
                <a16:creationId xmlns:a16="http://schemas.microsoft.com/office/drawing/2014/main" id="{CC862C41-B276-44D3-AE4A-DC0377CD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5623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node">
            <a:extLst xmlns:a="http://schemas.openxmlformats.org/drawingml/2006/main">
              <a:ext uri="{FF2B5EF4-FFF2-40B4-BE49-F238E27FC236}">
                <a16:creationId xmlns:a16="http://schemas.microsoft.com/office/drawing/2014/main" id="{FE9C3628-4311-442F-B6D4-49451893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257550"/>
            <a:ext cx="952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B5BDB"/>
            </a:solidFill>
            <a:prstDash val="solid"/>
          </a:ln>
        </p:spPr>
      </p:sp>
      <p:sp>
        <p:nvSpPr>
          <p:cNvPr id="20" name="node-text">
            <a:extLst xmlns:a="http://schemas.openxmlformats.org/drawingml/2006/main">
              <a:ext uri="{FF2B5EF4-FFF2-40B4-BE49-F238E27FC236}">
                <a16:creationId xmlns:a16="http://schemas.microsoft.com/office/drawing/2014/main" id="{0879A072-BD15-446F-847A-DFA44150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62325"/>
            <a:ext cx="723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51A9EF46-89F6-415D-ADBE-15633498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5623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node">
            <a:extLst xmlns:a="http://schemas.openxmlformats.org/drawingml/2006/main">
              <a:ext uri="{FF2B5EF4-FFF2-40B4-BE49-F238E27FC236}">
                <a16:creationId xmlns:a16="http://schemas.microsoft.com/office/drawing/2014/main" id="{83EC0C6D-BE7C-49A1-B136-BF53F9B1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257550"/>
            <a:ext cx="800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23" name="node-text">
            <a:extLst xmlns:a="http://schemas.openxmlformats.org/drawingml/2006/main">
              <a:ext uri="{FF2B5EF4-FFF2-40B4-BE49-F238E27FC236}">
                <a16:creationId xmlns:a16="http://schemas.microsoft.com/office/drawing/2014/main" id="{7BF0C566-035F-4783-BF36-0CB975DA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362325"/>
            <a:ext cx="571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claim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92FDA8-66D1-4F78-90CD-D6612F31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00550"/>
            <a:ext cx="3810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Decision context packet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22983D-FF91-4992-9A7F-3A6814B0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05400"/>
            <a:ext cx="476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D6470"/>
                </a:solidFill>
                <a:latin typeface="Aptos"/>
                <a:ea typeface="Aptos"/>
                <a:cs typeface="Aptos"/>
              </a:rPr>
              <a:t>Task kinds: plots, analyses, slides, experiment plans, summaries, research writing.</a:t>
            </a:r>
          </a:p>
        </p:txBody>
      </p:sp>
    </p:spTree>
    <p:extLst>
      <p:ext uri="{BB962C8B-B14F-4D97-AF65-F5344CB8AC3E}">
        <p14:creationId xmlns:p14="http://schemas.microsoft.com/office/powerpoint/2010/main" val="77094074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D2AE6D-2AA5-4D9D-906B-E8CBBE36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FD06307-BC01-44F3-A9EE-A1F7BB00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799BEFF-2A15-46DC-AF96-FE251CEE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UNDER THE HOOD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EC9BAD3E-E66C-4A49-B5C2-B9BCB4D8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The stack is deliberately small, local-first, and exportable.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BFE76B9-8348-4BE4-80D5-8861FB4B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README.md; docs/internal-boundaries.md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A62BE112-03DC-4BAA-BE66-ED7F50BB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a783fe01a48a1">
            <a:extLst>
              <a:ext uri="{96DAC541-7B7A-43D3-8B79-37D633B846F1}">
                <asvg:svgBlip xmlns:asvg="http://schemas.microsoft.com/office/drawing/2016/SVG/main" r:embed="Rdb857a0fd60d493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28700" y="23050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8" name="stack-0-box">
            <a:extLst xmlns:a="http://schemas.openxmlformats.org/drawingml/2006/main">
              <a:ext uri="{FF2B5EF4-FFF2-40B4-BE49-F238E27FC236}">
                <a16:creationId xmlns:a16="http://schemas.microsoft.com/office/drawing/2014/main" id="{BCA7E2EE-C979-46E2-A796-02E0E13A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7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9" name="stack-0-label">
            <a:extLst xmlns:a="http://schemas.openxmlformats.org/drawingml/2006/main">
              <a:ext uri="{FF2B5EF4-FFF2-40B4-BE49-F238E27FC236}">
                <a16:creationId xmlns:a16="http://schemas.microsoft.com/office/drawing/2014/main" id="{D84D5F35-81B1-4324-B063-13BC3E8A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305050"/>
            <a:ext cx="7505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React app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/app dashboard, graph, capture, review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9b68cb96c4789">
            <a:extLst>
              <a:ext uri="{96DAC541-7B7A-43D3-8B79-37D633B846F1}">
                <asvg:svgBlip xmlns:asvg="http://schemas.microsoft.com/office/drawing/2016/SVG/main" r:embed="R25250861260c45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28700" y="30480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1" name="stack-1-box">
            <a:extLst xmlns:a="http://schemas.openxmlformats.org/drawingml/2006/main">
              <a:ext uri="{FF2B5EF4-FFF2-40B4-BE49-F238E27FC236}">
                <a16:creationId xmlns:a16="http://schemas.microsoft.com/office/drawing/2014/main" id="{613B76FB-4D5D-42A7-9CDB-D1C54E94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337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B5BDB"/>
            </a:solidFill>
            <a:prstDash val="solid"/>
          </a:ln>
        </p:spPr>
      </p:sp>
      <p:sp>
        <p:nvSpPr>
          <p:cNvPr id="12" name="stack-1-label">
            <a:extLst xmlns:a="http://schemas.openxmlformats.org/drawingml/2006/main">
              <a:ext uri="{FF2B5EF4-FFF2-40B4-BE49-F238E27FC236}">
                <a16:creationId xmlns:a16="http://schemas.microsoft.com/office/drawing/2014/main" id="{B423BEB0-B810-4894-A4BC-91770729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48000"/>
            <a:ext cx="7505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FastAPI routes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retained entities and graph drafts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b758a9abd4c88">
            <a:extLst>
              <a:ext uri="{96DAC541-7B7A-43D3-8B79-37D633B846F1}">
                <asvg:svgBlip xmlns:asvg="http://schemas.microsoft.com/office/drawing/2016/SVG/main" r:embed="R75ef0d7e540b4f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28700" y="37909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4" name="stack-2-box">
            <a:extLst xmlns:a="http://schemas.openxmlformats.org/drawingml/2006/main">
              <a:ext uri="{FF2B5EF4-FFF2-40B4-BE49-F238E27FC236}">
                <a16:creationId xmlns:a16="http://schemas.microsoft.com/office/drawing/2014/main" id="{7E3E2997-FE71-44DE-97E1-E1299359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766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7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15" name="stack-2-label">
            <a:extLst xmlns:a="http://schemas.openxmlformats.org/drawingml/2006/main">
              <a:ext uri="{FF2B5EF4-FFF2-40B4-BE49-F238E27FC236}">
                <a16:creationId xmlns:a16="http://schemas.microsoft.com/office/drawing/2014/main" id="{68C7DD38-FC6D-4637-A111-BCD50F52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90950"/>
            <a:ext cx="7505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Service layer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validation, permissions, projection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9d6eae062402e">
            <a:extLst>
              <a:ext uri="{96DAC541-7B7A-43D3-8B79-37D633B846F1}">
                <asvg:svgBlip xmlns:asvg="http://schemas.microsoft.com/office/drawing/2016/SVG/main" r:embed="R9c1ffa33c05b47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28700" y="45339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17" name="stack-3-box">
            <a:extLst xmlns:a="http://schemas.openxmlformats.org/drawingml/2006/main">
              <a:ext uri="{FF2B5EF4-FFF2-40B4-BE49-F238E27FC236}">
                <a16:creationId xmlns:a16="http://schemas.microsoft.com/office/drawing/2014/main" id="{1A34242B-5FA6-489F-8EE9-D8B3ED22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196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B5BDB"/>
            </a:solidFill>
            <a:prstDash val="solid"/>
          </a:ln>
        </p:spPr>
      </p:sp>
      <p:sp>
        <p:nvSpPr>
          <p:cNvPr id="18" name="stack-3-label">
            <a:extLst xmlns:a="http://schemas.openxmlformats.org/drawingml/2006/main">
              <a:ext uri="{FF2B5EF4-FFF2-40B4-BE49-F238E27FC236}">
                <a16:creationId xmlns:a16="http://schemas.microsoft.com/office/drawing/2014/main" id="{2D7A9CB5-703A-4A9C-A0A7-BF89285F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533900"/>
            <a:ext cx="7505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Repository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SQLite single-client; Postgres shared runtime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d7ed6c4bd4ed1">
            <a:extLst>
              <a:ext uri="{96DAC541-7B7A-43D3-8B79-37D633B846F1}">
                <asvg:svgBlip xmlns:asvg="http://schemas.microsoft.com/office/drawing/2016/SVG/main" r:embed="Ra0c033bc86d44fa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28700" y="52768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20" name="stack-4-box">
            <a:extLst xmlns:a="http://schemas.openxmlformats.org/drawingml/2006/main">
              <a:ext uri="{FF2B5EF4-FFF2-40B4-BE49-F238E27FC236}">
                <a16:creationId xmlns:a16="http://schemas.microsoft.com/office/drawing/2014/main" id="{BC127AA1-AFF3-45F5-87B5-7D7030AB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625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7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21" name="stack-4-label">
            <a:extLst xmlns:a="http://schemas.openxmlformats.org/drawingml/2006/main">
              <a:ext uri="{FF2B5EF4-FFF2-40B4-BE49-F238E27FC236}">
                <a16:creationId xmlns:a16="http://schemas.microsoft.com/office/drawing/2014/main" id="{79C05227-6278-4D8B-AF51-EC72B719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76850"/>
            <a:ext cx="7505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Exports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JSON-LD provenance and Dolt snapshots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C35FB0-A139-451E-B6B0-248EEA27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47650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5D6470"/>
                </a:solidFill>
                <a:latin typeface="Aptos"/>
                <a:ea typeface="Aptos"/>
                <a:cs typeface="Aptos"/>
              </a:rPr>
              <a:t>Auth roles: viewer / editor / admin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3CFE60-5702-4612-9A3D-1C3B5048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33850"/>
            <a:ext cx="1524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The durable core is the graph spine, not commodity storage plumbing.</a:t>
            </a:r>
          </a:p>
        </p:txBody>
      </p:sp>
    </p:spTree>
    <p:extLst>
      <p:ext uri="{BB962C8B-B14F-4D97-AF65-F5344CB8AC3E}">
        <p14:creationId xmlns:p14="http://schemas.microsoft.com/office/powerpoint/2010/main" val="23364619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C597A5-1E92-44DA-9A0A-C6AA52E8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0CF414B-8447-47D8-AB25-67D9F500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87E2ABC-5F71-4799-8985-7ADC07A2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DEMO PATH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84AE8779-A7F2-4AF2-B7ED-6327923B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The demo should prove inspectability in under five minutes.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E97C3301-A70D-4FBA-978F-5B78628A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extracted app screenshot; docs/research-group-presentation.md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CEE0E46D-5FBE-4412-BF64-EE1777FD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B2F77251-1077-49E2-B78D-48FA0E2C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601980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4C8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eeb28ef3a2484a"/>
          <a:stretch xmlns:a="http://schemas.openxmlformats.org/drawingml/2006/main"/>
        </p:blipFill>
        <p:spPr>
          <a:xfrm xmlns:a="http://schemas.openxmlformats.org/drawingml/2006/main">
            <a:off x="780317" y="2190750"/>
            <a:ext cx="5754565" cy="3333750"/>
          </a:xfrm>
          <a:prstGeom xmlns:a="http://schemas.openxmlformats.org/drawingml/2006/main" prst="rect">
            <a:avLst/>
          </a:prstGeom>
        </p:spPr>
      </p:pic>
      <p:sp>
        <p:nvSpPr>
          <p:cNvPr id="9" name="demo-step-0-box">
            <a:extLst xmlns:a="http://schemas.openxmlformats.org/drawingml/2006/main">
              <a:ext uri="{FF2B5EF4-FFF2-40B4-BE49-F238E27FC236}">
                <a16:creationId xmlns:a16="http://schemas.microsoft.com/office/drawing/2014/main" id="{2CF93397-4C4C-46D9-BA3D-6F19964F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2410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0" name="demo-step-0-label">
            <a:extLst xmlns:a="http://schemas.openxmlformats.org/drawingml/2006/main">
              <a:ext uri="{FF2B5EF4-FFF2-40B4-BE49-F238E27FC236}">
                <a16:creationId xmlns:a16="http://schemas.microsoft.com/office/drawing/2014/main" id="{A8D0687A-2B27-4052-80C8-24FD2E57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38400"/>
            <a:ext cx="3028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1. Dashboard counts</a:t>
            </a:r>
          </a:p>
        </p:txBody>
      </p:sp>
      <p:sp>
        <p:nvSpPr>
          <p:cNvPr id="11" name="demo-step-1-box">
            <a:extLst xmlns:a="http://schemas.openxmlformats.org/drawingml/2006/main">
              <a:ext uri="{FF2B5EF4-FFF2-40B4-BE49-F238E27FC236}">
                <a16:creationId xmlns:a16="http://schemas.microsoft.com/office/drawing/2014/main" id="{5DE3F717-554E-48E5-B528-0C74D605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1051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2EE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2" name="demo-step-1-label">
            <a:extLst xmlns:a="http://schemas.openxmlformats.org/drawingml/2006/main">
              <a:ext uri="{FF2B5EF4-FFF2-40B4-BE49-F238E27FC236}">
                <a16:creationId xmlns:a16="http://schemas.microsoft.com/office/drawing/2014/main" id="{9DC21950-1677-4A37-AF48-59C1DADB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19450"/>
            <a:ext cx="3028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2. Question hierarchy</a:t>
            </a:r>
          </a:p>
        </p:txBody>
      </p:sp>
      <p:sp>
        <p:nvSpPr>
          <p:cNvPr id="13" name="demo-step-2-box">
            <a:extLst xmlns:a="http://schemas.openxmlformats.org/drawingml/2006/main">
              <a:ext uri="{FF2B5EF4-FFF2-40B4-BE49-F238E27FC236}">
                <a16:creationId xmlns:a16="http://schemas.microsoft.com/office/drawing/2014/main" id="{228865A1-60E8-4C57-8E53-67D34F23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88620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4" name="demo-step-2-label">
            <a:extLst xmlns:a="http://schemas.openxmlformats.org/drawingml/2006/main">
              <a:ext uri="{FF2B5EF4-FFF2-40B4-BE49-F238E27FC236}">
                <a16:creationId xmlns:a16="http://schemas.microsoft.com/office/drawing/2014/main" id="{CB1A863D-C3E3-4CBE-97AC-5D13242B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00500"/>
            <a:ext cx="3028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3. Trace a figure</a:t>
            </a:r>
          </a:p>
        </p:txBody>
      </p:sp>
      <p:sp>
        <p:nvSpPr>
          <p:cNvPr id="15" name="demo-step-3-box">
            <a:extLst xmlns:a="http://schemas.openxmlformats.org/drawingml/2006/main">
              <a:ext uri="{FF2B5EF4-FFF2-40B4-BE49-F238E27FC236}">
                <a16:creationId xmlns:a16="http://schemas.microsoft.com/office/drawing/2014/main" id="{C67373B8-3E43-4327-BE90-381B56EC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6672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6" name="demo-step-3-label">
            <a:extLst xmlns:a="http://schemas.openxmlformats.org/drawingml/2006/main">
              <a:ext uri="{FF2B5EF4-FFF2-40B4-BE49-F238E27FC236}">
                <a16:creationId xmlns:a16="http://schemas.microsoft.com/office/drawing/2014/main" id="{8975E027-9E7E-43CD-9412-6CE23A9F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81550"/>
            <a:ext cx="3028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4. Capture + 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853B93-8F8C-4968-8CDD-5D282597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62600"/>
            <a:ext cx="342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470"/>
                </a:solidFill>
                <a:latin typeface="Aptos"/>
                <a:ea typeface="Aptos"/>
                <a:cs typeface="Aptos"/>
              </a:rPr>
              <a:t>Fallback: use screenshots and skip live capture if timing gets tight.</a:t>
            </a:r>
          </a:p>
        </p:txBody>
      </p:sp>
    </p:spTree>
    <p:extLst>
      <p:ext uri="{BB962C8B-B14F-4D97-AF65-F5344CB8AC3E}">
        <p14:creationId xmlns:p14="http://schemas.microsoft.com/office/powerpoint/2010/main" val="123015829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ADFB5F-9547-4A75-BA52-02C93A49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96474C6-B708-409A-9783-A3EA3259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F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0D91C7E-004F-4A92-88D6-9A1C0654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9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59F00"/>
                </a:solidFill>
                <a:latin typeface="Aptos"/>
                <a:ea typeface="Aptos"/>
                <a:cs typeface="Aptos"/>
              </a:rPr>
              <a:t>V1 BOUNDARY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EAC6B7D2-A922-451B-8EC6-4552AD54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Ship the durable core first; layer automation later.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ED22C616-12B5-4503-9713-82751AFC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docs/retained-v1-surface.md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A3CB91F5-0860-4EAA-9EAB-976BFB72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retained-header-box">
            <a:extLst xmlns:a="http://schemas.openxmlformats.org/drawingml/2006/main">
              <a:ext uri="{FF2B5EF4-FFF2-40B4-BE49-F238E27FC236}">
                <a16:creationId xmlns:a16="http://schemas.microsoft.com/office/drawing/2014/main" id="{D35CA77C-5CAB-4729-A509-6FF0A48E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4191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2EE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8" name="retained-header-label">
            <a:extLst xmlns:a="http://schemas.openxmlformats.org/drawingml/2006/main">
              <a:ext uri="{FF2B5EF4-FFF2-40B4-BE49-F238E27FC236}">
                <a16:creationId xmlns:a16="http://schemas.microsoft.com/office/drawing/2014/main" id="{12EAA55E-40AE-45DA-85E9-D74CED16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388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Retained v1</a:t>
            </a:r>
          </a:p>
        </p:txBody>
      </p:sp>
      <p:sp>
        <p:nvSpPr>
          <p:cNvPr id="9" name="chip">
            <a:extLst xmlns:a="http://schemas.openxmlformats.org/drawingml/2006/main">
              <a:ext uri="{FF2B5EF4-FFF2-40B4-BE49-F238E27FC236}">
                <a16:creationId xmlns:a16="http://schemas.microsoft.com/office/drawing/2014/main" id="{52F8E944-F44B-4DCE-BC9F-23C13D51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813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0" name="chip-text">
            <a:extLst xmlns:a="http://schemas.openxmlformats.org/drawingml/2006/main">
              <a:ext uri="{FF2B5EF4-FFF2-40B4-BE49-F238E27FC236}">
                <a16:creationId xmlns:a16="http://schemas.microsoft.com/office/drawing/2014/main" id="{AB42BC6C-7BB2-4C94-9D3A-DE8353CA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0"/>
            <a:ext cx="3486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11" name="chip">
            <a:extLst xmlns:a="http://schemas.openxmlformats.org/drawingml/2006/main">
              <a:ext uri="{FF2B5EF4-FFF2-40B4-BE49-F238E27FC236}">
                <a16:creationId xmlns:a16="http://schemas.microsoft.com/office/drawing/2014/main" id="{7EA4909F-840E-448B-AC74-5065C627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385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2" name="chip-text">
            <a:extLst xmlns:a="http://schemas.openxmlformats.org/drawingml/2006/main">
              <a:ext uri="{FF2B5EF4-FFF2-40B4-BE49-F238E27FC236}">
                <a16:creationId xmlns:a16="http://schemas.microsoft.com/office/drawing/2014/main" id="{D0B08B70-751D-4B54-ABF0-5AE69349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95700"/>
            <a:ext cx="3486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manual notes</a:t>
            </a:r>
          </a:p>
        </p:txBody>
      </p:sp>
      <p:sp>
        <p:nvSpPr>
          <p:cNvPr id="13" name="chip">
            <a:extLst xmlns:a="http://schemas.openxmlformats.org/drawingml/2006/main">
              <a:ext uri="{FF2B5EF4-FFF2-40B4-BE49-F238E27FC236}">
                <a16:creationId xmlns:a16="http://schemas.microsoft.com/office/drawing/2014/main" id="{6FC25A66-7834-48AB-B919-CC3459A1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4" name="chip-text">
            <a:extLst xmlns:a="http://schemas.openxmlformats.org/drawingml/2006/main">
              <a:ext uri="{FF2B5EF4-FFF2-40B4-BE49-F238E27FC236}">
                <a16:creationId xmlns:a16="http://schemas.microsoft.com/office/drawing/2014/main" id="{7E53F406-66BA-4A11-8D64-DA4206FA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52900"/>
            <a:ext cx="3486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sessions + datasets</a:t>
            </a:r>
          </a:p>
        </p:txBody>
      </p:sp>
      <p:sp>
        <p:nvSpPr>
          <p:cNvPr id="15" name="chip">
            <a:extLst xmlns:a="http://schemas.openxmlformats.org/drawingml/2006/main">
              <a:ext uri="{FF2B5EF4-FFF2-40B4-BE49-F238E27FC236}">
                <a16:creationId xmlns:a16="http://schemas.microsoft.com/office/drawing/2014/main" id="{ADABA075-9011-48F7-BE07-ADBB4218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529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6" name="chip-text">
            <a:extLst xmlns:a="http://schemas.openxmlformats.org/drawingml/2006/main">
              <a:ext uri="{FF2B5EF4-FFF2-40B4-BE49-F238E27FC236}">
                <a16:creationId xmlns:a16="http://schemas.microsoft.com/office/drawing/2014/main" id="{94AD5C23-0C35-4536-A1B0-9A13B574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10100"/>
            <a:ext cx="3486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analysis / claim / visualization</a:t>
            </a:r>
          </a:p>
        </p:txBody>
      </p:sp>
      <p:sp>
        <p:nvSpPr>
          <p:cNvPr id="17" name="chip">
            <a:extLst xmlns:a="http://schemas.openxmlformats.org/drawingml/2006/main">
              <a:ext uri="{FF2B5EF4-FFF2-40B4-BE49-F238E27FC236}">
                <a16:creationId xmlns:a16="http://schemas.microsoft.com/office/drawing/2014/main" id="{B841FF9E-F51D-4D7F-9FD5-C61885D5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101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8" name="chip-text">
            <a:extLst xmlns:a="http://schemas.openxmlformats.org/drawingml/2006/main">
              <a:ext uri="{FF2B5EF4-FFF2-40B4-BE49-F238E27FC236}">
                <a16:creationId xmlns:a16="http://schemas.microsoft.com/office/drawing/2014/main" id="{CF0C25B3-CDE1-482A-BCD3-D1283FA9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67300"/>
            <a:ext cx="3486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human-gated graph drafts</a:t>
            </a:r>
          </a:p>
        </p:txBody>
      </p:sp>
      <p:sp>
        <p:nvSpPr>
          <p:cNvPr id="19" name="deferred-header-box">
            <a:extLst xmlns:a="http://schemas.openxmlformats.org/drawingml/2006/main">
              <a:ext uri="{FF2B5EF4-FFF2-40B4-BE49-F238E27FC236}">
                <a16:creationId xmlns:a16="http://schemas.microsoft.com/office/drawing/2014/main" id="{7B05E81F-2872-43DB-B6E9-6C00B3B6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324100"/>
            <a:ext cx="4191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C2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20" name="deferred-header-label">
            <a:extLst xmlns:a="http://schemas.openxmlformats.org/drawingml/2006/main">
              <a:ext uri="{FF2B5EF4-FFF2-40B4-BE49-F238E27FC236}">
                <a16:creationId xmlns:a16="http://schemas.microsoft.com/office/drawing/2014/main" id="{8B617A64-8508-45F1-8017-F832DC4F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38400"/>
            <a:ext cx="388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8A5A0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A5A00"/>
                </a:solidFill>
                <a:latin typeface="Aptos"/>
                <a:ea typeface="Aptos"/>
                <a:cs typeface="Aptos"/>
              </a:rPr>
              <a:t>Deferred</a:t>
            </a:r>
          </a:p>
        </p:txBody>
      </p:sp>
      <p:sp>
        <p:nvSpPr>
          <p:cNvPr id="21" name="chip">
            <a:extLst xmlns:a="http://schemas.openxmlformats.org/drawingml/2006/main">
              <a:ext uri="{FF2B5EF4-FFF2-40B4-BE49-F238E27FC236}">
                <a16:creationId xmlns:a16="http://schemas.microsoft.com/office/drawing/2014/main" id="{7605FCDD-31AB-4114-8831-684AE527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813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22" name="chip-text">
            <a:extLst xmlns:a="http://schemas.openxmlformats.org/drawingml/2006/main">
              <a:ext uri="{FF2B5EF4-FFF2-40B4-BE49-F238E27FC236}">
                <a16:creationId xmlns:a16="http://schemas.microsoft.com/office/drawing/2014/main" id="{6677A758-9905-4D5A-8637-6EEE03E4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38500"/>
            <a:ext cx="3486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A5A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5A00"/>
                </a:solidFill>
                <a:latin typeface="Aptos"/>
                <a:ea typeface="Aptos"/>
                <a:cs typeface="Aptos"/>
              </a:rPr>
              <a:t>OCR on uploads</a:t>
            </a:r>
          </a:p>
        </p:txBody>
      </p:sp>
      <p:sp>
        <p:nvSpPr>
          <p:cNvPr id="23" name="chip">
            <a:extLst xmlns:a="http://schemas.openxmlformats.org/drawingml/2006/main">
              <a:ext uri="{FF2B5EF4-FFF2-40B4-BE49-F238E27FC236}">
                <a16:creationId xmlns:a16="http://schemas.microsoft.com/office/drawing/2014/main" id="{0E36EF4D-D0EE-49C4-B89A-CED90BFB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385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24" name="chip-text">
            <a:extLst xmlns:a="http://schemas.openxmlformats.org/drawingml/2006/main">
              <a:ext uri="{FF2B5EF4-FFF2-40B4-BE49-F238E27FC236}">
                <a16:creationId xmlns:a16="http://schemas.microsoft.com/office/drawing/2014/main" id="{2D257910-C183-4892-A6C7-BA1CAEA3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95700"/>
            <a:ext cx="3486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A5A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5A00"/>
                </a:solidFill>
                <a:latin typeface="Aptos"/>
                <a:ea typeface="Aptos"/>
                <a:cs typeface="Aptos"/>
              </a:rPr>
              <a:t>automatic question extraction</a:t>
            </a:r>
          </a:p>
        </p:txBody>
      </p:sp>
      <p:sp>
        <p:nvSpPr>
          <p:cNvPr id="25" name="chip">
            <a:extLst xmlns:a="http://schemas.openxmlformats.org/drawingml/2006/main">
              <a:ext uri="{FF2B5EF4-FFF2-40B4-BE49-F238E27FC236}">
                <a16:creationId xmlns:a16="http://schemas.microsoft.com/office/drawing/2014/main" id="{46420249-A139-4646-9EDD-2A46E6C8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0957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26" name="chip-text">
            <a:extLst xmlns:a="http://schemas.openxmlformats.org/drawingml/2006/main">
              <a:ext uri="{FF2B5EF4-FFF2-40B4-BE49-F238E27FC236}">
                <a16:creationId xmlns:a16="http://schemas.microsoft.com/office/drawing/2014/main" id="{A1E04A99-B227-4C7D-B83D-CE8A5C4C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52900"/>
            <a:ext cx="3486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A5A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5A00"/>
                </a:solidFill>
                <a:latin typeface="Aptos"/>
                <a:ea typeface="Aptos"/>
                <a:cs typeface="Aptos"/>
              </a:rPr>
              <a:t>entity/tag suggestions</a:t>
            </a:r>
          </a:p>
        </p:txBody>
      </p:sp>
      <p:sp>
        <p:nvSpPr>
          <p:cNvPr id="27" name="chip">
            <a:extLst xmlns:a="http://schemas.openxmlformats.org/drawingml/2006/main">
              <a:ext uri="{FF2B5EF4-FFF2-40B4-BE49-F238E27FC236}">
                <a16:creationId xmlns:a16="http://schemas.microsoft.com/office/drawing/2014/main" id="{C09B9C26-67A8-40E4-A0BE-E5F18E75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5529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28" name="chip-text">
            <a:extLst xmlns:a="http://schemas.openxmlformats.org/drawingml/2006/main">
              <a:ext uri="{FF2B5EF4-FFF2-40B4-BE49-F238E27FC236}">
                <a16:creationId xmlns:a16="http://schemas.microsoft.com/office/drawing/2014/main" id="{B5C216B2-8B90-4401-BF2F-47FAA396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10100"/>
            <a:ext cx="3486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A5A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5A00"/>
                </a:solidFill>
                <a:latin typeface="Aptos"/>
                <a:ea typeface="Aptos"/>
                <a:cs typeface="Aptos"/>
              </a:rPr>
              <a:t>semantic/vector search</a:t>
            </a:r>
          </a:p>
        </p:txBody>
      </p:sp>
      <p:sp>
        <p:nvSpPr>
          <p:cNvPr id="29" name="chip">
            <a:extLst xmlns:a="http://schemas.openxmlformats.org/drawingml/2006/main">
              <a:ext uri="{FF2B5EF4-FFF2-40B4-BE49-F238E27FC236}">
                <a16:creationId xmlns:a16="http://schemas.microsoft.com/office/drawing/2014/main" id="{84004209-995B-4056-BA30-90B27F28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010150"/>
            <a:ext cx="3676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F00"/>
            </a:solidFill>
            <a:prstDash val="solid"/>
          </a:ln>
        </p:spPr>
      </p:sp>
      <p:sp>
        <p:nvSpPr>
          <p:cNvPr id="30" name="chip-text">
            <a:extLst xmlns:a="http://schemas.openxmlformats.org/drawingml/2006/main">
              <a:ext uri="{FF2B5EF4-FFF2-40B4-BE49-F238E27FC236}">
                <a16:creationId xmlns:a16="http://schemas.microsoft.com/office/drawing/2014/main" id="{2221D35A-04AE-4C2A-B1EB-1CFE8951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067300"/>
            <a:ext cx="3486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8A5A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A5A00"/>
                </a:solidFill>
                <a:latin typeface="Aptos"/>
                <a:ea typeface="Aptos"/>
                <a:cs typeface="Aptos"/>
              </a:rPr>
              <a:t>PI review gates</a:t>
            </a:r>
          </a:p>
        </p:txBody>
      </p:sp>
      <p:sp>
        <p:nvSpPr>
          <p:cNvPr id="31" name="rule">
            <a:extLst xmlns:a="http://schemas.openxmlformats.org/drawingml/2006/main">
              <a:ext uri="{FF2B5EF4-FFF2-40B4-BE49-F238E27FC236}">
                <a16:creationId xmlns:a16="http://schemas.microsoft.com/office/drawing/2014/main" id="{B4360F31-22FB-46F8-BECF-8C03FBD1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190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2A12BA-C49E-49E9-9190-408A6458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92455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Default runtime centers retained workflows only.</a:t>
            </a:r>
          </a:p>
        </p:txBody>
      </p:sp>
    </p:spTree>
    <p:extLst>
      <p:ext uri="{BB962C8B-B14F-4D97-AF65-F5344CB8AC3E}">
        <p14:creationId xmlns:p14="http://schemas.microsoft.com/office/powerpoint/2010/main" val="204853900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62F6FB-8B3F-4DE9-94A5-B677A21B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7AFE494-3CF7-46B8-B004-FE8B1FA0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0BD0716-7170-4954-B6E5-F87584A3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TRY IT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63CAD3AA-FDFE-4FD2-BD23-D40BE2FB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0">
                <a:solidFill>
                  <a:srgbClr val="111418"/>
                </a:solidFill>
                <a:latin typeface="Aptos Display"/>
                <a:ea typeface="Aptos Display"/>
                <a:cs typeface="Aptos Display"/>
              </a:rPr>
              <a:t>The concrete ask: pick one active project and log its questions.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10987782-96B3-4B01-B6A7-4937C1B1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Source: docs/research-group-presentation.md; README.md quickstart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1148B7C2-6C02-41D3-9223-CE3F09D7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A909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A9099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pilot-number-0">
            <a:extLst xmlns:a="http://schemas.openxmlformats.org/drawingml/2006/main">
              <a:ext uri="{FF2B5EF4-FFF2-40B4-BE49-F238E27FC236}">
                <a16:creationId xmlns:a16="http://schemas.microsoft.com/office/drawing/2014/main" id="{F1531A5A-0A22-4037-9799-C7D845B8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81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9BE977-FAF8-4E55-963A-FCBCE3E3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514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pilot-step-0-box">
            <a:extLst xmlns:a="http://schemas.openxmlformats.org/drawingml/2006/main">
              <a:ext uri="{FF2B5EF4-FFF2-40B4-BE49-F238E27FC236}">
                <a16:creationId xmlns:a16="http://schemas.microsoft.com/office/drawing/2014/main" id="{4D2FCC91-2674-4CCF-8BC9-2F424058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0" name="pilot-step-0-label">
            <a:extLst xmlns:a="http://schemas.openxmlformats.org/drawingml/2006/main">
              <a:ext uri="{FF2B5EF4-FFF2-40B4-BE49-F238E27FC236}">
                <a16:creationId xmlns:a16="http://schemas.microsoft.com/office/drawing/2014/main" id="{DB311C9C-B9C1-4EB1-A195-CAB008D4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52800"/>
            <a:ext cx="20764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Choose one project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Active, not perfect</a:t>
            </a:r>
          </a:p>
        </p:txBody>
      </p:sp>
      <p:sp>
        <p:nvSpPr>
          <p:cNvPr id="11" name="rule">
            <a:extLst xmlns:a="http://schemas.openxmlformats.org/drawingml/2006/main">
              <a:ext uri="{FF2B5EF4-FFF2-40B4-BE49-F238E27FC236}">
                <a16:creationId xmlns:a16="http://schemas.microsoft.com/office/drawing/2014/main" id="{0676035B-3EAE-48DE-A479-C5CE4510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338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2b40585fb046af">
            <a:extLst>
              <a:ext uri="{96DAC541-7B7A-43D3-8B79-37D633B846F1}">
                <asvg:svgBlip xmlns:asvg="http://schemas.microsoft.com/office/drawing/2016/SVG/main" r:embed="R8d4b4e6654c4475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371850" y="36004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3" name="pilot-number-1">
            <a:extLst xmlns:a="http://schemas.openxmlformats.org/drawingml/2006/main">
              <a:ext uri="{FF2B5EF4-FFF2-40B4-BE49-F238E27FC236}">
                <a16:creationId xmlns:a16="http://schemas.microsoft.com/office/drawing/2014/main" id="{BB68D6D4-3063-454F-9A97-154E32FE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81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6DDBE-3F91-4A29-873C-5E9D3371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6500"/>
            <a:ext cx="514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pilot-step-1-box">
            <a:extLst xmlns:a="http://schemas.openxmlformats.org/drawingml/2006/main">
              <a:ext uri="{FF2B5EF4-FFF2-40B4-BE49-F238E27FC236}">
                <a16:creationId xmlns:a16="http://schemas.microsoft.com/office/drawing/2014/main" id="{53E00EE7-BA3E-485E-9125-2D8B8B9D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385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16" name="pilot-step-1-label">
            <a:extLst xmlns:a="http://schemas.openxmlformats.org/drawingml/2006/main">
              <a:ext uri="{FF2B5EF4-FFF2-40B4-BE49-F238E27FC236}">
                <a16:creationId xmlns:a16="http://schemas.microsoft.com/office/drawing/2014/main" id="{7ABF35C3-E17F-4D3F-BA7F-35FA1184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52800"/>
            <a:ext cx="20764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Stage the question map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Broad -&gt; atomic</a:t>
            </a:r>
          </a:p>
        </p:txBody>
      </p:sp>
      <p:sp>
        <p:nvSpPr>
          <p:cNvPr id="17" name="rule">
            <a:extLst xmlns:a="http://schemas.openxmlformats.org/drawingml/2006/main">
              <a:ext uri="{FF2B5EF4-FFF2-40B4-BE49-F238E27FC236}">
                <a16:creationId xmlns:a16="http://schemas.microsoft.com/office/drawing/2014/main" id="{1FD864C1-A190-4F69-8933-CF83DE7F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338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4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85ecc8f94a4698">
            <a:extLst>
              <a:ext uri="{96DAC541-7B7A-43D3-8B79-37D633B846F1}">
                <asvg:svgBlip xmlns:asvg="http://schemas.microsoft.com/office/drawing/2016/SVG/main" r:embed="R3d0cbb03e4244c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934200" y="36004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9" name="pilot-number-2">
            <a:extLst xmlns:a="http://schemas.openxmlformats.org/drawingml/2006/main">
              <a:ext uri="{FF2B5EF4-FFF2-40B4-BE49-F238E27FC236}">
                <a16:creationId xmlns:a16="http://schemas.microsoft.com/office/drawing/2014/main" id="{3708697B-51D7-4B02-A933-1347F28B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8F7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BED802-10A7-4A1E-AF42-0D77F190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76500"/>
            <a:ext cx="514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pilot-step-2-box">
            <a:extLst xmlns:a="http://schemas.openxmlformats.org/drawingml/2006/main">
              <a:ext uri="{FF2B5EF4-FFF2-40B4-BE49-F238E27FC236}">
                <a16:creationId xmlns:a16="http://schemas.microsoft.com/office/drawing/2014/main" id="{9B66E2AB-D335-45A2-9BBC-82D6C4CF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2385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22" name="pilot-step-2-label">
            <a:extLst xmlns:a="http://schemas.openxmlformats.org/drawingml/2006/main">
              <a:ext uri="{FF2B5EF4-FFF2-40B4-BE49-F238E27FC236}">
                <a16:creationId xmlns:a16="http://schemas.microsoft.com/office/drawing/2014/main" id="{BDBB038A-AF1D-40BA-8747-2D71C9B4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52800"/>
            <a:ext cx="20764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Attach one real result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114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418"/>
                </a:solidFill>
                <a:latin typeface="Aptos"/>
                <a:ea typeface="Aptos"/>
                <a:cs typeface="Aptos"/>
              </a:rPr>
              <a:t>Dataset, claim, figure</a:t>
            </a:r>
          </a:p>
        </p:txBody>
      </p:sp>
      <p:sp>
        <p:nvSpPr>
          <p:cNvPr id="23" name="success-criterion-box">
            <a:extLst xmlns:a="http://schemas.openxmlformats.org/drawingml/2006/main">
              <a:ext uri="{FF2B5EF4-FFF2-40B4-BE49-F238E27FC236}">
                <a16:creationId xmlns:a16="http://schemas.microsoft.com/office/drawing/2014/main" id="{9AE9015A-AE72-4553-A743-E583D785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14950"/>
            <a:ext cx="731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2EE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24" name="success-criterion-label">
            <a:extLst xmlns:a="http://schemas.openxmlformats.org/drawingml/2006/main">
              <a:ext uri="{FF2B5EF4-FFF2-40B4-BE49-F238E27FC236}">
                <a16:creationId xmlns:a16="http://schemas.microsoft.com/office/drawing/2014/main" id="{0E64DDC1-E9B8-4AFA-8DB9-4E5D2355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429250"/>
            <a:ext cx="7010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Success: a new person can explain what a plot was for.</a:t>
            </a:r>
          </a:p>
        </p:txBody>
      </p:sp>
    </p:spTree>
    <p:extLst>
      <p:ext uri="{BB962C8B-B14F-4D97-AF65-F5344CB8AC3E}">
        <p14:creationId xmlns:p14="http://schemas.microsoft.com/office/powerpoint/2010/main" val="80854605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09D8DD-BCA4-47B6-821F-390AD3F3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4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ADC9E9E-AA2A-4C7C-A39E-0382F697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5B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460507E3-25F3-4132-B85C-84DCC374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B5B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B5BDB"/>
                </a:solidFill>
                <a:latin typeface="Aptos"/>
                <a:ea typeface="Aptos"/>
                <a:cs typeface="Aptos"/>
              </a:rPr>
              <a:t>DISCUSSION</a:t>
            </a:r>
          </a:p>
        </p:txBody>
      </p:sp>
      <p:sp>
        <p:nvSpPr>
          <p:cNvPr id="4" name="claim-title">
            <a:extLst xmlns:a="http://schemas.openxmlformats.org/drawingml/2006/main">
              <a:ext uri="{FF2B5EF4-FFF2-40B4-BE49-F238E27FC236}">
                <a16:creationId xmlns:a16="http://schemas.microsoft.com/office/drawing/2014/main" id="{AA58BA2C-2524-45BC-9384-F9E73531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95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useful questions are about pilot fit and capture friction.</a:t>
            </a:r>
          </a:p>
        </p:txBody>
      </p:sp>
      <p:sp>
        <p:nvSpPr>
          <p:cNvPr id="5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E71EF10-163B-44B8-9949-414441AC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6" name="page-marker">
            <a:extLst xmlns:a="http://schemas.openxmlformats.org/drawingml/2006/main">
              <a:ext uri="{FF2B5EF4-FFF2-40B4-BE49-F238E27FC236}">
                <a16:creationId xmlns:a16="http://schemas.microsoft.com/office/drawing/2014/main" id="{010E3134-B27E-48C4-A9AF-4FB6A61F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D8DEE9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7" name="prompt-0-box">
            <a:extLst xmlns:a="http://schemas.openxmlformats.org/drawingml/2006/main">
              <a:ext uri="{FF2B5EF4-FFF2-40B4-BE49-F238E27FC236}">
                <a16:creationId xmlns:a16="http://schemas.microsoft.com/office/drawing/2014/main" id="{231CCF9B-38BE-40C2-9CEA-E114062E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495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630"/>
          </a:solidFill>
          <a:ln xmlns:a="http://schemas.openxmlformats.org/drawingml/2006/main" w="9525">
            <a:solidFill>
              <a:srgbClr val="0E8F7E"/>
            </a:solidFill>
            <a:prstDash val="solid"/>
          </a:ln>
        </p:spPr>
      </p:sp>
      <p:sp>
        <p:nvSpPr>
          <p:cNvPr id="8" name="prompt-0-label">
            <a:extLst xmlns:a="http://schemas.openxmlformats.org/drawingml/2006/main">
              <a:ext uri="{FF2B5EF4-FFF2-40B4-BE49-F238E27FC236}">
                <a16:creationId xmlns:a16="http://schemas.microsoft.com/office/drawing/2014/main" id="{9FC05602-933F-46CA-9D3B-6412D32A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648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Which project should pilot first?</a:t>
            </a:r>
          </a:p>
        </p:txBody>
      </p:sp>
      <p:sp>
        <p:nvSpPr>
          <p:cNvPr id="9" name="prompt-1-box">
            <a:extLst xmlns:a="http://schemas.openxmlformats.org/drawingml/2006/main">
              <a:ext uri="{FF2B5EF4-FFF2-40B4-BE49-F238E27FC236}">
                <a16:creationId xmlns:a16="http://schemas.microsoft.com/office/drawing/2014/main" id="{662B4FE4-84E5-438A-9D8D-72AC6A2A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495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630"/>
          </a:solidFill>
          <a:ln xmlns:a="http://schemas.openxmlformats.org/drawingml/2006/main" w="9525">
            <a:solidFill>
              <a:srgbClr val="3B5BDB"/>
            </a:solidFill>
            <a:prstDash val="solid"/>
          </a:ln>
        </p:spPr>
      </p:sp>
      <p:sp>
        <p:nvSpPr>
          <p:cNvPr id="10" name="prompt-1-label">
            <a:extLst xmlns:a="http://schemas.openxmlformats.org/drawingml/2006/main">
              <a:ext uri="{FF2B5EF4-FFF2-40B4-BE49-F238E27FC236}">
                <a16:creationId xmlns:a16="http://schemas.microsoft.com/office/drawing/2014/main" id="{0C30375B-816F-4F9C-A8F8-B021CEF9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4648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capture friction would block adoption?</a:t>
            </a:r>
          </a:p>
        </p:txBody>
      </p:sp>
      <p:sp>
        <p:nvSpPr>
          <p:cNvPr id="11" name="prompt-2-box">
            <a:extLst xmlns:a="http://schemas.openxmlformats.org/drawingml/2006/main">
              <a:ext uri="{FF2B5EF4-FFF2-40B4-BE49-F238E27FC236}">
                <a16:creationId xmlns:a16="http://schemas.microsoft.com/office/drawing/2014/main" id="{D09DE9AB-D393-427C-BE94-916CD914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81450"/>
            <a:ext cx="495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630"/>
          </a:solidFill>
          <a:ln xmlns:a="http://schemas.openxmlformats.org/drawingml/2006/main" w="9525">
            <a:solidFill>
              <a:srgbClr val="3B5BDB"/>
            </a:solidFill>
            <a:prstDash val="solid"/>
          </a:ln>
        </p:spPr>
      </p:sp>
      <p:sp>
        <p:nvSpPr>
          <p:cNvPr id="12" name="prompt-2-label">
            <a:extLst xmlns:a="http://schemas.openxmlformats.org/drawingml/2006/main">
              <a:ext uri="{FF2B5EF4-FFF2-40B4-BE49-F238E27FC236}">
                <a16:creationId xmlns:a16="http://schemas.microsoft.com/office/drawing/2014/main" id="{86EE4F47-E77D-44AD-B04D-998CCA48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4648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context do AI users re-paste most?</a:t>
            </a:r>
          </a:p>
        </p:txBody>
      </p:sp>
      <p:sp>
        <p:nvSpPr>
          <p:cNvPr id="13" name="small-caps">
            <a:extLst xmlns:a="http://schemas.openxmlformats.org/drawingml/2006/main">
              <a:ext uri="{FF2B5EF4-FFF2-40B4-BE49-F238E27FC236}">
                <a16:creationId xmlns:a16="http://schemas.microsoft.com/office/drawing/2014/main" id="{4AE91BDD-0BEF-4F2A-98BF-DB0F7C3E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907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DEE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8DEE9"/>
                </a:solidFill>
                <a:latin typeface="Aptos"/>
                <a:ea typeface="Aptos"/>
                <a:cs typeface="Aptos"/>
              </a:rPr>
              <a:t>OBJECTION PREP</a:t>
            </a:r>
          </a:p>
        </p:txBody>
      </p:sp>
      <p:sp>
        <p:nvSpPr>
          <p:cNvPr id="14" name="objection-0-box">
            <a:extLst xmlns:a="http://schemas.openxmlformats.org/drawingml/2006/main">
              <a:ext uri="{FF2B5EF4-FFF2-40B4-BE49-F238E27FC236}">
                <a16:creationId xmlns:a16="http://schemas.microsoft.com/office/drawing/2014/main" id="{3F8CF33F-15DA-4B3A-B8A2-EE745062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3714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5"/>
          </a:solidFill>
          <a:ln xmlns:a="http://schemas.openxmlformats.org/drawingml/2006/main" w="9525">
            <a:solidFill>
              <a:srgbClr val="3C4656"/>
            </a:solidFill>
            <a:prstDash val="solid"/>
          </a:ln>
        </p:spPr>
      </p:sp>
      <p:sp>
        <p:nvSpPr>
          <p:cNvPr id="15" name="objection-0-label">
            <a:extLst xmlns:a="http://schemas.openxmlformats.org/drawingml/2006/main">
              <a:ext uri="{FF2B5EF4-FFF2-40B4-BE49-F238E27FC236}">
                <a16:creationId xmlns:a16="http://schemas.microsoft.com/office/drawing/2014/main" id="{F4045E28-C3F3-4576-8740-B0ED6B78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647950"/>
            <a:ext cx="3409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ELN/shared drive?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questions-first evidence graph</a:t>
            </a:r>
          </a:p>
        </p:txBody>
      </p:sp>
      <p:sp>
        <p:nvSpPr>
          <p:cNvPr id="16" name="objection-1-box">
            <a:extLst xmlns:a="http://schemas.openxmlformats.org/drawingml/2006/main">
              <a:ext uri="{FF2B5EF4-FFF2-40B4-BE49-F238E27FC236}">
                <a16:creationId xmlns:a16="http://schemas.microsoft.com/office/drawing/2014/main" id="{8AEDC33D-4142-4552-A0E3-D8B598FC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76600"/>
            <a:ext cx="3714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5"/>
          </a:solidFill>
          <a:ln xmlns:a="http://schemas.openxmlformats.org/drawingml/2006/main" w="9525">
            <a:solidFill>
              <a:srgbClr val="3C4656"/>
            </a:solidFill>
            <a:prstDash val="solid"/>
          </a:ln>
        </p:spPr>
      </p:sp>
      <p:sp>
        <p:nvSpPr>
          <p:cNvPr id="17" name="objection-1-label">
            <a:extLst xmlns:a="http://schemas.openxmlformats.org/drawingml/2006/main">
              <a:ext uri="{FF2B5EF4-FFF2-40B4-BE49-F238E27FC236}">
                <a16:creationId xmlns:a16="http://schemas.microsoft.com/office/drawing/2014/main" id="{D9A71675-41E4-4E60-B59C-F2350966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90900"/>
            <a:ext cx="3409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0C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0C2"/>
                </a:solidFill>
                <a:latin typeface="Aptos"/>
                <a:ea typeface="Aptos"/>
                <a:cs typeface="Aptos"/>
              </a:rPr>
              <a:t>Will it go stale?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0C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0C2"/>
                </a:solidFill>
                <a:latin typeface="Aptos"/>
                <a:ea typeface="Aptos"/>
                <a:cs typeface="Aptos"/>
              </a:rPr>
              <a:t>capture lowers upkeep</a:t>
            </a:r>
          </a:p>
        </p:txBody>
      </p:sp>
      <p:sp>
        <p:nvSpPr>
          <p:cNvPr id="18" name="objection-2-box">
            <a:extLst xmlns:a="http://schemas.openxmlformats.org/drawingml/2006/main">
              <a:ext uri="{FF2B5EF4-FFF2-40B4-BE49-F238E27FC236}">
                <a16:creationId xmlns:a16="http://schemas.microsoft.com/office/drawing/2014/main" id="{65A4C622-381F-4DE8-AC52-EE33D45B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19550"/>
            <a:ext cx="3714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5"/>
          </a:solidFill>
          <a:ln xmlns:a="http://schemas.openxmlformats.org/drawingml/2006/main" w="9525">
            <a:solidFill>
              <a:srgbClr val="3C4656"/>
            </a:solidFill>
            <a:prstDash val="solid"/>
          </a:ln>
        </p:spPr>
      </p:sp>
      <p:sp>
        <p:nvSpPr>
          <p:cNvPr id="19" name="objection-2-label">
            <a:extLst xmlns:a="http://schemas.openxmlformats.org/drawingml/2006/main">
              <a:ext uri="{FF2B5EF4-FFF2-40B4-BE49-F238E27FC236}">
                <a16:creationId xmlns:a16="http://schemas.microsoft.com/office/drawing/2014/main" id="{B51A3ECB-31DE-4C86-B4F2-D3F7D1E6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133850"/>
            <a:ext cx="3409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Do not trust AI?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human benefit is independent</a:t>
            </a:r>
          </a:p>
        </p:txBody>
      </p:sp>
      <p:sp>
        <p:nvSpPr>
          <p:cNvPr id="20" name="objection-3-box">
            <a:extLst xmlns:a="http://schemas.openxmlformats.org/drawingml/2006/main">
              <a:ext uri="{FF2B5EF4-FFF2-40B4-BE49-F238E27FC236}">
                <a16:creationId xmlns:a16="http://schemas.microsoft.com/office/drawing/2014/main" id="{7A72D4D2-210E-4AFE-8E74-59373260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62500"/>
            <a:ext cx="3714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5"/>
          </a:solidFill>
          <a:ln xmlns:a="http://schemas.openxmlformats.org/drawingml/2006/main" w="9525">
            <a:solidFill>
              <a:srgbClr val="3C4656"/>
            </a:solidFill>
            <a:prstDash val="solid"/>
          </a:ln>
        </p:spPr>
      </p:sp>
      <p:sp>
        <p:nvSpPr>
          <p:cNvPr id="21" name="objection-3-label">
            <a:extLst xmlns:a="http://schemas.openxmlformats.org/drawingml/2006/main">
              <a:ext uri="{FF2B5EF4-FFF2-40B4-BE49-F238E27FC236}">
                <a16:creationId xmlns:a16="http://schemas.microsoft.com/office/drawing/2014/main" id="{A5EE4262-A854-497B-8080-5F2D61AD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76800"/>
            <a:ext cx="3409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Where does data go?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configurable approved gateway</a:t>
            </a:r>
          </a:p>
        </p:txBody>
      </p:sp>
    </p:spTree>
    <p:extLst>
      <p:ext uri="{BB962C8B-B14F-4D97-AF65-F5344CB8AC3E}">
        <p14:creationId xmlns:p14="http://schemas.microsoft.com/office/powerpoint/2010/main" val="9283119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2026-06-04T18:08:54.2400000Z</dcterms:created>
  <dcterms:modified xsi:type="dcterms:W3CDTF">2026-06-04T18:08:54.2400000Z</dcterms:modified>
</coreProperties>
</file>