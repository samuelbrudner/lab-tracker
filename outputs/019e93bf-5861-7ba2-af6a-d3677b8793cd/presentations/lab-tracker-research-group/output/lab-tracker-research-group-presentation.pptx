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3cb7bb1aae2e4e84" Type="http://schemas.openxmlformats.org/officeDocument/2006/relationships/extended-properties" Target="docProps/app.xml"/><Relationship Id="R6cba1c99c503483a" Type="http://schemas.openxmlformats.org/officeDocument/2006/relationships/officeDocument" Target="ppt/presentation.xml"/><Relationship Id="Ra20ccf101fd9443d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43656184424a21"/>
  </p:sldMasterIdLst>
  <p:notesMasterIdLst>
    <p:notesMasterId xmlns:r="http://schemas.openxmlformats.org/officeDocument/2006/relationships" r:id="R926e5fd9f15e47a3"/>
  </p:notesMasterIdLst>
  <p:sldIdLst>
    <p:sldId xmlns:r="http://schemas.openxmlformats.org/officeDocument/2006/relationships" id="256" r:id="R373b2419744d4ee9"/>
    <p:sldId xmlns:r="http://schemas.openxmlformats.org/officeDocument/2006/relationships" id="257" r:id="R071ca45ef8a14b5b"/>
    <p:sldId xmlns:r="http://schemas.openxmlformats.org/officeDocument/2006/relationships" id="258" r:id="R6b6ed883f77348c7"/>
    <p:sldId xmlns:r="http://schemas.openxmlformats.org/officeDocument/2006/relationships" id="259" r:id="Rab29d1ba7ace4bfe"/>
    <p:sldId xmlns:r="http://schemas.openxmlformats.org/officeDocument/2006/relationships" id="260" r:id="Rfea347b9149c43cb"/>
    <p:sldId xmlns:r="http://schemas.openxmlformats.org/officeDocument/2006/relationships" id="261" r:id="Raaada9ffa0be4372"/>
    <p:sldId xmlns:r="http://schemas.openxmlformats.org/officeDocument/2006/relationships" id="262" r:id="R5d88ffe352214c8a"/>
    <p:sldId xmlns:r="http://schemas.openxmlformats.org/officeDocument/2006/relationships" id="263" r:id="R2426091b85c54057"/>
    <p:sldId xmlns:r="http://schemas.openxmlformats.org/officeDocument/2006/relationships" id="264" r:id="R74df5b431844446c"/>
    <p:sldId xmlns:r="http://schemas.openxmlformats.org/officeDocument/2006/relationships" id="265" r:id="R7e4db9c68f134c70"/>
    <p:sldId xmlns:r="http://schemas.openxmlformats.org/officeDocument/2006/relationships" id="266" r:id="R0ab062100e8742e5"/>
    <p:sldId xmlns:r="http://schemas.openxmlformats.org/officeDocument/2006/relationships" id="267" r:id="Re46291e872aa4b27"/>
    <p:sldId xmlns:r="http://schemas.openxmlformats.org/officeDocument/2006/relationships" id="269" r:id="Rd891956bd4df4dfd"/>
    <p:sldId xmlns:r="http://schemas.openxmlformats.org/officeDocument/2006/relationships" id="270" r:id="Ra3dcef098af44e1b"/>
    <p:sldId xmlns:r="http://schemas.openxmlformats.org/officeDocument/2006/relationships" id="272" r:id="R3caa659d082a40db"/>
    <p:sldId xmlns:r="http://schemas.openxmlformats.org/officeDocument/2006/relationships" id="273" r:id="R62a17a1b879646f8"/>
    <p:sldId xmlns:r="http://schemas.openxmlformats.org/officeDocument/2006/relationships" id="274" r:id="R047b4bc82ebb4b21"/>
    <p:sldId xmlns:r="http://schemas.openxmlformats.org/officeDocument/2006/relationships" id="275" r:id="Ra8435cbe8bf74ed2"/>
    <p:sldId xmlns:r="http://schemas.openxmlformats.org/officeDocument/2006/relationships" id="276" r:id="R0f37e94a20a1415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047b4bc82ebb4b21" Type="http://schemas.openxmlformats.org/officeDocument/2006/relationships/slide" Target="slides/slide19.xml"/><Relationship Id="R071ca45ef8a14b5b" Type="http://schemas.openxmlformats.org/officeDocument/2006/relationships/slide" Target="slides/slide2.xml"/><Relationship Id="R0ab062100e8742e5" Type="http://schemas.openxmlformats.org/officeDocument/2006/relationships/slide" Target="slides/slide11.xml"/><Relationship Id="R0f37e94a20a1415d" Type="http://schemas.openxmlformats.org/officeDocument/2006/relationships/slide" Target="slides/slide21.xml"/><Relationship Id="R2426091b85c54057" Type="http://schemas.openxmlformats.org/officeDocument/2006/relationships/slide" Target="slides/slide8.xml"/><Relationship Id="R2643656184424a21" Type="http://schemas.openxmlformats.org/officeDocument/2006/relationships/slideMaster" Target="slideMasters/slideMaster1.xml"/><Relationship Id="R373b2419744d4ee9" Type="http://schemas.openxmlformats.org/officeDocument/2006/relationships/slide" Target="slides/slide1.xml"/><Relationship Id="R3caa659d082a40db" Type="http://schemas.openxmlformats.org/officeDocument/2006/relationships/slide" Target="slides/slide17.xml"/><Relationship Id="R402c4ae83c974092" Type="http://schemas.openxmlformats.org/officeDocument/2006/relationships/viewProps" Target="viewProps.xml"/><Relationship Id="R48bf9b93b14e46c6" Type="http://schemas.openxmlformats.org/officeDocument/2006/relationships/presProps" Target="presProps.xml"/><Relationship Id="R5d88ffe352214c8a" Type="http://schemas.openxmlformats.org/officeDocument/2006/relationships/slide" Target="slides/slide7.xml"/><Relationship Id="R62a17a1b879646f8" Type="http://schemas.openxmlformats.org/officeDocument/2006/relationships/slide" Target="slides/slide18.xml"/><Relationship Id="R6b6ed883f77348c7" Type="http://schemas.openxmlformats.org/officeDocument/2006/relationships/slide" Target="slides/slide3.xml"/><Relationship Id="R6f2480593acb4ded" Type="http://schemas.openxmlformats.org/officeDocument/2006/relationships/theme" Target="theme/theme1.xml"/><Relationship Id="R74df5b431844446c" Type="http://schemas.openxmlformats.org/officeDocument/2006/relationships/slide" Target="slides/slide9.xml"/><Relationship Id="R7e4db9c68f134c70" Type="http://schemas.openxmlformats.org/officeDocument/2006/relationships/slide" Target="slides/slide10.xml"/><Relationship Id="R926e5fd9f15e47a3" Type="http://schemas.openxmlformats.org/officeDocument/2006/relationships/notesMaster" Target="notesMasters/notesMaster1.xml"/><Relationship Id="Ra3dcef098af44e1b" Type="http://schemas.openxmlformats.org/officeDocument/2006/relationships/slide" Target="slides/slide15.xml"/><Relationship Id="Ra8435cbe8bf74ed2" Type="http://schemas.openxmlformats.org/officeDocument/2006/relationships/slide" Target="slides/slide20.xml"/><Relationship Id="Raaada9ffa0be4372" Type="http://schemas.openxmlformats.org/officeDocument/2006/relationships/slide" Target="slides/slide6.xml"/><Relationship Id="Rab29d1ba7ace4bfe" Type="http://schemas.openxmlformats.org/officeDocument/2006/relationships/slide" Target="slides/slide4.xml"/><Relationship Id="Rd891956bd4df4dfd" Type="http://schemas.openxmlformats.org/officeDocument/2006/relationships/slide" Target="slides/slide14.xml"/><Relationship Id="Re2ec2caa8ce046fc" Type="http://schemas.openxmlformats.org/officeDocument/2006/relationships/tableStyles" Target="tableStyles.xml"/><Relationship Id="Re46291e872aa4b27" Type="http://schemas.openxmlformats.org/officeDocument/2006/relationships/slide" Target="slides/slide12.xml"/><Relationship Id="Rfea347b9149c43cb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5d234bf37b9648c2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c718ce99ec94046" Type="http://schemas.openxmlformats.org/officeDocument/2006/relationships/slide" Target="../slides/slide1.xml"/><Relationship Id="R89a44de6a57b4e08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059241a74e6f4608" Type="http://schemas.openxmlformats.org/officeDocument/2006/relationships/slide" Target="../slides/slide2.xml"/><Relationship Id="R184859ab2ca149b9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560ed16c17f14f01" Type="http://schemas.openxmlformats.org/officeDocument/2006/relationships/slide" Target="../slides/slide3.xml"/><Relationship Id="R699564209abb4cb9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3dee668311684949" Type="http://schemas.openxmlformats.org/officeDocument/2006/relationships/notesMaster" Target="../notesMasters/notesMaster1.xml"/><Relationship Id="R70ed27fc28974d43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2d7d0760946f4770" Type="http://schemas.openxmlformats.org/officeDocument/2006/relationships/notesMaster" Target="../notesMasters/notesMaster1.xml"/><Relationship Id="Rd425a7ab62a54a7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3aee9a7767df463b" Type="http://schemas.openxmlformats.org/officeDocument/2006/relationships/notesMaster" Target="../notesMasters/notesMaster1.xml"/><Relationship Id="R9425ac547adf4eb0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30ef1c3615d04b03" Type="http://schemas.openxmlformats.org/officeDocument/2006/relationships/slide" Target="../slides/slide7.xml"/><Relationship Id="Rd9b1b0c4aaa2422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35649b5779bf42ca" Type="http://schemas.openxmlformats.org/officeDocument/2006/relationships/notesMaster" Target="../notesMasters/notesMaster1.xml"/><Relationship Id="Rcfd2a0164e624011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71edd2f0005e4a39" Type="http://schemas.openxmlformats.org/officeDocument/2006/relationships/notesMaster" Target="../notesMasters/notesMaster1.xml"/><Relationship Id="Re07c9d630a384a18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71cf7801cc854fe9" Type="http://schemas.openxmlformats.org/officeDocument/2006/relationships/notesMaster" Target="../notesMasters/notesMaster1.xml"/><Relationship Id="Rda0d10c3fd674180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3c71632f8d6f4f6d" Type="http://schemas.openxmlformats.org/officeDocument/2006/relationships/notesMaster" Target="../notesMasters/notesMaster1.xml"/><Relationship Id="Ra93a40827d4943c7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2d3eec33de8e4bd0" Type="http://schemas.openxmlformats.org/officeDocument/2006/relationships/slide" Target="../slides/slide12.xml"/><Relationship Id="R34315f4232ae41b0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c1b5c112eefc4f2a" Type="http://schemas.openxmlformats.org/officeDocument/2006/relationships/notesMaster" Target="../notesMasters/notesMaster1.xml"/><Relationship Id="Rd5097f63a9cf4f1f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b5c7c98cc4e84e26" Type="http://schemas.openxmlformats.org/officeDocument/2006/relationships/notesMaster" Target="../notesMasters/notesMaster1.xml"/><Relationship Id="Rd75675baf561413e" Type="http://schemas.openxmlformats.org/officeDocument/2006/relationships/slide" Target="../slides/slide15.xml"/></Relationships>
</file>

<file path=ppt/notesSlides/_rels/notesSlide17.xml.rels><?xml version='1.0' encoding='UTF-8' standalone='yes'?>
<Relationships xmlns="http://schemas.openxmlformats.org/package/2006/relationships"><Relationship Id="R04c108e2cbfe42e5" Type="http://schemas.openxmlformats.org/officeDocument/2006/relationships/slide" Target="../slides/slide17.xml"/><Relationship Id="R33edeb15f285469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7c869816f8a74d33" Type="http://schemas.openxmlformats.org/officeDocument/2006/relationships/slide" Target="../slides/slide18.xml"/><Relationship Id="R95228ea5c7ec4f7e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3ed16b4f38794a83" Type="http://schemas.openxmlformats.org/officeDocument/2006/relationships/notesMaster" Target="../notesMasters/notesMaster1.xml"/><Relationship Id="Rda61eba23ce440e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9fc049c925014a50" Type="http://schemas.openxmlformats.org/officeDocument/2006/relationships/notesMaster" Target="../notesMasters/notesMaster1.xml"/><Relationship Id="Rbdcd0f1009424f98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9e0124854fd34e74" Type="http://schemas.openxmlformats.org/officeDocument/2006/relationships/notesMaster" Target="../notesMasters/notesMaster1.xml"/><Relationship Id="Rd5f20ee8e4584207" Type="http://schemas.openxmlformats.org/officeDocument/2006/relationships/slide" Target="../slides/slide2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0c71a3636cce469e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86cee789f54c4765" Type="http://schemas.openxmlformats.org/officeDocument/2006/relationships/slideLayout" Target="../slideLayouts/slideLayout1.xml"/><Relationship Id="Rce97d92e7cee4e92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cee789f54c47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5de51cd748f4d0f" Type="http://schemas.openxmlformats.org/officeDocument/2006/relationships/notesSlide" Target="../notesSlides/notesSlide1.xml"/><Relationship Id="Rdb69950d20254500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7e43c8d02c20402d" Type="http://schemas.openxmlformats.org/officeDocument/2006/relationships/notesSlide" Target="../notesSlides/notesSlide2.xml"/><Relationship Id="R961920ce7fc04ec4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b78519288c0a4849" Type="http://schemas.openxmlformats.org/officeDocument/2006/relationships/slideLayout" Target="../slideLayouts/slideLayout1.xml"/><Relationship Id="Rd749b56357f34960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2b9e881f06364d07" Type="http://schemas.openxmlformats.org/officeDocument/2006/relationships/slideLayout" Target="../slideLayouts/slideLayout1.xml"/><Relationship Id="Radd4c14b039f48b1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486c3f22717c4227" Type="http://schemas.openxmlformats.org/officeDocument/2006/relationships/notesSlide" Target="../notesSlides/notesSlide5.xml"/><Relationship Id="R94aaffcb106842cb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7edfb72dea624aac" Type="http://schemas.openxmlformats.org/officeDocument/2006/relationships/slideLayout" Target="../slideLayouts/slideLayout1.xml"/><Relationship Id="Rc279e0e1590b456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adca5c08cad14e59" Type="http://schemas.openxmlformats.org/officeDocument/2006/relationships/slideLayout" Target="../slideLayouts/slideLayout1.xml"/><Relationship Id="Rb40684edb41b498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961c38184e4c4383" Type="http://schemas.openxmlformats.org/officeDocument/2006/relationships/slideLayout" Target="../slideLayouts/slideLayout1.xml"/><Relationship Id="Rfd326324ae7b4041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79c11a5c93bb4ce5" Type="http://schemas.openxmlformats.org/officeDocument/2006/relationships/slideLayout" Target="../slideLayouts/slideLayout1.xml"/><Relationship Id="R7e31c0706f4c459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9341360ea7c14398" Type="http://schemas.openxmlformats.org/officeDocument/2006/relationships/slideLayout" Target="../slideLayouts/slideLayout1.xml"/><Relationship Id="Rb112006c44bb487c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c060b7ac40874a11" Type="http://schemas.openxmlformats.org/officeDocument/2006/relationships/notesSlide" Target="../notesSlides/notesSlide11.xml"/><Relationship Id="Rfff2755e82804fbc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620bd6cece10496e" Type="http://schemas.openxmlformats.org/officeDocument/2006/relationships/notesSlide" Target="../notesSlides/notesSlide12.xml"/><Relationship Id="Reded326e5e4f4655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3f87402011bd42dd" Type="http://schemas.openxmlformats.org/officeDocument/2006/relationships/notesSlide" Target="../notesSlides/notesSlide14.xml"/><Relationship Id="R96217cb0dbe34378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1169f8f2f1654009" Type="http://schemas.openxmlformats.org/officeDocument/2006/relationships/slideLayout" Target="../slideLayouts/slideLayout1.xml"/><Relationship Id="R1281bac438a54e91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f26806e8a3544f59" Type="http://schemas.openxmlformats.org/officeDocument/2006/relationships/notesSlide" Target="../notesSlides/notesSlide17.xml"/><Relationship Id="Rf8ceb4410b914383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f5cb747970f246d1" Type="http://schemas.openxmlformats.org/officeDocument/2006/relationships/notesSlide" Target="../notesSlides/notesSlide18.xml"/><Relationship Id="Rf69bd30865244cbc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2970efd82e0c4a90" Type="http://schemas.openxmlformats.org/officeDocument/2006/relationships/slideLayout" Target="../slideLayouts/slideLayout1.xml"/><Relationship Id="Rbba5443e5c3a4207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9612becb013048af" Type="http://schemas.openxmlformats.org/officeDocument/2006/relationships/notesSlide" Target="../notesSlides/notesSlide20.xml"/><Relationship Id="Ra0d375fcf66245b3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5c9e4faaab35448a" Type="http://schemas.openxmlformats.org/officeDocument/2006/relationships/slideLayout" Target="../slideLayouts/slideLayout1.xml"/><Relationship Id="Rfa6500ce6f794199" Type="http://schemas.openxmlformats.org/officeDocument/2006/relationships/notesSlide" Target="../notesSlides/notesSlide21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64389CE-BE3D-476D-BD32-1AFD56AA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F7F6F1"/>
            </a:solidFill>
            <a:prstDash val="solid"/>
          </a:ln>
        </p:spPr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374C55D5-D071-4C03-96CB-F3A8F7A2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6F"/>
          </a:solidFill>
          <a:ln xmlns:a="http://schemas.openxmlformats.org/drawingml/2006/main" w="0">
            <a:solidFill>
              <a:srgbClr val="2F5F6F"/>
            </a:solidFill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ED2C96-E198-4B7E-A89B-C9039835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619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20262A"/>
                </a:solidFill>
                <a:latin typeface="Aptos"/>
                <a:ea typeface="Aptos"/>
                <a:cs typeface="Aptos"/>
              </a:rPr>
              <a:t>Lab Tracker: preserving experimental rationale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904A3E83-CBB9-427E-BEE1-3EC6F790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590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97277"/>
                </a:solidFill>
                <a:latin typeface="Aptos"/>
                <a:ea typeface="Aptos"/>
                <a:cs typeface="Aptos"/>
              </a:rPr>
              <a:t>Questions -&gt; evidence -&gt; claims -&gt; figures</a:t>
            </a:r>
          </a:p>
        </p:txBody>
      </p:sp>
      <p:sp>
        <p:nvSpPr>
          <p:cNvPr id="5" name="box-question">
            <a:extLst xmlns:a="http://schemas.openxmlformats.org/drawingml/2006/main">
              <a:ext uri="{FF2B5EF4-FFF2-40B4-BE49-F238E27FC236}">
                <a16:creationId xmlns:a16="http://schemas.microsoft.com/office/drawing/2014/main" id="{75BF0BB5-7D34-4C78-9124-1C9BB69C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526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A"/>
          </a:solidFill>
          <a:ln xmlns:a="http://schemas.openxmlformats.org/drawingml/2006/main" w="11430">
            <a:solidFill>
              <a:srgbClr val="2F5F6F"/>
            </a:solidFill>
            <a:prstDash val="solid"/>
          </a:ln>
        </p:spPr>
      </p:sp>
      <p:sp>
        <p:nvSpPr>
          <p:cNvPr id="6" name="label-question">
            <a:extLst xmlns:a="http://schemas.openxmlformats.org/drawingml/2006/main">
              <a:ext uri="{FF2B5EF4-FFF2-40B4-BE49-F238E27FC236}">
                <a16:creationId xmlns:a16="http://schemas.microsoft.com/office/drawing/2014/main" id="{87003F95-9364-4AE6-BE24-EEF996DD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6695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62A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7" name="box-evidence">
            <a:extLst xmlns:a="http://schemas.openxmlformats.org/drawingml/2006/main">
              <a:ext uri="{FF2B5EF4-FFF2-40B4-BE49-F238E27FC236}">
                <a16:creationId xmlns:a16="http://schemas.microsoft.com/office/drawing/2014/main" id="{CDB85FBB-415C-4D3E-9232-2FD89E8E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528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</p:sp>
      <p:sp>
        <p:nvSpPr>
          <p:cNvPr id="8" name="label-evidence">
            <a:extLst xmlns:a="http://schemas.openxmlformats.org/drawingml/2006/main">
              <a:ext uri="{FF2B5EF4-FFF2-40B4-BE49-F238E27FC236}">
                <a16:creationId xmlns:a16="http://schemas.microsoft.com/office/drawing/2014/main" id="{DADFD021-DC2C-4CEC-9221-CD7D2224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6710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9" name="box-claim">
            <a:extLst xmlns:a="http://schemas.openxmlformats.org/drawingml/2006/main">
              <a:ext uri="{FF2B5EF4-FFF2-40B4-BE49-F238E27FC236}">
                <a16:creationId xmlns:a16="http://schemas.microsoft.com/office/drawing/2014/main" id="{F36292FD-E9D1-475D-806C-525C385A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528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</p:sp>
      <p:sp>
        <p:nvSpPr>
          <p:cNvPr id="10" name="label-claim">
            <a:extLst xmlns:a="http://schemas.openxmlformats.org/drawingml/2006/main">
              <a:ext uri="{FF2B5EF4-FFF2-40B4-BE49-F238E27FC236}">
                <a16:creationId xmlns:a16="http://schemas.microsoft.com/office/drawing/2014/main" id="{4BAF8690-16F7-4DA1-923F-8B25E7EE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46710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claim</a:t>
            </a:r>
          </a:p>
        </p:txBody>
      </p:sp>
      <p:sp>
        <p:nvSpPr>
          <p:cNvPr id="11" name="box-figure">
            <a:extLst xmlns:a="http://schemas.openxmlformats.org/drawingml/2006/main">
              <a:ext uri="{FF2B5EF4-FFF2-40B4-BE49-F238E27FC236}">
                <a16:creationId xmlns:a16="http://schemas.microsoft.com/office/drawing/2014/main" id="{F540DFAB-78C1-4038-850A-F0BB3D8D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339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</p:sp>
      <p:sp>
        <p:nvSpPr>
          <p:cNvPr id="12" name="label-figure">
            <a:extLst xmlns:a="http://schemas.openxmlformats.org/drawingml/2006/main">
              <a:ext uri="{FF2B5EF4-FFF2-40B4-BE49-F238E27FC236}">
                <a16:creationId xmlns:a16="http://schemas.microsoft.com/office/drawing/2014/main" id="{D61B0CF2-06FF-4571-9980-9EBF5412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4820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figure</a:t>
            </a:r>
          </a:p>
        </p:txBody>
      </p:sp>
      <p:sp>
        <p:nvSpPr>
          <p:cNvPr id="13" name="line-dot">
            <a:extLst xmlns:a="http://schemas.openxmlformats.org/drawingml/2006/main">
              <a:ext uri="{FF2B5EF4-FFF2-40B4-BE49-F238E27FC236}">
                <a16:creationId xmlns:a16="http://schemas.microsoft.com/office/drawing/2014/main" id="{EA82A7C2-1ECE-41EE-A400-E4C33526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6003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14" name="line-dot">
            <a:extLst xmlns:a="http://schemas.openxmlformats.org/drawingml/2006/main">
              <a:ext uri="{FF2B5EF4-FFF2-40B4-BE49-F238E27FC236}">
                <a16:creationId xmlns:a16="http://schemas.microsoft.com/office/drawing/2014/main" id="{37096AF5-7DBA-4C82-B807-FB265BE0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2013" y="267462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15" name="line-dot">
            <a:extLst xmlns:a="http://schemas.openxmlformats.org/drawingml/2006/main">
              <a:ext uri="{FF2B5EF4-FFF2-40B4-BE49-F238E27FC236}">
                <a16:creationId xmlns:a16="http://schemas.microsoft.com/office/drawing/2014/main" id="{C8E9CE2E-9741-4277-ABED-D30EB840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4891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16" name="line-dot">
            <a:extLst xmlns:a="http://schemas.openxmlformats.org/drawingml/2006/main">
              <a:ext uri="{FF2B5EF4-FFF2-40B4-BE49-F238E27FC236}">
                <a16:creationId xmlns:a16="http://schemas.microsoft.com/office/drawing/2014/main" id="{0CA98AB9-CCEA-46BE-85B1-A3B49160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0088" y="282321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17" name="line-dot">
            <a:extLst xmlns:a="http://schemas.openxmlformats.org/drawingml/2006/main">
              <a:ext uri="{FF2B5EF4-FFF2-40B4-BE49-F238E27FC236}">
                <a16:creationId xmlns:a16="http://schemas.microsoft.com/office/drawing/2014/main" id="{2A3104CE-25F2-4B8D-90F7-8E15490E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9750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18" name="line-dot">
            <a:extLst xmlns:a="http://schemas.openxmlformats.org/drawingml/2006/main">
              <a:ext uri="{FF2B5EF4-FFF2-40B4-BE49-F238E27FC236}">
                <a16:creationId xmlns:a16="http://schemas.microsoft.com/office/drawing/2014/main" id="{02764455-3B3B-4DA8-B95D-F0D89DF1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163" y="29718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19" name="line-dot">
            <a:extLst xmlns:a="http://schemas.openxmlformats.org/drawingml/2006/main">
              <a:ext uri="{FF2B5EF4-FFF2-40B4-BE49-F238E27FC236}">
                <a16:creationId xmlns:a16="http://schemas.microsoft.com/office/drawing/2014/main" id="{407B3455-6FBF-4332-9E98-6AE73C70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4609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20" name="line-dot">
            <a:extLst xmlns:a="http://schemas.openxmlformats.org/drawingml/2006/main">
              <a:ext uri="{FF2B5EF4-FFF2-40B4-BE49-F238E27FC236}">
                <a16:creationId xmlns:a16="http://schemas.microsoft.com/office/drawing/2014/main" id="{02DFFD38-96C3-449C-8054-96BBF067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6238" y="312039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21" name="line-dot">
            <a:extLst xmlns:a="http://schemas.openxmlformats.org/drawingml/2006/main">
              <a:ext uri="{FF2B5EF4-FFF2-40B4-BE49-F238E27FC236}">
                <a16:creationId xmlns:a16="http://schemas.microsoft.com/office/drawing/2014/main" id="{54FB0952-E849-4F7F-8180-C1DC6E8C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19468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22" name="line-dot">
            <a:extLst xmlns:a="http://schemas.openxmlformats.org/drawingml/2006/main">
              <a:ext uri="{FF2B5EF4-FFF2-40B4-BE49-F238E27FC236}">
                <a16:creationId xmlns:a16="http://schemas.microsoft.com/office/drawing/2014/main" id="{09E37FDF-2E46-45D0-8FDA-92EBDD19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4313" y="326898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23" name="line-dot">
            <a:extLst xmlns:a="http://schemas.openxmlformats.org/drawingml/2006/main">
              <a:ext uri="{FF2B5EF4-FFF2-40B4-BE49-F238E27FC236}">
                <a16:creationId xmlns:a16="http://schemas.microsoft.com/office/drawing/2014/main" id="{AF152DD7-86C2-465D-9FAE-607A7063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432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24" name="line-dot">
            <a:extLst xmlns:a="http://schemas.openxmlformats.org/drawingml/2006/main">
              <a:ext uri="{FF2B5EF4-FFF2-40B4-BE49-F238E27FC236}">
                <a16:creationId xmlns:a16="http://schemas.microsoft.com/office/drawing/2014/main" id="{157EA86C-DA4D-490B-BD5E-AD5D9C03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6003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25" name="line-dot">
            <a:extLst xmlns:a="http://schemas.openxmlformats.org/drawingml/2006/main">
              <a:ext uri="{FF2B5EF4-FFF2-40B4-BE49-F238E27FC236}">
                <a16:creationId xmlns:a16="http://schemas.microsoft.com/office/drawing/2014/main" id="{8BB92EDE-F7FF-4B5A-9ADF-E0B6CA3E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7280" y="267462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26" name="line-dot">
            <a:extLst xmlns:a="http://schemas.openxmlformats.org/drawingml/2006/main">
              <a:ext uri="{FF2B5EF4-FFF2-40B4-BE49-F238E27FC236}">
                <a16:creationId xmlns:a16="http://schemas.microsoft.com/office/drawing/2014/main" id="{F306B834-C989-4D02-956A-FF4BD6D8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485" y="274891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27" name="line-dot">
            <a:extLst xmlns:a="http://schemas.openxmlformats.org/drawingml/2006/main">
              <a:ext uri="{FF2B5EF4-FFF2-40B4-BE49-F238E27FC236}">
                <a16:creationId xmlns:a16="http://schemas.microsoft.com/office/drawing/2014/main" id="{905AFD4D-DBD5-4A9C-8E31-66383886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9690" y="282321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28" name="line-dot">
            <a:extLst xmlns:a="http://schemas.openxmlformats.org/drawingml/2006/main">
              <a:ext uri="{FF2B5EF4-FFF2-40B4-BE49-F238E27FC236}">
                <a16:creationId xmlns:a16="http://schemas.microsoft.com/office/drawing/2014/main" id="{FA9C99D4-18F5-4007-996D-79CE6705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5895" y="289750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29" name="line-dot">
            <a:extLst xmlns:a="http://schemas.openxmlformats.org/drawingml/2006/main">
              <a:ext uri="{FF2B5EF4-FFF2-40B4-BE49-F238E27FC236}">
                <a16:creationId xmlns:a16="http://schemas.microsoft.com/office/drawing/2014/main" id="{EF930B97-C7AA-4FEC-BAC4-587065D0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718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30" name="line-dot">
            <a:extLst xmlns:a="http://schemas.openxmlformats.org/drawingml/2006/main">
              <a:ext uri="{FF2B5EF4-FFF2-40B4-BE49-F238E27FC236}">
                <a16:creationId xmlns:a16="http://schemas.microsoft.com/office/drawing/2014/main" id="{6DEF6F5D-721E-44C8-A4A1-75D03FE0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8305" y="304609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31" name="line-dot">
            <a:extLst xmlns:a="http://schemas.openxmlformats.org/drawingml/2006/main">
              <a:ext uri="{FF2B5EF4-FFF2-40B4-BE49-F238E27FC236}">
                <a16:creationId xmlns:a16="http://schemas.microsoft.com/office/drawing/2014/main" id="{F49B7CE8-87F7-4301-8244-9AF4C87B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4510" y="312039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32" name="line-dot">
            <a:extLst xmlns:a="http://schemas.openxmlformats.org/drawingml/2006/main">
              <a:ext uri="{FF2B5EF4-FFF2-40B4-BE49-F238E27FC236}">
                <a16:creationId xmlns:a16="http://schemas.microsoft.com/office/drawing/2014/main" id="{22D5FF59-6621-433D-95C0-F4293FD4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0715" y="319468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33" name="line-dot">
            <a:extLst xmlns:a="http://schemas.openxmlformats.org/drawingml/2006/main">
              <a:ext uri="{FF2B5EF4-FFF2-40B4-BE49-F238E27FC236}">
                <a16:creationId xmlns:a16="http://schemas.microsoft.com/office/drawing/2014/main" id="{F48ECD5C-5511-47AD-A88F-A0C2FAA3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326898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34" name="line-dot">
            <a:extLst xmlns:a="http://schemas.openxmlformats.org/drawingml/2006/main">
              <a:ext uri="{FF2B5EF4-FFF2-40B4-BE49-F238E27FC236}">
                <a16:creationId xmlns:a16="http://schemas.microsoft.com/office/drawing/2014/main" id="{493D3EBE-8363-4D67-91BA-E34DE26E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3432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35" name="line-dot">
            <a:extLst xmlns:a="http://schemas.openxmlformats.org/drawingml/2006/main">
              <a:ext uri="{FF2B5EF4-FFF2-40B4-BE49-F238E27FC236}">
                <a16:creationId xmlns:a16="http://schemas.microsoft.com/office/drawing/2014/main" id="{F5329BA2-95B6-4C77-A84B-239F2D21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7623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36" name="line-dot">
            <a:extLst xmlns:a="http://schemas.openxmlformats.org/drawingml/2006/main">
              <a:ext uri="{FF2B5EF4-FFF2-40B4-BE49-F238E27FC236}">
                <a16:creationId xmlns:a16="http://schemas.microsoft.com/office/drawing/2014/main" id="{40686BC1-EB1B-4D10-B58E-FBE6C4CC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5493" y="38385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37" name="line-dot">
            <a:extLst xmlns:a="http://schemas.openxmlformats.org/drawingml/2006/main">
              <a:ext uri="{FF2B5EF4-FFF2-40B4-BE49-F238E27FC236}">
                <a16:creationId xmlns:a16="http://schemas.microsoft.com/office/drawing/2014/main" id="{25BD9A20-990B-4A8E-8CD2-70BE0630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7385" y="39147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38" name="line-dot">
            <a:extLst xmlns:a="http://schemas.openxmlformats.org/drawingml/2006/main">
              <a:ext uri="{FF2B5EF4-FFF2-40B4-BE49-F238E27FC236}">
                <a16:creationId xmlns:a16="http://schemas.microsoft.com/office/drawing/2014/main" id="{C0076225-9FCB-4807-B700-E56FED80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9278" y="39909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39" name="line-dot">
            <a:extLst xmlns:a="http://schemas.openxmlformats.org/drawingml/2006/main">
              <a:ext uri="{FF2B5EF4-FFF2-40B4-BE49-F238E27FC236}">
                <a16:creationId xmlns:a16="http://schemas.microsoft.com/office/drawing/2014/main" id="{E9D0EFA6-6925-4EA9-9AEF-D3EB409F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170" y="40671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40" name="line-dot">
            <a:extLst xmlns:a="http://schemas.openxmlformats.org/drawingml/2006/main">
              <a:ext uri="{FF2B5EF4-FFF2-40B4-BE49-F238E27FC236}">
                <a16:creationId xmlns:a16="http://schemas.microsoft.com/office/drawing/2014/main" id="{CF7DE798-C0C6-449F-A1E9-F2BD2FAC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063" y="41433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41" name="line-dot">
            <a:extLst xmlns:a="http://schemas.openxmlformats.org/drawingml/2006/main">
              <a:ext uri="{FF2B5EF4-FFF2-40B4-BE49-F238E27FC236}">
                <a16:creationId xmlns:a16="http://schemas.microsoft.com/office/drawing/2014/main" id="{6D6DAFCB-954E-418D-A9D8-1F5F19D2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4955" y="42195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42" name="line-dot">
            <a:extLst xmlns:a="http://schemas.openxmlformats.org/drawingml/2006/main">
              <a:ext uri="{FF2B5EF4-FFF2-40B4-BE49-F238E27FC236}">
                <a16:creationId xmlns:a16="http://schemas.microsoft.com/office/drawing/2014/main" id="{7615B66F-F6FE-4C14-8CB6-E20C4B64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6848" y="42957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43" name="line-dot">
            <a:extLst xmlns:a="http://schemas.openxmlformats.org/drawingml/2006/main">
              <a:ext uri="{FF2B5EF4-FFF2-40B4-BE49-F238E27FC236}">
                <a16:creationId xmlns:a16="http://schemas.microsoft.com/office/drawing/2014/main" id="{B61A6BA1-0F03-4E66-9F3B-870F45C2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8740" y="43719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44" name="line-dot">
            <a:extLst xmlns:a="http://schemas.openxmlformats.org/drawingml/2006/main">
              <a:ext uri="{FF2B5EF4-FFF2-40B4-BE49-F238E27FC236}">
                <a16:creationId xmlns:a16="http://schemas.microsoft.com/office/drawing/2014/main" id="{C3FEDFF2-6E9C-44A7-A08F-48156A8A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0633" y="44481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45" name="line-dot">
            <a:extLst xmlns:a="http://schemas.openxmlformats.org/drawingml/2006/main">
              <a:ext uri="{FF2B5EF4-FFF2-40B4-BE49-F238E27FC236}">
                <a16:creationId xmlns:a16="http://schemas.microsoft.com/office/drawing/2014/main" id="{3A8001EA-B6C0-4DF9-8376-882594AF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5243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D97486D-637F-4890-90DE-F6424DFE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97277"/>
                </a:solidFill>
                <a:latin typeface="Aptos"/>
                <a:ea typeface="Aptos"/>
                <a:cs typeface="Aptos"/>
              </a:rPr>
              <a:t>Source: docs/research-group-presentation.md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F665566-9F57-4FE5-B8DF-4F3893CE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 wrap="square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97277"/>
                </a:solidFill>
                <a:latin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691865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ACF33C3-8208-4C66-8ABB-0F6A1FBA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F7F6F1"/>
            </a:solidFill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65AB4512-147D-4F3C-8FEB-10B17642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5F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5F6F"/>
                </a:solidFill>
                <a:latin typeface="Aptos"/>
                <a:ea typeface="Aptos"/>
                <a:cs typeface="Aptos"/>
              </a:rPr>
              <a:t>CORE PREMISE</a:t>
            </a:r>
          </a:p>
        </p:txBody>
      </p:sp>
      <p:sp>
        <p:nvSpPr>
          <p:cNvPr id="3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C1DBCB8F-1156-4FF7-9658-1E564AB9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6F"/>
          </a:solidFill>
          <a:ln xmlns:a="http://schemas.openxmlformats.org/drawingml/2006/main" w="0">
            <a:solidFill>
              <a:srgbClr val="2F5F6F"/>
            </a:solidFill>
            <a:prstDash val="solid"/>
          </a:ln>
        </p:spPr>
      </p:sp>
      <p:sp>
        <p:nvSpPr>
          <p:cNvPr id="4" name="source-note">
            <a:extLst xmlns:a="http://schemas.openxmlformats.org/drawingml/2006/main">
              <a:ext uri="{FF2B5EF4-FFF2-40B4-BE49-F238E27FC236}">
                <a16:creationId xmlns:a16="http://schemas.microsoft.com/office/drawing/2014/main" id="{382D4AA8-B1DD-477E-8E5A-8E135758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97277"/>
                </a:solidFill>
                <a:latin typeface="Aptos"/>
                <a:ea typeface="Aptos"/>
                <a:cs typeface="Aptos"/>
              </a:rPr>
              <a:t>Source: docs/research-group-presentation.md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530A358-B632-4D0A-BEFC-63BDA115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97277"/>
                </a:solidFill>
                <a:latin typeface="Aptos"/>
              </a:rPr>
              <a:t>02</a:t>
            </a:r>
          </a:p>
        </p:txBody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A4D8541B-FD85-407C-9656-A0BD4F94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933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0262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20262A"/>
                </a:solidFill>
                <a:latin typeface="Aptos Display"/>
                <a:ea typeface="Aptos Display"/>
                <a:cs typeface="Aptos Display"/>
              </a:rPr>
              <a:t>A useful record includes why an experiment was done.</a:t>
            </a:r>
          </a:p>
        </p:txBody>
      </p:sp>
      <p:sp>
        <p:nvSpPr>
          <p:cNvPr id="7" name="box-what happened">
            <a:extLst xmlns:a="http://schemas.openxmlformats.org/drawingml/2006/main">
              <a:ext uri="{FF2B5EF4-FFF2-40B4-BE49-F238E27FC236}">
                <a16:creationId xmlns:a16="http://schemas.microsoft.com/office/drawing/2014/main" id="{081E671E-1BFF-46FB-9B36-398F9026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33800"/>
            <a:ext cx="228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</p:sp>
      <p:sp>
        <p:nvSpPr>
          <p:cNvPr id="8" name="label-what happened">
            <a:extLst xmlns:a="http://schemas.openxmlformats.org/drawingml/2006/main">
              <a:ext uri="{FF2B5EF4-FFF2-40B4-BE49-F238E27FC236}">
                <a16:creationId xmlns:a16="http://schemas.microsoft.com/office/drawing/2014/main" id="{9BB8E346-586E-4CDA-8B08-ADDE3F1E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848100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what happened</a:t>
            </a:r>
          </a:p>
        </p:txBody>
      </p:sp>
      <p:sp>
        <p:nvSpPr>
          <p:cNvPr id="9" name="box-why it happened">
            <a:extLst xmlns:a="http://schemas.openxmlformats.org/drawingml/2006/main">
              <a:ext uri="{FF2B5EF4-FFF2-40B4-BE49-F238E27FC236}">
                <a16:creationId xmlns:a16="http://schemas.microsoft.com/office/drawing/2014/main" id="{9C12A63C-DF80-4131-812D-BCE80C5C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33800"/>
            <a:ext cx="228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A"/>
          </a:solidFill>
          <a:ln xmlns:a="http://schemas.openxmlformats.org/drawingml/2006/main" w="11430">
            <a:solidFill>
              <a:srgbClr val="2F5F6F"/>
            </a:solidFill>
            <a:prstDash val="solid"/>
          </a:ln>
        </p:spPr>
      </p:sp>
      <p:sp>
        <p:nvSpPr>
          <p:cNvPr id="10" name="label-why it happened">
            <a:extLst xmlns:a="http://schemas.openxmlformats.org/drawingml/2006/main">
              <a:ext uri="{FF2B5EF4-FFF2-40B4-BE49-F238E27FC236}">
                <a16:creationId xmlns:a16="http://schemas.microsoft.com/office/drawing/2014/main" id="{D8FACD1A-F970-4A0D-A995-C97B2E8C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48100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62A"/>
                </a:solidFill>
                <a:latin typeface="Aptos"/>
                <a:ea typeface="Aptos"/>
                <a:cs typeface="Aptos"/>
              </a:rPr>
              <a:t>why it happened</a:t>
            </a:r>
          </a:p>
        </p:txBody>
      </p:sp>
      <p:sp>
        <p:nvSpPr>
          <p:cNvPr id="11" name="box-what it supports">
            <a:extLst xmlns:a="http://schemas.openxmlformats.org/drawingml/2006/main">
              <a:ext uri="{FF2B5EF4-FFF2-40B4-BE49-F238E27FC236}">
                <a16:creationId xmlns:a16="http://schemas.microsoft.com/office/drawing/2014/main" id="{11D6BD1F-A2B7-48D0-ACE7-879819D4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33800"/>
            <a:ext cx="228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</p:sp>
      <p:sp>
        <p:nvSpPr>
          <p:cNvPr id="12" name="label-what it supports">
            <a:extLst xmlns:a="http://schemas.openxmlformats.org/drawingml/2006/main">
              <a:ext uri="{FF2B5EF4-FFF2-40B4-BE49-F238E27FC236}">
                <a16:creationId xmlns:a16="http://schemas.microsoft.com/office/drawing/2014/main" id="{B7AB261D-97A5-4EF3-8673-A9BF1451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48100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what it supports</a:t>
            </a:r>
          </a:p>
        </p:txBody>
      </p:sp>
      <p:sp>
        <p:nvSpPr>
          <p:cNvPr id="13" name="line-h">
            <a:extLst xmlns:a="http://schemas.openxmlformats.org/drawingml/2006/main">
              <a:ext uri="{FF2B5EF4-FFF2-40B4-BE49-F238E27FC236}">
                <a16:creationId xmlns:a16="http://schemas.microsoft.com/office/drawing/2014/main" id="{BB1A1474-A80F-48F6-8279-07A90B28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67175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14" name="line-h">
            <a:extLst xmlns:a="http://schemas.openxmlformats.org/drawingml/2006/main">
              <a:ext uri="{FF2B5EF4-FFF2-40B4-BE49-F238E27FC236}">
                <a16:creationId xmlns:a16="http://schemas.microsoft.com/office/drawing/2014/main" id="{7BC44863-66D7-45F7-8CBF-F9FCDF29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67175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5969218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C1B7180-B615-402F-9900-B5F9AA32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F7F6F1"/>
            </a:solidFill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60A2E0BD-E022-440C-9321-1E0F802D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5F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5F6F"/>
                </a:solidFill>
                <a:latin typeface="Aptos"/>
                <a:ea typeface="Aptos"/>
                <a:cs typeface="Aptos"/>
              </a:rPr>
              <a:t>PROBLEM MAP</a:t>
            </a:r>
          </a:p>
        </p:txBody>
      </p:sp>
      <p:sp>
        <p:nvSpPr>
          <p:cNvPr id="3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83E39EED-D002-45EB-A5EA-0F441121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6F"/>
          </a:solidFill>
          <a:ln xmlns:a="http://schemas.openxmlformats.org/drawingml/2006/main" w="0">
            <a:solidFill>
              <a:srgbClr val="2F5F6F"/>
            </a:solidFill>
            <a:prstDash val="solid"/>
          </a:ln>
        </p:spPr>
      </p:sp>
      <p:sp>
        <p:nvSpPr>
          <p:cNvPr id="4" name="source-note">
            <a:extLst xmlns:a="http://schemas.openxmlformats.org/drawingml/2006/main">
              <a:ext uri="{FF2B5EF4-FFF2-40B4-BE49-F238E27FC236}">
                <a16:creationId xmlns:a16="http://schemas.microsoft.com/office/drawing/2014/main" id="{8C72B9A6-A1C1-45FF-BDBA-2C62C3ED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97277"/>
                </a:solidFill>
                <a:latin typeface="Aptos"/>
                <a:ea typeface="Aptos"/>
                <a:cs typeface="Aptos"/>
              </a:rPr>
              <a:t>Source: docs/research-group-presentation.md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5375E7A-6D72-4CBE-9405-6EE05C00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97277"/>
                </a:solidFill>
                <a:latin typeface="Aptos"/>
              </a:rPr>
              <a:t>03</a:t>
            </a:r>
          </a:p>
        </p:txBody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C5B07773-7414-49D8-A47C-357AD3CE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933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0262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20262A"/>
                </a:solidFill>
                <a:latin typeface="Aptos Display"/>
                <a:ea typeface="Aptos Display"/>
                <a:cs typeface="Aptos Display"/>
              </a:rPr>
              <a:t>The argument has three linked problems.</a:t>
            </a:r>
          </a:p>
        </p:txBody>
      </p:sp>
      <p:sp>
        <p:nvSpPr>
          <p:cNvPr id="7" name="box-Problem 1&#10;record loses rationale">
            <a:extLst xmlns:a="http://schemas.openxmlformats.org/drawingml/2006/main">
              <a:ext uri="{FF2B5EF4-FFF2-40B4-BE49-F238E27FC236}">
                <a16:creationId xmlns:a16="http://schemas.microsoft.com/office/drawing/2014/main" id="{AF35FC53-1A20-4FFD-8577-DC568721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81300"/>
            <a:ext cx="2209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8A198"/>
            </a:solidFill>
            <a:prstDash val="solid"/>
          </a:ln>
        </p:spPr>
      </p:sp>
      <p:sp>
        <p:nvSpPr>
          <p:cNvPr id="8" name="label-Problem 1&#10;record loses rationale">
            <a:extLst xmlns:a="http://schemas.openxmlformats.org/drawingml/2006/main">
              <a:ext uri="{FF2B5EF4-FFF2-40B4-BE49-F238E27FC236}">
                <a16:creationId xmlns:a16="http://schemas.microsoft.com/office/drawing/2014/main" id="{3F929027-84C5-453D-9DEA-A3FA9AFA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956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Problem 1</a:t>
            </a:r>
          </a:p>
          <a:p xmlns:a="http://schemas.openxmlformats.org/drawingml/2006/main">
            <a:pPr algn="ctr">
              <a:defRPr sz="90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record loses rationale</a:t>
            </a:r>
          </a:p>
        </p:txBody>
      </p:sp>
      <p:sp>
        <p:nvSpPr>
          <p:cNvPr id="9" name="line-h">
            <a:extLst xmlns:a="http://schemas.openxmlformats.org/drawingml/2006/main">
              <a:ext uri="{FF2B5EF4-FFF2-40B4-BE49-F238E27FC236}">
                <a16:creationId xmlns:a16="http://schemas.microsoft.com/office/drawing/2014/main" id="{F63D5E61-4CAC-4B78-9398-6C1CA59D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28950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10" name="box-Problem 2&#10;assistant lacks goals">
            <a:extLst xmlns:a="http://schemas.openxmlformats.org/drawingml/2006/main">
              <a:ext uri="{FF2B5EF4-FFF2-40B4-BE49-F238E27FC236}">
                <a16:creationId xmlns:a16="http://schemas.microsoft.com/office/drawing/2014/main" id="{BAA9D2F0-5FE3-4822-9DE2-B37724A3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81300"/>
            <a:ext cx="2209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8A198"/>
            </a:solidFill>
            <a:prstDash val="solid"/>
          </a:ln>
        </p:spPr>
      </p:sp>
      <p:sp>
        <p:nvSpPr>
          <p:cNvPr id="11" name="label-Problem 2&#10;assistant lacks goals">
            <a:extLst xmlns:a="http://schemas.openxmlformats.org/drawingml/2006/main">
              <a:ext uri="{FF2B5EF4-FFF2-40B4-BE49-F238E27FC236}">
                <a16:creationId xmlns:a16="http://schemas.microsoft.com/office/drawing/2014/main" id="{FDC1E5FB-AF3A-4C81-8C25-BA2D2F34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956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Problem 2</a:t>
            </a:r>
          </a:p>
          <a:p xmlns:a="http://schemas.openxmlformats.org/drawingml/2006/main">
            <a:pPr algn="ctr">
              <a:defRPr sz="90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assistant lacks goals</a:t>
            </a:r>
          </a:p>
        </p:txBody>
      </p:sp>
      <p:sp>
        <p:nvSpPr>
          <p:cNvPr id="12" name="line-h">
            <a:extLst xmlns:a="http://schemas.openxmlformats.org/drawingml/2006/main">
              <a:ext uri="{FF2B5EF4-FFF2-40B4-BE49-F238E27FC236}">
                <a16:creationId xmlns:a16="http://schemas.microsoft.com/office/drawing/2014/main" id="{6CE8CE6E-FFD6-4202-96E6-6DDEADFB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28950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13" name="box-Problem 3&#10;manual upkeep fails">
            <a:extLst xmlns:a="http://schemas.openxmlformats.org/drawingml/2006/main">
              <a:ext uri="{FF2B5EF4-FFF2-40B4-BE49-F238E27FC236}">
                <a16:creationId xmlns:a16="http://schemas.microsoft.com/office/drawing/2014/main" id="{F481789A-CD14-4D87-BE4B-271D4D44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81300"/>
            <a:ext cx="2209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8A198"/>
            </a:solidFill>
            <a:prstDash val="solid"/>
          </a:ln>
        </p:spPr>
      </p:sp>
      <p:sp>
        <p:nvSpPr>
          <p:cNvPr id="14" name="label-Problem 3&#10;manual upkeep fails">
            <a:extLst xmlns:a="http://schemas.openxmlformats.org/drawingml/2006/main">
              <a:ext uri="{FF2B5EF4-FFF2-40B4-BE49-F238E27FC236}">
                <a16:creationId xmlns:a16="http://schemas.microsoft.com/office/drawing/2014/main" id="{65F31DCB-00F6-447A-8045-292CE73D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956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Problem 3</a:t>
            </a:r>
          </a:p>
          <a:p xmlns:a="http://schemas.openxmlformats.org/drawingml/2006/main">
            <a:pPr algn="ctr">
              <a:defRPr sz="90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manual upkeep fails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E2AC43-C57C-4115-B6F5-E78E82C6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19550"/>
            <a:ext cx="228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The experiment record loses the motivating question.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7E62CF-6DCC-4EC1-A6E1-7ED44321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19550"/>
            <a:ext cx="228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The assistant then lacks the same lab context.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273509-4AA3-4168-ACED-77DB0480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19550"/>
            <a:ext cx="228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Manual bookkeeping is too brittle to fix this reliably.</a:t>
            </a:r>
          </a:p>
        </p:txBody>
      </p:sp>
    </p:spTree>
    <p:extLst>
      <p:ext uri="{BB962C8B-B14F-4D97-AF65-F5344CB8AC3E}">
        <p14:creationId xmlns:p14="http://schemas.microsoft.com/office/powerpoint/2010/main" val="18191223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4FFB565-20D0-4F6D-A248-64AD7D87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F7F6F1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329AC7B7-201B-4DCC-8631-4DDC10DB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5F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5F6F"/>
                </a:solidFill>
                <a:latin typeface="Aptos"/>
                <a:ea typeface="Aptos"/>
                <a:cs typeface="Aptos"/>
              </a:rPr>
              <a:t>PROBLEM 1</a:t>
            </a:r>
          </a:p>
        </p:txBody>
      </p:sp>
      <p:sp>
        <p:nvSpPr>
          <p:cNvPr id="3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F51953D3-54D6-482A-A263-A2FC0BDC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6F"/>
          </a:solidFill>
          <a:ln xmlns:a="http://schemas.openxmlformats.org/drawingml/2006/main" w="0">
            <a:solidFill>
              <a:srgbClr val="2F5F6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source-note">
            <a:extLst xmlns:a="http://schemas.openxmlformats.org/drawingml/2006/main">
              <a:ext uri="{FF2B5EF4-FFF2-40B4-BE49-F238E27FC236}">
                <a16:creationId xmlns:a16="http://schemas.microsoft.com/office/drawing/2014/main" id="{82F0BAC7-D790-41BD-A416-5101A5F9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97277"/>
                </a:solidFill>
                <a:latin typeface="Aptos"/>
                <a:ea typeface="Aptos"/>
                <a:cs typeface="Aptos"/>
              </a:rPr>
              <a:t>Source: docs/research-group-presentation.md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0A5D3A4-0AE1-485B-9A55-A56C16F3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97277"/>
                </a:solidFill>
                <a:latin typeface="Aptos"/>
              </a:rPr>
              <a:t>04</a:t>
            </a:r>
          </a:p>
        </p:txBody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4A83A6BD-B228-4D81-B120-3FB1B729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933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0262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20262A"/>
                </a:solidFill>
                <a:latin typeface="Aptos Display"/>
                <a:ea typeface="Aptos Display"/>
                <a:cs typeface="Aptos Display"/>
              </a:rPr>
              <a:t>Problem 1: the record loses the question an experiment answered.</a:t>
            </a:r>
          </a:p>
        </p:txBody>
      </p:sp>
      <p:sp>
        <p:nvSpPr>
          <p:cNvPr id="7" name="box-Problem 1&#10;record loses rationale">
            <a:extLst xmlns:a="http://schemas.openxmlformats.org/drawingml/2006/main">
              <a:ext uri="{FF2B5EF4-FFF2-40B4-BE49-F238E27FC236}">
                <a16:creationId xmlns:a16="http://schemas.microsoft.com/office/drawing/2014/main" id="{8860089E-D93D-40BF-B73E-62068FEC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81300"/>
            <a:ext cx="2209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6D8"/>
          </a:solidFill>
          <a:ln xmlns:a="http://schemas.openxmlformats.org/drawingml/2006/main" w="1143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label-Problem 1&#10;record loses rationale">
            <a:extLst xmlns:a="http://schemas.openxmlformats.org/drawingml/2006/main">
              <a:ext uri="{FF2B5EF4-FFF2-40B4-BE49-F238E27FC236}">
                <a16:creationId xmlns:a16="http://schemas.microsoft.com/office/drawing/2014/main" id="{2AC39033-F62C-48DE-B574-27704B71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956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62A"/>
                </a:solidFill>
                <a:latin typeface="Aptos"/>
                <a:ea typeface="Aptos"/>
                <a:cs typeface="Aptos"/>
              </a:rPr>
              <a:t>Problem 1</a:t>
            </a:r>
          </a:p>
          <a:p xmlns:a="http://schemas.openxmlformats.org/drawingml/2006/main">
            <a:pPr algn="ctr">
              <a:defRPr sz="900" b="1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62A"/>
                </a:solidFill>
                <a:latin typeface="Aptos"/>
                <a:ea typeface="Aptos"/>
                <a:cs typeface="Aptos"/>
              </a:rPr>
              <a:t>record loses rationale</a:t>
            </a:r>
          </a:p>
        </p:txBody>
      </p:sp>
      <p:sp>
        <p:nvSpPr>
          <p:cNvPr id="9" name="line-h">
            <a:extLst xmlns:a="http://schemas.openxmlformats.org/drawingml/2006/main">
              <a:ext uri="{FF2B5EF4-FFF2-40B4-BE49-F238E27FC236}">
                <a16:creationId xmlns:a16="http://schemas.microsoft.com/office/drawing/2014/main" id="{C936F5B5-B689-47CD-A847-530DFDA4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28950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box-Problem 2&#10;assistant lacks goals">
            <a:extLst xmlns:a="http://schemas.openxmlformats.org/drawingml/2006/main">
              <a:ext uri="{FF2B5EF4-FFF2-40B4-BE49-F238E27FC236}">
                <a16:creationId xmlns:a16="http://schemas.microsoft.com/office/drawing/2014/main" id="{0853C83D-C9EF-4D6B-AEC3-0C57A7A9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81300"/>
            <a:ext cx="2209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label-Problem 2&#10;assistant lacks goals">
            <a:extLst xmlns:a="http://schemas.openxmlformats.org/drawingml/2006/main">
              <a:ext uri="{FF2B5EF4-FFF2-40B4-BE49-F238E27FC236}">
                <a16:creationId xmlns:a16="http://schemas.microsoft.com/office/drawing/2014/main" id="{5C3E99DD-FD9F-4E09-AC48-C713A6CB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956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Problem 2</a:t>
            </a:r>
          </a:p>
          <a:p xmlns:a="http://schemas.openxmlformats.org/drawingml/2006/main">
            <a:pPr algn="ctr">
              <a:defRPr sz="90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assistant lacks goals</a:t>
            </a:r>
          </a:p>
        </p:txBody>
      </p:sp>
      <p:sp>
        <p:nvSpPr>
          <p:cNvPr id="12" name="line-h">
            <a:extLst xmlns:a="http://schemas.openxmlformats.org/drawingml/2006/main">
              <a:ext uri="{FF2B5EF4-FFF2-40B4-BE49-F238E27FC236}">
                <a16:creationId xmlns:a16="http://schemas.microsoft.com/office/drawing/2014/main" id="{0DBB948C-653C-458A-BD9F-DC9D69A4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28950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box-Problem 3&#10;manual upkeep fails">
            <a:extLst xmlns:a="http://schemas.openxmlformats.org/drawingml/2006/main">
              <a:ext uri="{FF2B5EF4-FFF2-40B4-BE49-F238E27FC236}">
                <a16:creationId xmlns:a16="http://schemas.microsoft.com/office/drawing/2014/main" id="{DD4EDE90-D786-42D8-8F68-529F88D4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81300"/>
            <a:ext cx="2209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label-Problem 3&#10;manual upkeep fails">
            <a:extLst xmlns:a="http://schemas.openxmlformats.org/drawingml/2006/main">
              <a:ext uri="{FF2B5EF4-FFF2-40B4-BE49-F238E27FC236}">
                <a16:creationId xmlns:a16="http://schemas.microsoft.com/office/drawing/2014/main" id="{447FF364-2EF8-4227-9EB7-F0DABCCF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956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Problem 3</a:t>
            </a:r>
          </a:p>
          <a:p xmlns:a="http://schemas.openxmlformats.org/drawingml/2006/main">
            <a:pPr algn="ctr">
              <a:defRPr sz="90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manual upkeep fails</a:t>
            </a:r>
          </a:p>
        </p:txBody>
      </p:sp>
      <p:sp>
        <p:nvSpPr>
          <p:cNvPr id="15" name="box-motivating question">
            <a:extLst xmlns:a="http://schemas.openxmlformats.org/drawingml/2006/main">
              <a:ext uri="{FF2B5EF4-FFF2-40B4-BE49-F238E27FC236}">
                <a16:creationId xmlns:a16="http://schemas.microsoft.com/office/drawing/2014/main" id="{4963DB82-38C3-4421-821F-7421C175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22191"/>
            <a:ext cx="22402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6D8"/>
          </a:solidFill>
          <a:ln xmlns:a="http://schemas.openxmlformats.org/drawingml/2006/main" w="1143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label-motivating question">
            <a:extLst xmlns:a="http://schemas.openxmlformats.org/drawingml/2006/main">
              <a:ext uri="{FF2B5EF4-FFF2-40B4-BE49-F238E27FC236}">
                <a16:creationId xmlns:a16="http://schemas.microsoft.com/office/drawing/2014/main" id="{15495B4A-74CF-4F68-A34C-7C4E2D51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931920"/>
            <a:ext cx="2020824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 wrap="square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62A"/>
                </a:solidFill>
                <a:latin typeface="Aptos"/>
              </a:rPr>
              <a:t>Does lateral inhibition</a:t>
            </a:r>
          </a:p>
          <a:p xmlns:a="http://schemas.openxmlformats.org/drawingml/2006/main">
            <a:pPr algn="ctr"/>
            <a:r>
              <a:rPr sz="1050" b="1">
                <a:solidFill>
                  <a:srgbClr val="20262A"/>
                </a:solidFill>
                <a:latin typeface="Aptos"/>
              </a:rPr>
              <a:t>normalize PN output?</a:t>
            </a:r>
          </a:p>
        </p:txBody>
      </p:sp>
      <p:sp>
        <p:nvSpPr>
          <p:cNvPr id="17" name="box-notebook note">
            <a:extLst xmlns:a="http://schemas.openxmlformats.org/drawingml/2006/main">
              <a:ext uri="{FF2B5EF4-FFF2-40B4-BE49-F238E27FC236}">
                <a16:creationId xmlns:a16="http://schemas.microsoft.com/office/drawing/2014/main" id="{C4ECC6F5-921E-41E5-ADE5-59C9B52F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81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label-notebook note">
            <a:extLst xmlns:a="http://schemas.openxmlformats.org/drawingml/2006/main">
              <a:ext uri="{FF2B5EF4-FFF2-40B4-BE49-F238E27FC236}">
                <a16:creationId xmlns:a16="http://schemas.microsoft.com/office/drawing/2014/main" id="{698BB818-DCF5-44D7-BBF0-DACFA890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9570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 wrap="square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262A"/>
                </a:solidFill>
                <a:latin typeface="Aptos"/>
              </a:rPr>
              <a:t>bench note (fly07)</a:t>
            </a:r>
          </a:p>
        </p:txBody>
      </p:sp>
      <p:sp>
        <p:nvSpPr>
          <p:cNvPr id="19" name="box-session_0427.zarr">
            <a:extLst xmlns:a="http://schemas.openxmlformats.org/drawingml/2006/main">
              <a:ext uri="{FF2B5EF4-FFF2-40B4-BE49-F238E27FC236}">
                <a16:creationId xmlns:a16="http://schemas.microsoft.com/office/drawing/2014/main" id="{AACB6979-9E9E-41B8-AF67-CBD47D18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577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label-session_0427.zarr">
            <a:extLst xmlns:a="http://schemas.openxmlformats.org/drawingml/2006/main">
              <a:ext uri="{FF2B5EF4-FFF2-40B4-BE49-F238E27FC236}">
                <a16:creationId xmlns:a16="http://schemas.microsoft.com/office/drawing/2014/main" id="{AAC90DE3-F89A-425C-8BEA-2C38311A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7200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 wrap="square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262A"/>
                </a:solidFill>
                <a:latin typeface="Aptos"/>
              </a:rPr>
              <a:t>2025_12_10_Rig2_</a:t>
            </a:r>
          </a:p>
          <a:p xmlns:a="http://schemas.openxmlformats.org/drawingml/2006/main">
            <a:pPr algn="ctr"/>
            <a:r>
              <a:rPr sz="1050" b="0">
                <a:solidFill>
                  <a:srgbClr val="20262A"/>
                </a:solidFill>
                <a:latin typeface="Aptos"/>
              </a:rPr>
              <a:t>session001.nwb</a:t>
            </a:r>
          </a:p>
        </p:txBody>
      </p:sp>
      <p:sp>
        <p:nvSpPr>
          <p:cNvPr id="21" name="box-analysis notebook">
            <a:extLst xmlns:a="http://schemas.openxmlformats.org/drawingml/2006/main">
              <a:ext uri="{FF2B5EF4-FFF2-40B4-BE49-F238E27FC236}">
                <a16:creationId xmlns:a16="http://schemas.microsoft.com/office/drawing/2014/main" id="{C1C668A7-E05D-460C-A1E5-A4A39D8C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81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label-analysis notebook">
            <a:extLst xmlns:a="http://schemas.openxmlformats.org/drawingml/2006/main">
              <a:ext uri="{FF2B5EF4-FFF2-40B4-BE49-F238E27FC236}">
                <a16:creationId xmlns:a16="http://schemas.microsoft.com/office/drawing/2014/main" id="{35511751-3370-4DEF-8648-E7C275AB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9570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 wrap="square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262A"/>
                </a:solidFill>
                <a:latin typeface="Aptos"/>
              </a:rPr>
              <a:t>divisive-norm fit</a:t>
            </a:r>
          </a:p>
        </p:txBody>
      </p:sp>
      <p:sp>
        <p:nvSpPr>
          <p:cNvPr id="23" name="box-figure draft">
            <a:extLst xmlns:a="http://schemas.openxmlformats.org/drawingml/2006/main">
              <a:ext uri="{FF2B5EF4-FFF2-40B4-BE49-F238E27FC236}">
                <a16:creationId xmlns:a16="http://schemas.microsoft.com/office/drawing/2014/main" id="{2F1A9023-5AA6-4F2F-A04C-DB477508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577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label-figure draft">
            <a:extLst xmlns:a="http://schemas.openxmlformats.org/drawingml/2006/main">
              <a:ext uri="{FF2B5EF4-FFF2-40B4-BE49-F238E27FC236}">
                <a16:creationId xmlns:a16="http://schemas.microsoft.com/office/drawing/2014/main" id="{71FFE889-AEDA-47D9-A052-DB712A1F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57200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 wrap="square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262A"/>
                </a:solidFill>
                <a:latin typeface="Aptos"/>
              </a:rPr>
              <a:t>Fig 3b (draft)</a:t>
            </a:r>
          </a:p>
        </p:txBody>
      </p:sp>
      <p:sp>
        <p:nvSpPr>
          <p:cNvPr id="25" name="line-dot">
            <a:extLst xmlns:a="http://schemas.openxmlformats.org/drawingml/2006/main">
              <a:ext uri="{FF2B5EF4-FFF2-40B4-BE49-F238E27FC236}">
                <a16:creationId xmlns:a16="http://schemas.microsoft.com/office/drawing/2014/main" id="{85F23002-55E3-4E01-904E-7D404433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2957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line-dot">
            <a:extLst xmlns:a="http://schemas.openxmlformats.org/drawingml/2006/main">
              <a:ext uri="{FF2B5EF4-FFF2-40B4-BE49-F238E27FC236}">
                <a16:creationId xmlns:a16="http://schemas.microsoft.com/office/drawing/2014/main" id="{6CF01D0B-0ED2-414C-B861-68184F1E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1370" y="424624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line-dot">
            <a:extLst xmlns:a="http://schemas.openxmlformats.org/drawingml/2006/main">
              <a:ext uri="{FF2B5EF4-FFF2-40B4-BE49-F238E27FC236}">
                <a16:creationId xmlns:a16="http://schemas.microsoft.com/office/drawing/2014/main" id="{0A6F18EB-DB9A-45B7-A6D9-633202E1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765" y="419671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line-dot">
            <a:extLst xmlns:a="http://schemas.openxmlformats.org/drawingml/2006/main">
              <a:ext uri="{FF2B5EF4-FFF2-40B4-BE49-F238E27FC236}">
                <a16:creationId xmlns:a16="http://schemas.microsoft.com/office/drawing/2014/main" id="{4640EAE7-4D70-4CE0-A29A-0E65E5FD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14718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line-dot">
            <a:extLst xmlns:a="http://schemas.openxmlformats.org/drawingml/2006/main">
              <a:ext uri="{FF2B5EF4-FFF2-40B4-BE49-F238E27FC236}">
                <a16:creationId xmlns:a16="http://schemas.microsoft.com/office/drawing/2014/main" id="{BE103D64-EEA0-48FA-A43A-48A04B0E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8555" y="409765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line-dot">
            <a:extLst xmlns:a="http://schemas.openxmlformats.org/drawingml/2006/main">
              <a:ext uri="{FF2B5EF4-FFF2-40B4-BE49-F238E27FC236}">
                <a16:creationId xmlns:a16="http://schemas.microsoft.com/office/drawing/2014/main" id="{FEAE7C55-C89A-4D2A-8801-C65EDA26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481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line-dot">
            <a:extLst xmlns:a="http://schemas.openxmlformats.org/drawingml/2006/main">
              <a:ext uri="{FF2B5EF4-FFF2-40B4-BE49-F238E27FC236}">
                <a16:creationId xmlns:a16="http://schemas.microsoft.com/office/drawing/2014/main" id="{0443FCEA-5CA9-4095-87FC-1663912D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345" y="399859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line-dot">
            <a:extLst xmlns:a="http://schemas.openxmlformats.org/drawingml/2006/main">
              <a:ext uri="{FF2B5EF4-FFF2-40B4-BE49-F238E27FC236}">
                <a16:creationId xmlns:a16="http://schemas.microsoft.com/office/drawing/2014/main" id="{55915C32-28DF-409D-80E3-27B91D05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5740" y="394906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line-dot">
            <a:extLst xmlns:a="http://schemas.openxmlformats.org/drawingml/2006/main">
              <a:ext uri="{FF2B5EF4-FFF2-40B4-BE49-F238E27FC236}">
                <a16:creationId xmlns:a16="http://schemas.microsoft.com/office/drawing/2014/main" id="{54A6705C-70FE-4EBF-AD3E-FC893723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8135" y="389953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4" name="line-dot">
            <a:extLst xmlns:a="http://schemas.openxmlformats.org/drawingml/2006/main">
              <a:ext uri="{FF2B5EF4-FFF2-40B4-BE49-F238E27FC236}">
                <a16:creationId xmlns:a16="http://schemas.microsoft.com/office/drawing/2014/main" id="{6F06A42E-F83B-4B5D-8193-9816F783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530" y="385000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5" name="line-dot">
            <a:extLst xmlns:a="http://schemas.openxmlformats.org/drawingml/2006/main">
              <a:ext uri="{FF2B5EF4-FFF2-40B4-BE49-F238E27FC236}">
                <a16:creationId xmlns:a16="http://schemas.microsoft.com/office/drawing/2014/main" id="{2E40D4F9-1794-4824-9857-E17A7B4C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8004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D19FFC-8D11-487A-9CFC-C64DBC92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33800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A5B2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A5B2D"/>
                </a:solidFill>
                <a:latin typeface="Aptos"/>
                <a:ea typeface="Aptos"/>
                <a:cs typeface="Aptos"/>
              </a:rPr>
              <a:t>missing: answered</a:t>
            </a:r>
          </a:p>
        </p:txBody>
      </p:sp>
      <p:sp>
        <p:nvSpPr>
          <p:cNvPr id="37" name="line-dot">
            <a:extLst xmlns:a="http://schemas.openxmlformats.org/drawingml/2006/main">
              <a:ext uri="{FF2B5EF4-FFF2-40B4-BE49-F238E27FC236}">
                <a16:creationId xmlns:a16="http://schemas.microsoft.com/office/drawing/2014/main" id="{7B2BD5E7-E171-4209-87C4-965C35B9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2957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8" name="line-dot">
            <a:extLst xmlns:a="http://schemas.openxmlformats.org/drawingml/2006/main">
              <a:ext uri="{FF2B5EF4-FFF2-40B4-BE49-F238E27FC236}">
                <a16:creationId xmlns:a16="http://schemas.microsoft.com/office/drawing/2014/main" id="{1190633F-CEFC-4EBB-873F-6F21C5DB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1370" y="43338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line-dot">
            <a:extLst xmlns:a="http://schemas.openxmlformats.org/drawingml/2006/main">
              <a:ext uri="{FF2B5EF4-FFF2-40B4-BE49-F238E27FC236}">
                <a16:creationId xmlns:a16="http://schemas.microsoft.com/office/drawing/2014/main" id="{66912588-8CD4-4ADC-833A-8BAFD535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765" y="43719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0" name="line-dot">
            <a:extLst xmlns:a="http://schemas.openxmlformats.org/drawingml/2006/main">
              <a:ext uri="{FF2B5EF4-FFF2-40B4-BE49-F238E27FC236}">
                <a16:creationId xmlns:a16="http://schemas.microsoft.com/office/drawing/2014/main" id="{B56134FB-5D0B-4843-98B9-A407E108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4100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1" name="line-dot">
            <a:extLst xmlns:a="http://schemas.openxmlformats.org/drawingml/2006/main">
              <a:ext uri="{FF2B5EF4-FFF2-40B4-BE49-F238E27FC236}">
                <a16:creationId xmlns:a16="http://schemas.microsoft.com/office/drawing/2014/main" id="{F7D1C981-5C2F-4D4B-B20A-B7540D7E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8555" y="44481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2" name="line-dot">
            <a:extLst xmlns:a="http://schemas.openxmlformats.org/drawingml/2006/main">
              <a:ext uri="{FF2B5EF4-FFF2-40B4-BE49-F238E27FC236}">
                <a16:creationId xmlns:a16="http://schemas.microsoft.com/office/drawing/2014/main" id="{D88D63F8-A949-4965-BFA2-DC48D8ED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4862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3" name="line-dot">
            <a:extLst xmlns:a="http://schemas.openxmlformats.org/drawingml/2006/main">
              <a:ext uri="{FF2B5EF4-FFF2-40B4-BE49-F238E27FC236}">
                <a16:creationId xmlns:a16="http://schemas.microsoft.com/office/drawing/2014/main" id="{9E45AAA3-12FD-46B8-9A8E-C33A9F99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345" y="45243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4" name="line-dot">
            <a:extLst xmlns:a="http://schemas.openxmlformats.org/drawingml/2006/main">
              <a:ext uri="{FF2B5EF4-FFF2-40B4-BE49-F238E27FC236}">
                <a16:creationId xmlns:a16="http://schemas.microsoft.com/office/drawing/2014/main" id="{FB333156-6B85-499E-AA98-96344DB0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5740" y="45624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5" name="line-dot">
            <a:extLst xmlns:a="http://schemas.openxmlformats.org/drawingml/2006/main">
              <a:ext uri="{FF2B5EF4-FFF2-40B4-BE49-F238E27FC236}">
                <a16:creationId xmlns:a16="http://schemas.microsoft.com/office/drawing/2014/main" id="{4065EBA3-DD06-45B5-BDE4-13DD7B94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8135" y="46005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6" name="line-dot">
            <a:extLst xmlns:a="http://schemas.openxmlformats.org/drawingml/2006/main">
              <a:ext uri="{FF2B5EF4-FFF2-40B4-BE49-F238E27FC236}">
                <a16:creationId xmlns:a16="http://schemas.microsoft.com/office/drawing/2014/main" id="{D6BBA27A-2CE1-4FF5-AB0B-1670D9E0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530" y="46386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7" name="line-dot">
            <a:extLst xmlns:a="http://schemas.openxmlformats.org/drawingml/2006/main">
              <a:ext uri="{FF2B5EF4-FFF2-40B4-BE49-F238E27FC236}">
                <a16:creationId xmlns:a16="http://schemas.microsoft.com/office/drawing/2014/main" id="{4EDE7175-A9DD-41D7-B96A-E3C8E987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6767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1EE489B-BF4D-41AB-BF5D-D0777480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171950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A5B2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A5B2D"/>
                </a:solidFill>
                <a:latin typeface="Aptos"/>
                <a:ea typeface="Aptos"/>
                <a:cs typeface="Aptos"/>
              </a:rPr>
              <a:t>missing: answered</a:t>
            </a:r>
          </a:p>
        </p:txBody>
      </p:sp>
      <p:sp>
        <p:nvSpPr>
          <p:cNvPr id="49" name="line-h">
            <a:extLst xmlns:a="http://schemas.openxmlformats.org/drawingml/2006/main">
              <a:ext uri="{FF2B5EF4-FFF2-40B4-BE49-F238E27FC236}">
                <a16:creationId xmlns:a16="http://schemas.microsoft.com/office/drawing/2014/main" id="{CF4C57DA-B533-454B-A204-18F48DD4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10000"/>
            <a:ext cx="108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0" name="line-h">
            <a:extLst xmlns:a="http://schemas.openxmlformats.org/drawingml/2006/main">
              <a:ext uri="{FF2B5EF4-FFF2-40B4-BE49-F238E27FC236}">
                <a16:creationId xmlns:a16="http://schemas.microsoft.com/office/drawing/2014/main" id="{C62A424F-712B-42E1-AC7B-5AB6E3E9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86300"/>
            <a:ext cx="108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58F8172-FBB1-4328-9685-A9032C80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27685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97277"/>
                </a:solidFill>
                <a:latin typeface="Aptos"/>
                <a:ea typeface="Aptos"/>
                <a:cs typeface="Aptos"/>
              </a:rPr>
              <a:t>Later readers see artifacts, but not the question each artifact was meant to resolve.</a:t>
            </a:r>
          </a:p>
        </p:txBody>
      </p:sp>
    </p:spTree>
    <p:extLst>
      <p:ext uri="{BB962C8B-B14F-4D97-AF65-F5344CB8AC3E}">
        <p14:creationId xmlns:p14="http://schemas.microsoft.com/office/powerpoint/2010/main" val="151033294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14338B9-79AE-46CD-AE8D-76463CCB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F7F6F1"/>
            </a:solidFill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5AACC1C6-6A9D-4C26-8EA4-A36957DD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5F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5F6F"/>
                </a:solidFill>
                <a:latin typeface="Aptos"/>
                <a:ea typeface="Aptos"/>
                <a:cs typeface="Aptos"/>
              </a:rPr>
              <a:t>PROBLEM 2</a:t>
            </a:r>
          </a:p>
        </p:txBody>
      </p:sp>
      <p:sp>
        <p:nvSpPr>
          <p:cNvPr id="3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69D5B165-3425-4E7B-8C52-074196E4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6F"/>
          </a:solidFill>
          <a:ln xmlns:a="http://schemas.openxmlformats.org/drawingml/2006/main" w="0">
            <a:solidFill>
              <a:srgbClr val="2F5F6F"/>
            </a:solidFill>
            <a:prstDash val="solid"/>
          </a:ln>
        </p:spPr>
      </p:sp>
      <p:sp>
        <p:nvSpPr>
          <p:cNvPr id="4" name="source-note">
            <a:extLst xmlns:a="http://schemas.openxmlformats.org/drawingml/2006/main">
              <a:ext uri="{FF2B5EF4-FFF2-40B4-BE49-F238E27FC236}">
                <a16:creationId xmlns:a16="http://schemas.microsoft.com/office/drawing/2014/main" id="{56FE963A-6654-40B3-8020-C27D6498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97277"/>
                </a:solidFill>
                <a:latin typeface="Aptos"/>
                <a:ea typeface="Aptos"/>
                <a:cs typeface="Aptos"/>
              </a:rPr>
              <a:t>Source: docs/research-group-presentation.md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70F26C9-A849-4D1C-A93F-BD1C4182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97277"/>
                </a:solidFill>
                <a:latin typeface="Aptos"/>
              </a:rPr>
              <a:t>05</a:t>
            </a:r>
          </a:p>
        </p:txBody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D0902B6D-DC9C-4662-A277-3E94020E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933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0262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20262A"/>
                </a:solidFill>
                <a:latin typeface="Aptos Display"/>
                <a:ea typeface="Aptos Display"/>
                <a:cs typeface="Aptos Display"/>
              </a:rPr>
              <a:t>Problem 2: assistants inherit the missing context.</a:t>
            </a:r>
          </a:p>
        </p:txBody>
      </p:sp>
      <p:sp>
        <p:nvSpPr>
          <p:cNvPr id="7" name="box-Problem 1&#10;record loses rationale">
            <a:extLst xmlns:a="http://schemas.openxmlformats.org/drawingml/2006/main">
              <a:ext uri="{FF2B5EF4-FFF2-40B4-BE49-F238E27FC236}">
                <a16:creationId xmlns:a16="http://schemas.microsoft.com/office/drawing/2014/main" id="{C0B9FEFD-D3D5-4345-A7D4-BF807472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81300"/>
            <a:ext cx="2209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8A198"/>
            </a:solidFill>
            <a:prstDash val="solid"/>
          </a:ln>
        </p:spPr>
      </p:sp>
      <p:sp>
        <p:nvSpPr>
          <p:cNvPr id="8" name="label-Problem 1&#10;record loses rationale">
            <a:extLst xmlns:a="http://schemas.openxmlformats.org/drawingml/2006/main">
              <a:ext uri="{FF2B5EF4-FFF2-40B4-BE49-F238E27FC236}">
                <a16:creationId xmlns:a16="http://schemas.microsoft.com/office/drawing/2014/main" id="{3CD47931-5897-4D0F-AECE-E0DA7659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956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Problem 1</a:t>
            </a:r>
          </a:p>
          <a:p xmlns:a="http://schemas.openxmlformats.org/drawingml/2006/main">
            <a:pPr algn="ctr">
              <a:defRPr sz="90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record loses rationale</a:t>
            </a:r>
          </a:p>
        </p:txBody>
      </p:sp>
      <p:sp>
        <p:nvSpPr>
          <p:cNvPr id="9" name="line-h">
            <a:extLst xmlns:a="http://schemas.openxmlformats.org/drawingml/2006/main">
              <a:ext uri="{FF2B5EF4-FFF2-40B4-BE49-F238E27FC236}">
                <a16:creationId xmlns:a16="http://schemas.microsoft.com/office/drawing/2014/main" id="{E5425C6C-4626-4314-B5E3-D973EE03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28950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10" name="box-Problem 2&#10;assistant lacks goals">
            <a:extLst xmlns:a="http://schemas.openxmlformats.org/drawingml/2006/main">
              <a:ext uri="{FF2B5EF4-FFF2-40B4-BE49-F238E27FC236}">
                <a16:creationId xmlns:a16="http://schemas.microsoft.com/office/drawing/2014/main" id="{655F9B42-FD90-4404-B261-85DD5C63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81300"/>
            <a:ext cx="2209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6D8"/>
          </a:solidFill>
          <a:ln xmlns:a="http://schemas.openxmlformats.org/drawingml/2006/main" w="11430">
            <a:solidFill>
              <a:srgbClr val="8A5B2D"/>
            </a:solidFill>
            <a:prstDash val="solid"/>
          </a:ln>
        </p:spPr>
      </p:sp>
      <p:sp>
        <p:nvSpPr>
          <p:cNvPr id="11" name="label-Problem 2&#10;assistant lacks goals">
            <a:extLst xmlns:a="http://schemas.openxmlformats.org/drawingml/2006/main">
              <a:ext uri="{FF2B5EF4-FFF2-40B4-BE49-F238E27FC236}">
                <a16:creationId xmlns:a16="http://schemas.microsoft.com/office/drawing/2014/main" id="{A2EAABFD-EC45-40C3-B4B7-E3421AB1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956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62A"/>
                </a:solidFill>
                <a:latin typeface="Aptos"/>
                <a:ea typeface="Aptos"/>
                <a:cs typeface="Aptos"/>
              </a:rPr>
              <a:t>Problem 2</a:t>
            </a:r>
          </a:p>
          <a:p xmlns:a="http://schemas.openxmlformats.org/drawingml/2006/main">
            <a:pPr algn="ctr">
              <a:defRPr sz="900" b="1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62A"/>
                </a:solidFill>
                <a:latin typeface="Aptos"/>
                <a:ea typeface="Aptos"/>
                <a:cs typeface="Aptos"/>
              </a:rPr>
              <a:t>assistant lacks goals</a:t>
            </a:r>
          </a:p>
        </p:txBody>
      </p:sp>
      <p:sp>
        <p:nvSpPr>
          <p:cNvPr id="12" name="line-h">
            <a:extLst xmlns:a="http://schemas.openxmlformats.org/drawingml/2006/main">
              <a:ext uri="{FF2B5EF4-FFF2-40B4-BE49-F238E27FC236}">
                <a16:creationId xmlns:a16="http://schemas.microsoft.com/office/drawing/2014/main" id="{785D6754-2BCF-441B-BD6A-9296E4E0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28950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13" name="box-Problem 3&#10;manual upkeep fails">
            <a:extLst xmlns:a="http://schemas.openxmlformats.org/drawingml/2006/main">
              <a:ext uri="{FF2B5EF4-FFF2-40B4-BE49-F238E27FC236}">
                <a16:creationId xmlns:a16="http://schemas.microsoft.com/office/drawing/2014/main" id="{8FF494B6-BB51-4921-BDC5-20A103FD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81300"/>
            <a:ext cx="2209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8A198"/>
            </a:solidFill>
            <a:prstDash val="solid"/>
          </a:ln>
        </p:spPr>
      </p:sp>
      <p:sp>
        <p:nvSpPr>
          <p:cNvPr id="14" name="label-Problem 3&#10;manual upkeep fails">
            <a:extLst xmlns:a="http://schemas.openxmlformats.org/drawingml/2006/main">
              <a:ext uri="{FF2B5EF4-FFF2-40B4-BE49-F238E27FC236}">
                <a16:creationId xmlns:a16="http://schemas.microsoft.com/office/drawing/2014/main" id="{5A1C352F-FF44-4EDE-807F-1486AFC2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956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Problem 3</a:t>
            </a:r>
          </a:p>
          <a:p xmlns:a="http://schemas.openxmlformats.org/drawingml/2006/main">
            <a:pPr algn="ctr">
              <a:defRPr sz="90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manual upkeep fails</a:t>
            </a:r>
          </a:p>
        </p:txBody>
      </p:sp>
      <p:sp>
        <p:nvSpPr>
          <p:cNvPr id="15" name="box-prompt + files">
            <a:extLst xmlns:a="http://schemas.openxmlformats.org/drawingml/2006/main">
              <a:ext uri="{FF2B5EF4-FFF2-40B4-BE49-F238E27FC236}">
                <a16:creationId xmlns:a16="http://schemas.microsoft.com/office/drawing/2014/main" id="{ACFC4799-5D3C-42F0-8927-F81B4726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48100"/>
            <a:ext cx="1981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</p:sp>
      <p:sp>
        <p:nvSpPr>
          <p:cNvPr id="16" name="label-prompt + files">
            <a:extLst xmlns:a="http://schemas.openxmlformats.org/drawingml/2006/main">
              <a:ext uri="{FF2B5EF4-FFF2-40B4-BE49-F238E27FC236}">
                <a16:creationId xmlns:a16="http://schemas.microsoft.com/office/drawing/2014/main" id="{824B61D0-52B7-4F4A-9DD9-81047A7B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624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prompt + files</a:t>
            </a:r>
          </a:p>
        </p:txBody>
      </p:sp>
      <p:sp>
        <p:nvSpPr>
          <p:cNvPr id="17" name="box-model">
            <a:extLst xmlns:a="http://schemas.openxmlformats.org/drawingml/2006/main">
              <a:ext uri="{FF2B5EF4-FFF2-40B4-BE49-F238E27FC236}">
                <a16:creationId xmlns:a16="http://schemas.microsoft.com/office/drawing/2014/main" id="{864DB356-5AC0-498F-8BD2-101BB26B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48100"/>
            <a:ext cx="1600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</p:sp>
      <p:sp>
        <p:nvSpPr>
          <p:cNvPr id="18" name="label-model">
            <a:extLst xmlns:a="http://schemas.openxmlformats.org/drawingml/2006/main">
              <a:ext uri="{FF2B5EF4-FFF2-40B4-BE49-F238E27FC236}">
                <a16:creationId xmlns:a16="http://schemas.microsoft.com/office/drawing/2014/main" id="{DB2F1415-1E8F-4670-BE3C-FC3DE2C8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624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9" name="box-plausible output">
            <a:extLst xmlns:a="http://schemas.openxmlformats.org/drawingml/2006/main">
              <a:ext uri="{FF2B5EF4-FFF2-40B4-BE49-F238E27FC236}">
                <a16:creationId xmlns:a16="http://schemas.microsoft.com/office/drawing/2014/main" id="{FC727E41-6738-4C28-9429-978C2FE4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48100"/>
            <a:ext cx="2171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</p:sp>
      <p:sp>
        <p:nvSpPr>
          <p:cNvPr id="20" name="label-plausible output">
            <a:extLst xmlns:a="http://schemas.openxmlformats.org/drawingml/2006/main">
              <a:ext uri="{FF2B5EF4-FFF2-40B4-BE49-F238E27FC236}">
                <a16:creationId xmlns:a16="http://schemas.microsoft.com/office/drawing/2014/main" id="{294A9429-BCA7-451C-B1D4-9F144D32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624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plausible output</a:t>
            </a:r>
          </a:p>
        </p:txBody>
      </p:sp>
      <p:sp>
        <p:nvSpPr>
          <p:cNvPr id="21" name="line-h">
            <a:extLst xmlns:a="http://schemas.openxmlformats.org/drawingml/2006/main">
              <a:ext uri="{FF2B5EF4-FFF2-40B4-BE49-F238E27FC236}">
                <a16:creationId xmlns:a16="http://schemas.microsoft.com/office/drawing/2014/main" id="{952A0222-AC84-4D24-9761-32C95F75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9575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22" name="line-h">
            <a:extLst xmlns:a="http://schemas.openxmlformats.org/drawingml/2006/main">
              <a:ext uri="{FF2B5EF4-FFF2-40B4-BE49-F238E27FC236}">
                <a16:creationId xmlns:a16="http://schemas.microsoft.com/office/drawing/2014/main" id="{A34C537E-8192-434A-9D24-E20F2B9D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95750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23" name="box-project goal">
            <a:extLst xmlns:a="http://schemas.openxmlformats.org/drawingml/2006/main">
              <a:ext uri="{FF2B5EF4-FFF2-40B4-BE49-F238E27FC236}">
                <a16:creationId xmlns:a16="http://schemas.microsoft.com/office/drawing/2014/main" id="{7A6A2888-6832-43D0-91B7-EF5D85B1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101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DED4"/>
            </a:solidFill>
            <a:prstDash val="solid"/>
          </a:ln>
        </p:spPr>
      </p:sp>
      <p:sp>
        <p:nvSpPr>
          <p:cNvPr id="24" name="label-project goal">
            <a:extLst xmlns:a="http://schemas.openxmlformats.org/drawingml/2006/main">
              <a:ext uri="{FF2B5EF4-FFF2-40B4-BE49-F238E27FC236}">
                <a16:creationId xmlns:a16="http://schemas.microsoft.com/office/drawing/2014/main" id="{3524830F-494C-4A2C-810C-B54CA278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2445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project goal</a:t>
            </a:r>
          </a:p>
        </p:txBody>
      </p:sp>
      <p:sp>
        <p:nvSpPr>
          <p:cNvPr id="25" name="box-question hierarchy">
            <a:extLst xmlns:a="http://schemas.openxmlformats.org/drawingml/2006/main">
              <a:ext uri="{FF2B5EF4-FFF2-40B4-BE49-F238E27FC236}">
                <a16:creationId xmlns:a16="http://schemas.microsoft.com/office/drawing/2014/main" id="{9B34217C-1990-440C-900F-4E9EAB93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0101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DED4"/>
            </a:solidFill>
            <a:prstDash val="solid"/>
          </a:ln>
        </p:spPr>
      </p:sp>
      <p:sp>
        <p:nvSpPr>
          <p:cNvPr id="26" name="label-question hierarchy">
            <a:extLst xmlns:a="http://schemas.openxmlformats.org/drawingml/2006/main">
              <a:ext uri="{FF2B5EF4-FFF2-40B4-BE49-F238E27FC236}">
                <a16:creationId xmlns:a16="http://schemas.microsoft.com/office/drawing/2014/main" id="{0084DB93-0499-416E-BAE6-25C3CFE0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12445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question hierarchy</a:t>
            </a:r>
          </a:p>
        </p:txBody>
      </p:sp>
      <p:sp>
        <p:nvSpPr>
          <p:cNvPr id="27" name="box-prior claims">
            <a:extLst xmlns:a="http://schemas.openxmlformats.org/drawingml/2006/main">
              <a:ext uri="{FF2B5EF4-FFF2-40B4-BE49-F238E27FC236}">
                <a16:creationId xmlns:a16="http://schemas.microsoft.com/office/drawing/2014/main" id="{B2CE4AFB-CC61-4FBB-86FB-86EF0094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101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DED4"/>
            </a:solidFill>
            <a:prstDash val="solid"/>
          </a:ln>
        </p:spPr>
      </p:sp>
      <p:sp>
        <p:nvSpPr>
          <p:cNvPr id="28" name="label-prior claims">
            <a:extLst xmlns:a="http://schemas.openxmlformats.org/drawingml/2006/main">
              <a:ext uri="{FF2B5EF4-FFF2-40B4-BE49-F238E27FC236}">
                <a16:creationId xmlns:a16="http://schemas.microsoft.com/office/drawing/2014/main" id="{1E78364C-473A-44ED-B8F1-92F5FC7E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12445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prior claims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469A58-24E8-4C18-BC64-5D3AF525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482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A5B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A5B2D"/>
                </a:solidFill>
                <a:latin typeface="Aptos"/>
                <a:ea typeface="Aptos"/>
                <a:cs typeface="Aptos"/>
              </a:rPr>
              <a:t>not in the prompt</a:t>
            </a:r>
          </a:p>
        </p:txBody>
      </p:sp>
      <p:sp>
        <p:nvSpPr>
          <p:cNvPr id="30" name="line-v">
            <a:extLst xmlns:a="http://schemas.openxmlformats.org/drawingml/2006/main">
              <a:ext uri="{FF2B5EF4-FFF2-40B4-BE49-F238E27FC236}">
                <a16:creationId xmlns:a16="http://schemas.microsoft.com/office/drawing/2014/main" id="{EE2BC367-9E3B-4BBB-87D4-5239F063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343400"/>
            <a:ext cx="19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D24D32-6622-4FA4-B643-C74B881B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65785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97277"/>
                </a:solidFill>
                <a:latin typeface="Aptos"/>
                <a:ea typeface="Aptos"/>
                <a:cs typeface="Aptos"/>
              </a:rPr>
              <a:t>The failure is not reasoning capacity. It is absence of lab-specific context.</a:t>
            </a:r>
          </a:p>
        </p:txBody>
      </p:sp>
    </p:spTree>
    <p:extLst>
      <p:ext uri="{BB962C8B-B14F-4D97-AF65-F5344CB8AC3E}">
        <p14:creationId xmlns:p14="http://schemas.microsoft.com/office/powerpoint/2010/main" val="146673563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874E194-5A2F-41AF-9F8F-743EAD29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F7F6F1"/>
            </a:solidFill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4BB4444D-D8F8-4CD4-B0A3-B0164FEE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5F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5F6F"/>
                </a:solidFill>
                <a:latin typeface="Aptos"/>
                <a:ea typeface="Aptos"/>
                <a:cs typeface="Aptos"/>
              </a:rPr>
              <a:t>PROBLEM 3</a:t>
            </a:r>
          </a:p>
        </p:txBody>
      </p:sp>
      <p:sp>
        <p:nvSpPr>
          <p:cNvPr id="3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CDAE4257-1B40-4E1F-8718-6643880D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6F"/>
          </a:solidFill>
          <a:ln xmlns:a="http://schemas.openxmlformats.org/drawingml/2006/main" w="0">
            <a:solidFill>
              <a:srgbClr val="2F5F6F"/>
            </a:solidFill>
            <a:prstDash val="solid"/>
          </a:ln>
        </p:spPr>
      </p:sp>
      <p:sp>
        <p:nvSpPr>
          <p:cNvPr id="4" name="source-note">
            <a:extLst xmlns:a="http://schemas.openxmlformats.org/drawingml/2006/main">
              <a:ext uri="{FF2B5EF4-FFF2-40B4-BE49-F238E27FC236}">
                <a16:creationId xmlns:a16="http://schemas.microsoft.com/office/drawing/2014/main" id="{E740CE1A-AE97-451B-A8E7-4082D89F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97277"/>
                </a:solidFill>
                <a:latin typeface="Aptos"/>
                <a:ea typeface="Aptos"/>
                <a:cs typeface="Aptos"/>
              </a:rPr>
              <a:t>Source: docs/research-group-presentation.md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6A151E6-85AC-4E8D-9255-2ECF2B08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97277"/>
                </a:solidFill>
                <a:latin typeface="Aptos"/>
              </a:rPr>
              <a:t>06</a:t>
            </a:r>
          </a:p>
        </p:txBody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7B65DC40-BB52-4722-8DE7-D022A13E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933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0262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20262A"/>
                </a:solidFill>
                <a:latin typeface="Aptos Display"/>
                <a:ea typeface="Aptos Display"/>
                <a:cs typeface="Aptos Display"/>
              </a:rPr>
              <a:t>Problem 3: complete context is not maintainable by manual bookkeeping.</a:t>
            </a:r>
          </a:p>
        </p:txBody>
      </p:sp>
      <p:sp>
        <p:nvSpPr>
          <p:cNvPr id="7" name="box-Problem 1&#10;record loses rationale">
            <a:extLst xmlns:a="http://schemas.openxmlformats.org/drawingml/2006/main">
              <a:ext uri="{FF2B5EF4-FFF2-40B4-BE49-F238E27FC236}">
                <a16:creationId xmlns:a16="http://schemas.microsoft.com/office/drawing/2014/main" id="{8EAC5C3C-E360-4EA6-BE37-CD8805B0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81300"/>
            <a:ext cx="2209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8A198"/>
            </a:solidFill>
            <a:prstDash val="solid"/>
          </a:ln>
        </p:spPr>
      </p:sp>
      <p:sp>
        <p:nvSpPr>
          <p:cNvPr id="8" name="label-Problem 1&#10;record loses rationale">
            <a:extLst xmlns:a="http://schemas.openxmlformats.org/drawingml/2006/main">
              <a:ext uri="{FF2B5EF4-FFF2-40B4-BE49-F238E27FC236}">
                <a16:creationId xmlns:a16="http://schemas.microsoft.com/office/drawing/2014/main" id="{BC3A8246-24D3-4BDB-AAC7-F203D41D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956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Problem 1</a:t>
            </a:r>
          </a:p>
          <a:p xmlns:a="http://schemas.openxmlformats.org/drawingml/2006/main">
            <a:pPr algn="ctr">
              <a:defRPr sz="90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record loses rationale</a:t>
            </a:r>
          </a:p>
        </p:txBody>
      </p:sp>
      <p:sp>
        <p:nvSpPr>
          <p:cNvPr id="9" name="line-h">
            <a:extLst xmlns:a="http://schemas.openxmlformats.org/drawingml/2006/main">
              <a:ext uri="{FF2B5EF4-FFF2-40B4-BE49-F238E27FC236}">
                <a16:creationId xmlns:a16="http://schemas.microsoft.com/office/drawing/2014/main" id="{119639AA-34AB-4D85-8E30-406142E4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28950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10" name="box-Problem 2&#10;assistant lacks goals">
            <a:extLst xmlns:a="http://schemas.openxmlformats.org/drawingml/2006/main">
              <a:ext uri="{FF2B5EF4-FFF2-40B4-BE49-F238E27FC236}">
                <a16:creationId xmlns:a16="http://schemas.microsoft.com/office/drawing/2014/main" id="{5D2BEB1A-96B2-46FF-9111-37FEFD8C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81300"/>
            <a:ext cx="2209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8A198"/>
            </a:solidFill>
            <a:prstDash val="solid"/>
          </a:ln>
        </p:spPr>
      </p:sp>
      <p:sp>
        <p:nvSpPr>
          <p:cNvPr id="11" name="label-Problem 2&#10;assistant lacks goals">
            <a:extLst xmlns:a="http://schemas.openxmlformats.org/drawingml/2006/main">
              <a:ext uri="{FF2B5EF4-FFF2-40B4-BE49-F238E27FC236}">
                <a16:creationId xmlns:a16="http://schemas.microsoft.com/office/drawing/2014/main" id="{2FD48647-9C14-48DD-BA1B-6F2BBBF6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956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Problem 2</a:t>
            </a:r>
          </a:p>
          <a:p xmlns:a="http://schemas.openxmlformats.org/drawingml/2006/main">
            <a:pPr algn="ctr">
              <a:defRPr sz="90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assistant lacks goals</a:t>
            </a:r>
          </a:p>
        </p:txBody>
      </p:sp>
      <p:sp>
        <p:nvSpPr>
          <p:cNvPr id="12" name="line-h">
            <a:extLst xmlns:a="http://schemas.openxmlformats.org/drawingml/2006/main">
              <a:ext uri="{FF2B5EF4-FFF2-40B4-BE49-F238E27FC236}">
                <a16:creationId xmlns:a16="http://schemas.microsoft.com/office/drawing/2014/main" id="{4F451475-0CF4-4229-B458-EDF38BF6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28950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13" name="box-Problem 3&#10;manual upkeep fails">
            <a:extLst xmlns:a="http://schemas.openxmlformats.org/drawingml/2006/main">
              <a:ext uri="{FF2B5EF4-FFF2-40B4-BE49-F238E27FC236}">
                <a16:creationId xmlns:a16="http://schemas.microsoft.com/office/drawing/2014/main" id="{473FC323-66DD-4D3C-82B2-920E3F06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81300"/>
            <a:ext cx="2209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6D8"/>
          </a:solidFill>
          <a:ln xmlns:a="http://schemas.openxmlformats.org/drawingml/2006/main" w="11430">
            <a:solidFill>
              <a:srgbClr val="8A5B2D"/>
            </a:solidFill>
            <a:prstDash val="solid"/>
          </a:ln>
        </p:spPr>
      </p:sp>
      <p:sp>
        <p:nvSpPr>
          <p:cNvPr id="14" name="label-Problem 3&#10;manual upkeep fails">
            <a:extLst xmlns:a="http://schemas.openxmlformats.org/drawingml/2006/main">
              <a:ext uri="{FF2B5EF4-FFF2-40B4-BE49-F238E27FC236}">
                <a16:creationId xmlns:a16="http://schemas.microsoft.com/office/drawing/2014/main" id="{67AD166A-A76C-41B2-8634-2575C794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956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62A"/>
                </a:solidFill>
                <a:latin typeface="Aptos"/>
                <a:ea typeface="Aptos"/>
                <a:cs typeface="Aptos"/>
              </a:rPr>
              <a:t>Problem 3</a:t>
            </a:r>
          </a:p>
          <a:p xmlns:a="http://schemas.openxmlformats.org/drawingml/2006/main">
            <a:pPr algn="ctr">
              <a:defRPr sz="900" b="1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62A"/>
                </a:solidFill>
                <a:latin typeface="Aptos"/>
                <a:ea typeface="Aptos"/>
                <a:cs typeface="Aptos"/>
              </a:rPr>
              <a:t>manual upkeep fails</a:t>
            </a:r>
          </a:p>
        </p:txBody>
      </p:sp>
      <p:sp>
        <p:nvSpPr>
          <p:cNvPr id="15" name="box-new note">
            <a:extLst xmlns:a="http://schemas.openxmlformats.org/drawingml/2006/main">
              <a:ext uri="{FF2B5EF4-FFF2-40B4-BE49-F238E27FC236}">
                <a16:creationId xmlns:a16="http://schemas.microsoft.com/office/drawing/2014/main" id="{8AF86083-E7D7-448D-B653-39F0EE58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62400"/>
            <a:ext cx="1638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</p:sp>
      <p:sp>
        <p:nvSpPr>
          <p:cNvPr id="16" name="label-new note">
            <a:extLst xmlns:a="http://schemas.openxmlformats.org/drawingml/2006/main">
              <a:ext uri="{FF2B5EF4-FFF2-40B4-BE49-F238E27FC236}">
                <a16:creationId xmlns:a16="http://schemas.microsoft.com/office/drawing/2014/main" id="{B8F243A5-E2D6-4254-A2D0-0EB1DEB5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7670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new note</a:t>
            </a:r>
          </a:p>
        </p:txBody>
      </p:sp>
      <p:sp>
        <p:nvSpPr>
          <p:cNvPr id="17" name="box-new analysis">
            <a:extLst xmlns:a="http://schemas.openxmlformats.org/drawingml/2006/main">
              <a:ext uri="{FF2B5EF4-FFF2-40B4-BE49-F238E27FC236}">
                <a16:creationId xmlns:a16="http://schemas.microsoft.com/office/drawing/2014/main" id="{AFF13379-38D6-4EB8-8894-19E118E3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62500"/>
            <a:ext cx="1638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</p:sp>
      <p:sp>
        <p:nvSpPr>
          <p:cNvPr id="18" name="label-new analysis">
            <a:extLst xmlns:a="http://schemas.openxmlformats.org/drawingml/2006/main">
              <a:ext uri="{FF2B5EF4-FFF2-40B4-BE49-F238E27FC236}">
                <a16:creationId xmlns:a16="http://schemas.microsoft.com/office/drawing/2014/main" id="{626E6019-6937-4E93-8896-E8D38579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7680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new analysis</a:t>
            </a:r>
          </a:p>
        </p:txBody>
      </p:sp>
      <p:sp>
        <p:nvSpPr>
          <p:cNvPr id="19" name="box-link note -&gt; question">
            <a:extLst xmlns:a="http://schemas.openxmlformats.org/drawingml/2006/main">
              <a:ext uri="{FF2B5EF4-FFF2-40B4-BE49-F238E27FC236}">
                <a16:creationId xmlns:a16="http://schemas.microsoft.com/office/drawing/2014/main" id="{8E3DC156-BEE2-4A5B-9222-893F0053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5623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</p:sp>
      <p:sp>
        <p:nvSpPr>
          <p:cNvPr id="20" name="label-link note -&gt; question">
            <a:extLst xmlns:a="http://schemas.openxmlformats.org/drawingml/2006/main">
              <a:ext uri="{FF2B5EF4-FFF2-40B4-BE49-F238E27FC236}">
                <a16:creationId xmlns:a16="http://schemas.microsoft.com/office/drawing/2014/main" id="{37FA5C44-CBF2-4F68-B743-5EA328AD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766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link note -&gt; question</a:t>
            </a:r>
          </a:p>
        </p:txBody>
      </p:sp>
      <p:sp>
        <p:nvSpPr>
          <p:cNvPr id="21" name="box-link dataset -&gt; question">
            <a:extLst xmlns:a="http://schemas.openxmlformats.org/drawingml/2006/main">
              <a:ext uri="{FF2B5EF4-FFF2-40B4-BE49-F238E27FC236}">
                <a16:creationId xmlns:a16="http://schemas.microsoft.com/office/drawing/2014/main" id="{5E968564-E1AC-4D82-B623-115026B4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</p:sp>
      <p:sp>
        <p:nvSpPr>
          <p:cNvPr id="22" name="label-link dataset -&gt; question">
            <a:extLst xmlns:a="http://schemas.openxmlformats.org/drawingml/2006/main">
              <a:ext uri="{FF2B5EF4-FFF2-40B4-BE49-F238E27FC236}">
                <a16:creationId xmlns:a16="http://schemas.microsoft.com/office/drawing/2014/main" id="{02514980-139A-4B24-9F0B-BAA03547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8150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link dataset -&gt; question</a:t>
            </a:r>
          </a:p>
        </p:txBody>
      </p:sp>
      <p:sp>
        <p:nvSpPr>
          <p:cNvPr id="23" name="box-link claim -&gt; evidence">
            <a:extLst xmlns:a="http://schemas.openxmlformats.org/drawingml/2006/main">
              <a:ext uri="{FF2B5EF4-FFF2-40B4-BE49-F238E27FC236}">
                <a16:creationId xmlns:a16="http://schemas.microsoft.com/office/drawing/2014/main" id="{08579966-6D86-4453-AE9B-D4D0695F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9720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</p:sp>
      <p:sp>
        <p:nvSpPr>
          <p:cNvPr id="24" name="label-link claim -&gt; evidence">
            <a:extLst xmlns:a="http://schemas.openxmlformats.org/drawingml/2006/main">
              <a:ext uri="{FF2B5EF4-FFF2-40B4-BE49-F238E27FC236}">
                <a16:creationId xmlns:a16="http://schemas.microsoft.com/office/drawing/2014/main" id="{2ACE598B-B018-4DD7-A49E-6B1612F2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0863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link claim -&gt; evidence</a:t>
            </a:r>
          </a:p>
        </p:txBody>
      </p:sp>
      <p:sp>
        <p:nvSpPr>
          <p:cNvPr id="25" name="box-current graph">
            <a:extLst xmlns:a="http://schemas.openxmlformats.org/drawingml/2006/main">
              <a:ext uri="{FF2B5EF4-FFF2-40B4-BE49-F238E27FC236}">
                <a16:creationId xmlns:a16="http://schemas.microsoft.com/office/drawing/2014/main" id="{E2757F54-04D6-413E-84EA-CE6BD23C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67200"/>
            <a:ext cx="1981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A"/>
          </a:solidFill>
          <a:ln xmlns:a="http://schemas.openxmlformats.org/drawingml/2006/main" w="11430">
            <a:solidFill>
              <a:srgbClr val="2F5F6F"/>
            </a:solidFill>
            <a:prstDash val="solid"/>
          </a:ln>
        </p:spPr>
      </p:sp>
      <p:sp>
        <p:nvSpPr>
          <p:cNvPr id="26" name="label-current graph">
            <a:extLst xmlns:a="http://schemas.openxmlformats.org/drawingml/2006/main">
              <a:ext uri="{FF2B5EF4-FFF2-40B4-BE49-F238E27FC236}">
                <a16:creationId xmlns:a16="http://schemas.microsoft.com/office/drawing/2014/main" id="{A5224BDB-AB29-4B26-B542-B84143DE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8150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62A"/>
                </a:solidFill>
                <a:latin typeface="Aptos"/>
                <a:ea typeface="Aptos"/>
                <a:cs typeface="Aptos"/>
              </a:rPr>
              <a:t>current graph</a:t>
            </a:r>
          </a:p>
        </p:txBody>
      </p:sp>
      <p:sp>
        <p:nvSpPr>
          <p:cNvPr id="27" name="line-dot">
            <a:extLst xmlns:a="http://schemas.openxmlformats.org/drawingml/2006/main">
              <a:ext uri="{FF2B5EF4-FFF2-40B4-BE49-F238E27FC236}">
                <a16:creationId xmlns:a16="http://schemas.microsoft.com/office/drawing/2014/main" id="{41BAE14D-40F6-404D-BE03-BD2CE9E9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1814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28" name="line-dot">
            <a:extLst xmlns:a="http://schemas.openxmlformats.org/drawingml/2006/main">
              <a:ext uri="{FF2B5EF4-FFF2-40B4-BE49-F238E27FC236}">
                <a16:creationId xmlns:a16="http://schemas.microsoft.com/office/drawing/2014/main" id="{3F82AEB8-1707-4C58-A839-CE481E0A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4140518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29" name="line-dot">
            <a:extLst xmlns:a="http://schemas.openxmlformats.org/drawingml/2006/main">
              <a:ext uri="{FF2B5EF4-FFF2-40B4-BE49-F238E27FC236}">
                <a16:creationId xmlns:a16="http://schemas.microsoft.com/office/drawing/2014/main" id="{4B83FB86-7A70-4DA1-84BE-46E718AF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055" y="409956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30" name="line-dot">
            <a:extLst xmlns:a="http://schemas.openxmlformats.org/drawingml/2006/main">
              <a:ext uri="{FF2B5EF4-FFF2-40B4-BE49-F238E27FC236}">
                <a16:creationId xmlns:a16="http://schemas.microsoft.com/office/drawing/2014/main" id="{BFF01A0F-3848-4E57-8494-BE31D4AD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4058603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31" name="line-dot">
            <a:extLst xmlns:a="http://schemas.openxmlformats.org/drawingml/2006/main">
              <a:ext uri="{FF2B5EF4-FFF2-40B4-BE49-F238E27FC236}">
                <a16:creationId xmlns:a16="http://schemas.microsoft.com/office/drawing/2014/main" id="{78DF0ABA-7172-4AE6-B1D7-A33F1C1D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5185" y="401764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32" name="line-dot">
            <a:extLst xmlns:a="http://schemas.openxmlformats.org/drawingml/2006/main">
              <a:ext uri="{FF2B5EF4-FFF2-40B4-BE49-F238E27FC236}">
                <a16:creationId xmlns:a16="http://schemas.microsoft.com/office/drawing/2014/main" id="{D0C2BEFA-F0B7-4812-920E-59E55DE1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76688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33" name="line-dot">
            <a:extLst xmlns:a="http://schemas.openxmlformats.org/drawingml/2006/main">
              <a:ext uri="{FF2B5EF4-FFF2-40B4-BE49-F238E27FC236}">
                <a16:creationId xmlns:a16="http://schemas.microsoft.com/office/drawing/2014/main" id="{9D9D7042-B2EF-4901-8F14-86147FF8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315" y="393573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34" name="line-dot">
            <a:extLst xmlns:a="http://schemas.openxmlformats.org/drawingml/2006/main">
              <a:ext uri="{FF2B5EF4-FFF2-40B4-BE49-F238E27FC236}">
                <a16:creationId xmlns:a16="http://schemas.microsoft.com/office/drawing/2014/main" id="{8E9B9ACB-7152-4833-92CC-B48F9D1F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2380" y="3894773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35" name="line-dot">
            <a:extLst xmlns:a="http://schemas.openxmlformats.org/drawingml/2006/main">
              <a:ext uri="{FF2B5EF4-FFF2-40B4-BE49-F238E27FC236}">
                <a16:creationId xmlns:a16="http://schemas.microsoft.com/office/drawing/2014/main" id="{284E35C5-965D-4543-89DF-E0653E66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1445" y="385381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36" name="line-dot">
            <a:extLst xmlns:a="http://schemas.openxmlformats.org/drawingml/2006/main">
              <a:ext uri="{FF2B5EF4-FFF2-40B4-BE49-F238E27FC236}">
                <a16:creationId xmlns:a16="http://schemas.microsoft.com/office/drawing/2014/main" id="{E5E661B0-F4FC-474E-8602-AE63E7A2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510" y="3812858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37" name="line-dot">
            <a:extLst xmlns:a="http://schemas.openxmlformats.org/drawingml/2006/main">
              <a:ext uri="{FF2B5EF4-FFF2-40B4-BE49-F238E27FC236}">
                <a16:creationId xmlns:a16="http://schemas.microsoft.com/office/drawing/2014/main" id="{CA208318-0011-4010-8116-81197917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7719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38" name="line-dot">
            <a:extLst xmlns:a="http://schemas.openxmlformats.org/drawingml/2006/main">
              <a:ext uri="{FF2B5EF4-FFF2-40B4-BE49-F238E27FC236}">
                <a16:creationId xmlns:a16="http://schemas.microsoft.com/office/drawing/2014/main" id="{1947F845-9CFB-403C-BC70-7948B921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9815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39" name="line-dot">
            <a:extLst xmlns:a="http://schemas.openxmlformats.org/drawingml/2006/main">
              <a:ext uri="{FF2B5EF4-FFF2-40B4-BE49-F238E27FC236}">
                <a16:creationId xmlns:a16="http://schemas.microsoft.com/office/drawing/2014/main" id="{F39AA964-A033-4504-9BDF-D49141C4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4931093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40" name="line-dot">
            <a:extLst xmlns:a="http://schemas.openxmlformats.org/drawingml/2006/main">
              <a:ext uri="{FF2B5EF4-FFF2-40B4-BE49-F238E27FC236}">
                <a16:creationId xmlns:a16="http://schemas.microsoft.com/office/drawing/2014/main" id="{D1BFB079-0163-4374-AE67-EC28879D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055" y="488061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41" name="line-dot">
            <a:extLst xmlns:a="http://schemas.openxmlformats.org/drawingml/2006/main">
              <a:ext uri="{FF2B5EF4-FFF2-40B4-BE49-F238E27FC236}">
                <a16:creationId xmlns:a16="http://schemas.microsoft.com/office/drawing/2014/main" id="{FEBB1D7C-0E79-4458-91AB-562A33D0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4830128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42" name="line-dot">
            <a:extLst xmlns:a="http://schemas.openxmlformats.org/drawingml/2006/main">
              <a:ext uri="{FF2B5EF4-FFF2-40B4-BE49-F238E27FC236}">
                <a16:creationId xmlns:a16="http://schemas.microsoft.com/office/drawing/2014/main" id="{10C4F598-B84B-4A9B-BB2A-BBC8C771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5185" y="477964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43" name="line-dot">
            <a:extLst xmlns:a="http://schemas.openxmlformats.org/drawingml/2006/main">
              <a:ext uri="{FF2B5EF4-FFF2-40B4-BE49-F238E27FC236}">
                <a16:creationId xmlns:a16="http://schemas.microsoft.com/office/drawing/2014/main" id="{9C56735A-2372-4321-8186-B2073DBA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29163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44" name="line-dot">
            <a:extLst xmlns:a="http://schemas.openxmlformats.org/drawingml/2006/main">
              <a:ext uri="{FF2B5EF4-FFF2-40B4-BE49-F238E27FC236}">
                <a16:creationId xmlns:a16="http://schemas.microsoft.com/office/drawing/2014/main" id="{6D7E77A2-F85D-4447-BEFC-1BC96799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315" y="467868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45" name="line-dot">
            <a:extLst xmlns:a="http://schemas.openxmlformats.org/drawingml/2006/main">
              <a:ext uri="{FF2B5EF4-FFF2-40B4-BE49-F238E27FC236}">
                <a16:creationId xmlns:a16="http://schemas.microsoft.com/office/drawing/2014/main" id="{35CEAD90-438B-4021-8E0F-64FF3B32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2380" y="4628198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46" name="line-dot">
            <a:extLst xmlns:a="http://schemas.openxmlformats.org/drawingml/2006/main">
              <a:ext uri="{FF2B5EF4-FFF2-40B4-BE49-F238E27FC236}">
                <a16:creationId xmlns:a16="http://schemas.microsoft.com/office/drawing/2014/main" id="{E87AF1AB-30F8-41A4-8624-1AD2C35D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1445" y="457771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47" name="line-dot">
            <a:extLst xmlns:a="http://schemas.openxmlformats.org/drawingml/2006/main">
              <a:ext uri="{FF2B5EF4-FFF2-40B4-BE49-F238E27FC236}">
                <a16:creationId xmlns:a16="http://schemas.microsoft.com/office/drawing/2014/main" id="{FA0F54C7-2692-4DD2-A912-50AD7398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510" y="4527233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48" name="line-dot">
            <a:extLst xmlns:a="http://schemas.openxmlformats.org/drawingml/2006/main">
              <a:ext uri="{FF2B5EF4-FFF2-40B4-BE49-F238E27FC236}">
                <a16:creationId xmlns:a16="http://schemas.microsoft.com/office/drawing/2014/main" id="{D16CDE80-3F73-4D8E-8B2A-719BE22B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476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49" name="line-dot">
            <a:extLst xmlns:a="http://schemas.openxmlformats.org/drawingml/2006/main">
              <a:ext uri="{FF2B5EF4-FFF2-40B4-BE49-F238E27FC236}">
                <a16:creationId xmlns:a16="http://schemas.microsoft.com/office/drawing/2014/main" id="{609C0E6A-8032-4522-98B8-707BA7C6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719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50" name="line-dot">
            <a:extLst xmlns:a="http://schemas.openxmlformats.org/drawingml/2006/main">
              <a:ext uri="{FF2B5EF4-FFF2-40B4-BE49-F238E27FC236}">
                <a16:creationId xmlns:a16="http://schemas.microsoft.com/office/drawing/2014/main" id="{FD7E969C-E053-4B05-9C35-A007C471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3235" y="3820478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51" name="line-dot">
            <a:extLst xmlns:a="http://schemas.openxmlformats.org/drawingml/2006/main">
              <a:ext uri="{FF2B5EF4-FFF2-40B4-BE49-F238E27FC236}">
                <a16:creationId xmlns:a16="http://schemas.microsoft.com/office/drawing/2014/main" id="{A1A29ACC-69DD-4576-8251-540DFB47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0395" y="386905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52" name="line-dot">
            <a:extLst xmlns:a="http://schemas.openxmlformats.org/drawingml/2006/main">
              <a:ext uri="{FF2B5EF4-FFF2-40B4-BE49-F238E27FC236}">
                <a16:creationId xmlns:a16="http://schemas.microsoft.com/office/drawing/2014/main" id="{BDA20199-F77D-473E-A9A1-E69606CE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7555" y="3917633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53" name="line-dot">
            <a:extLst xmlns:a="http://schemas.openxmlformats.org/drawingml/2006/main">
              <a:ext uri="{FF2B5EF4-FFF2-40B4-BE49-F238E27FC236}">
                <a16:creationId xmlns:a16="http://schemas.microsoft.com/office/drawing/2014/main" id="{3AFE2EC0-B634-4B7B-9F11-D4DA8D32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4715" y="396621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54" name="line-dot">
            <a:extLst xmlns:a="http://schemas.openxmlformats.org/drawingml/2006/main">
              <a:ext uri="{FF2B5EF4-FFF2-40B4-BE49-F238E27FC236}">
                <a16:creationId xmlns:a16="http://schemas.microsoft.com/office/drawing/2014/main" id="{42C25F7F-C36B-4571-BBC9-1BC4AF0D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014788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55" name="line-dot">
            <a:extLst xmlns:a="http://schemas.openxmlformats.org/drawingml/2006/main">
              <a:ext uri="{FF2B5EF4-FFF2-40B4-BE49-F238E27FC236}">
                <a16:creationId xmlns:a16="http://schemas.microsoft.com/office/drawing/2014/main" id="{40D8AEB5-897F-4CDD-998D-5280721E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035" y="406336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56" name="line-dot">
            <a:extLst xmlns:a="http://schemas.openxmlformats.org/drawingml/2006/main">
              <a:ext uri="{FF2B5EF4-FFF2-40B4-BE49-F238E27FC236}">
                <a16:creationId xmlns:a16="http://schemas.microsoft.com/office/drawing/2014/main" id="{1CF716FA-B524-4C3D-8CF9-1DF6BF23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6195" y="4111943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57" name="line-dot">
            <a:extLst xmlns:a="http://schemas.openxmlformats.org/drawingml/2006/main">
              <a:ext uri="{FF2B5EF4-FFF2-40B4-BE49-F238E27FC236}">
                <a16:creationId xmlns:a16="http://schemas.microsoft.com/office/drawing/2014/main" id="{A62E9063-D86E-49DF-8AB0-ACBF62DF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355" y="416052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58" name="line-dot">
            <a:extLst xmlns:a="http://schemas.openxmlformats.org/drawingml/2006/main">
              <a:ext uri="{FF2B5EF4-FFF2-40B4-BE49-F238E27FC236}">
                <a16:creationId xmlns:a16="http://schemas.microsoft.com/office/drawing/2014/main" id="{3677459E-D974-4139-B7B4-21FECC7C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0515" y="4209098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59" name="line-dot">
            <a:extLst xmlns:a="http://schemas.openxmlformats.org/drawingml/2006/main">
              <a:ext uri="{FF2B5EF4-FFF2-40B4-BE49-F238E27FC236}">
                <a16:creationId xmlns:a16="http://schemas.microsoft.com/office/drawing/2014/main" id="{6D461E74-07DA-4AA0-9879-0E0362D6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2576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60" name="line-dot">
            <a:extLst xmlns:a="http://schemas.openxmlformats.org/drawingml/2006/main">
              <a:ext uri="{FF2B5EF4-FFF2-40B4-BE49-F238E27FC236}">
                <a16:creationId xmlns:a16="http://schemas.microsoft.com/office/drawing/2014/main" id="{EAAF8FAF-53BB-45A0-9E03-3CDDCEBC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476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61" name="line-dot">
            <a:extLst xmlns:a="http://schemas.openxmlformats.org/drawingml/2006/main">
              <a:ext uri="{FF2B5EF4-FFF2-40B4-BE49-F238E27FC236}">
                <a16:creationId xmlns:a16="http://schemas.microsoft.com/office/drawing/2014/main" id="{85EB29CC-65F6-4138-BB50-D6746322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3235" y="4481513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62" name="line-dot">
            <a:extLst xmlns:a="http://schemas.openxmlformats.org/drawingml/2006/main">
              <a:ext uri="{FF2B5EF4-FFF2-40B4-BE49-F238E27FC236}">
                <a16:creationId xmlns:a16="http://schemas.microsoft.com/office/drawing/2014/main" id="{67642803-3593-444D-B49D-F3CF9E2D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0395" y="44862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63" name="line-dot">
            <a:extLst xmlns:a="http://schemas.openxmlformats.org/drawingml/2006/main">
              <a:ext uri="{FF2B5EF4-FFF2-40B4-BE49-F238E27FC236}">
                <a16:creationId xmlns:a16="http://schemas.microsoft.com/office/drawing/2014/main" id="{8B7DFB40-87C5-4971-9B9B-1A8DE8BA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7555" y="4491038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64" name="line-dot">
            <a:extLst xmlns:a="http://schemas.openxmlformats.org/drawingml/2006/main">
              <a:ext uri="{FF2B5EF4-FFF2-40B4-BE49-F238E27FC236}">
                <a16:creationId xmlns:a16="http://schemas.microsoft.com/office/drawing/2014/main" id="{17DFDE84-30BA-4135-BFB1-7DFFD174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4715" y="44958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65" name="line-dot">
            <a:extLst xmlns:a="http://schemas.openxmlformats.org/drawingml/2006/main">
              <a:ext uri="{FF2B5EF4-FFF2-40B4-BE49-F238E27FC236}">
                <a16:creationId xmlns:a16="http://schemas.microsoft.com/office/drawing/2014/main" id="{2FA47EB0-4DC6-483D-991A-1747A458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500563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66" name="line-dot">
            <a:extLst xmlns:a="http://schemas.openxmlformats.org/drawingml/2006/main">
              <a:ext uri="{FF2B5EF4-FFF2-40B4-BE49-F238E27FC236}">
                <a16:creationId xmlns:a16="http://schemas.microsoft.com/office/drawing/2014/main" id="{F0EC12E3-AD5A-40A2-AFFC-AF4B1B90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035" y="45053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67" name="line-dot">
            <a:extLst xmlns:a="http://schemas.openxmlformats.org/drawingml/2006/main">
              <a:ext uri="{FF2B5EF4-FFF2-40B4-BE49-F238E27FC236}">
                <a16:creationId xmlns:a16="http://schemas.microsoft.com/office/drawing/2014/main" id="{AAC077C5-358A-48A7-85B6-B72FC445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6195" y="4510088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68" name="line-dot">
            <a:extLst xmlns:a="http://schemas.openxmlformats.org/drawingml/2006/main">
              <a:ext uri="{FF2B5EF4-FFF2-40B4-BE49-F238E27FC236}">
                <a16:creationId xmlns:a16="http://schemas.microsoft.com/office/drawing/2014/main" id="{6B39DE87-0751-4C03-8FB7-36DD8F70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355" y="4514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69" name="line-dot">
            <a:extLst xmlns:a="http://schemas.openxmlformats.org/drawingml/2006/main">
              <a:ext uri="{FF2B5EF4-FFF2-40B4-BE49-F238E27FC236}">
                <a16:creationId xmlns:a16="http://schemas.microsoft.com/office/drawing/2014/main" id="{A771BD3F-E89E-4351-A9FB-B2BCE48C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0515" y="4519613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70" name="line-dot">
            <a:extLst xmlns:a="http://schemas.openxmlformats.org/drawingml/2006/main">
              <a:ext uri="{FF2B5EF4-FFF2-40B4-BE49-F238E27FC236}">
                <a16:creationId xmlns:a16="http://schemas.microsoft.com/office/drawing/2014/main" id="{615DFA01-DC36-417E-AF9C-E88253F6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5243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71" name="line-dot">
            <a:extLst xmlns:a="http://schemas.openxmlformats.org/drawingml/2006/main">
              <a:ext uri="{FF2B5EF4-FFF2-40B4-BE49-F238E27FC236}">
                <a16:creationId xmlns:a16="http://schemas.microsoft.com/office/drawing/2014/main" id="{091DEDAA-B58A-4BD0-9EBF-B609347D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51816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72" name="line-dot">
            <a:extLst xmlns:a="http://schemas.openxmlformats.org/drawingml/2006/main">
              <a:ext uri="{FF2B5EF4-FFF2-40B4-BE49-F238E27FC236}">
                <a16:creationId xmlns:a16="http://schemas.microsoft.com/office/drawing/2014/main" id="{25F50ECB-612C-4622-8EA8-55416D43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3235" y="5142548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73" name="line-dot">
            <a:extLst xmlns:a="http://schemas.openxmlformats.org/drawingml/2006/main">
              <a:ext uri="{FF2B5EF4-FFF2-40B4-BE49-F238E27FC236}">
                <a16:creationId xmlns:a16="http://schemas.microsoft.com/office/drawing/2014/main" id="{D54E10CF-0D37-472B-A2DC-2E870C01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0395" y="510349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74" name="line-dot">
            <a:extLst xmlns:a="http://schemas.openxmlformats.org/drawingml/2006/main">
              <a:ext uri="{FF2B5EF4-FFF2-40B4-BE49-F238E27FC236}">
                <a16:creationId xmlns:a16="http://schemas.microsoft.com/office/drawing/2014/main" id="{91502FD5-3352-4EC8-84A4-A1DE118B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7555" y="5064443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75" name="line-dot">
            <a:extLst xmlns:a="http://schemas.openxmlformats.org/drawingml/2006/main">
              <a:ext uri="{FF2B5EF4-FFF2-40B4-BE49-F238E27FC236}">
                <a16:creationId xmlns:a16="http://schemas.microsoft.com/office/drawing/2014/main" id="{3AD124B6-7328-4A0A-8DF8-2088F417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4715" y="502539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76" name="line-dot">
            <a:extLst xmlns:a="http://schemas.openxmlformats.org/drawingml/2006/main">
              <a:ext uri="{FF2B5EF4-FFF2-40B4-BE49-F238E27FC236}">
                <a16:creationId xmlns:a16="http://schemas.microsoft.com/office/drawing/2014/main" id="{AC383EC9-EDDD-410D-84D0-61B0A18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986338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77" name="line-dot">
            <a:extLst xmlns:a="http://schemas.openxmlformats.org/drawingml/2006/main">
              <a:ext uri="{FF2B5EF4-FFF2-40B4-BE49-F238E27FC236}">
                <a16:creationId xmlns:a16="http://schemas.microsoft.com/office/drawing/2014/main" id="{0CDA213E-C9E0-4562-AA04-F754C8A9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035" y="494728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78" name="line-dot">
            <a:extLst xmlns:a="http://schemas.openxmlformats.org/drawingml/2006/main">
              <a:ext uri="{FF2B5EF4-FFF2-40B4-BE49-F238E27FC236}">
                <a16:creationId xmlns:a16="http://schemas.microsoft.com/office/drawing/2014/main" id="{91DD604E-FC7D-4B9B-8DA8-555045BA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6195" y="4908233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79" name="line-dot">
            <a:extLst xmlns:a="http://schemas.openxmlformats.org/drawingml/2006/main">
              <a:ext uri="{FF2B5EF4-FFF2-40B4-BE49-F238E27FC236}">
                <a16:creationId xmlns:a16="http://schemas.microsoft.com/office/drawing/2014/main" id="{47274DCC-6AAA-4267-A65D-4E3DFE60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355" y="486918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80" name="line-dot">
            <a:extLst xmlns:a="http://schemas.openxmlformats.org/drawingml/2006/main">
              <a:ext uri="{FF2B5EF4-FFF2-40B4-BE49-F238E27FC236}">
                <a16:creationId xmlns:a16="http://schemas.microsoft.com/office/drawing/2014/main" id="{76AFF5F2-3D74-41E4-8BAE-AB954B38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0515" y="4830128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81" name="line-dot">
            <a:extLst xmlns:a="http://schemas.openxmlformats.org/drawingml/2006/main">
              <a:ext uri="{FF2B5EF4-FFF2-40B4-BE49-F238E27FC236}">
                <a16:creationId xmlns:a16="http://schemas.microsoft.com/office/drawing/2014/main" id="{B650B271-4782-42A0-A410-2EC5F202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7910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96EB4F4-0046-4E7C-85DF-3FFEBE76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19750"/>
            <a:ext cx="495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97277"/>
                </a:solidFill>
                <a:latin typeface="Aptos"/>
                <a:ea typeface="Aptos"/>
                <a:cs typeface="Aptos"/>
              </a:rPr>
              <a:t>If each edge depends on separate manual entry, the graph falls behind ordinary lab work.</a:t>
            </a:r>
          </a:p>
        </p:txBody>
      </p:sp>
    </p:spTree>
    <p:extLst>
      <p:ext uri="{BB962C8B-B14F-4D97-AF65-F5344CB8AC3E}">
        <p14:creationId xmlns:p14="http://schemas.microsoft.com/office/powerpoint/2010/main" val="79350253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AAED676-AF74-4508-8126-DDB18D3D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F7F6F1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0661BF5D-8C04-4446-9125-AF1ECA61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5F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5F6F"/>
                </a:solidFill>
                <a:latin typeface="Aptos"/>
                <a:ea typeface="Aptos"/>
                <a:cs typeface="Aptos"/>
              </a:rPr>
              <a:t>RESOLUTION</a:t>
            </a:r>
          </a:p>
        </p:txBody>
      </p:sp>
      <p:sp>
        <p:nvSpPr>
          <p:cNvPr id="3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FE83565B-4623-428D-8AA7-E0AA7F6D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6F"/>
          </a:solidFill>
          <a:ln xmlns:a="http://schemas.openxmlformats.org/drawingml/2006/main" w="0">
            <a:solidFill>
              <a:srgbClr val="2F5F6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source-note">
            <a:extLst xmlns:a="http://schemas.openxmlformats.org/drawingml/2006/main">
              <a:ext uri="{FF2B5EF4-FFF2-40B4-BE49-F238E27FC236}">
                <a16:creationId xmlns:a16="http://schemas.microsoft.com/office/drawing/2014/main" id="{2E701B6F-EE76-4EC8-B7BC-9D785A71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97277"/>
                </a:solidFill>
                <a:latin typeface="Aptos"/>
                <a:ea typeface="Aptos"/>
                <a:cs typeface="Aptos"/>
              </a:rPr>
              <a:t>Source: docs/research-group-presentation.md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C883E10-652D-428F-9AD3-BB697D36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97277"/>
                </a:solidFill>
                <a:latin typeface="Aptos"/>
              </a:rPr>
              <a:t>07</a:t>
            </a:r>
          </a:p>
        </p:txBody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62E3ACA7-B01A-4F7E-9396-1B7B5C8A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933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0262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20262A"/>
                </a:solidFill>
                <a:latin typeface="Aptos Display"/>
                <a:ea typeface="Aptos Display"/>
                <a:cs typeface="Aptos Display"/>
              </a:rPr>
              <a:t>A shared graph preserves rationale for later review.</a:t>
            </a:r>
          </a:p>
        </p:txBody>
      </p:sp>
      <p:sp>
        <p:nvSpPr>
          <p:cNvPr id="7" name="box-motivating question">
            <a:extLst xmlns:a="http://schemas.openxmlformats.org/drawingml/2006/main">
              <a:ext uri="{FF2B5EF4-FFF2-40B4-BE49-F238E27FC236}">
                <a16:creationId xmlns:a16="http://schemas.microsoft.com/office/drawing/2014/main" id="{BF88444A-7FE5-418B-8647-C32231C1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337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A"/>
          </a:solidFill>
          <a:ln xmlns:a="http://schemas.openxmlformats.org/drawingml/2006/main" w="11430">
            <a:solidFill>
              <a:srgbClr val="2F5F6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label-motivating question">
            <a:extLst xmlns:a="http://schemas.openxmlformats.org/drawingml/2006/main">
              <a:ext uri="{FF2B5EF4-FFF2-40B4-BE49-F238E27FC236}">
                <a16:creationId xmlns:a16="http://schemas.microsoft.com/office/drawing/2014/main" id="{DFC4F8A0-319C-48DC-AB37-9BCA8393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4805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 wrap="square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62A"/>
                </a:solidFill>
                <a:latin typeface="Aptos"/>
              </a:rPr>
              <a:t>Does lateral inhibition</a:t>
            </a:r>
          </a:p>
          <a:p xmlns:a="http://schemas.openxmlformats.org/drawingml/2006/main">
            <a:pPr algn="ctr"/>
            <a:r>
              <a:rPr sz="1050" b="1">
                <a:solidFill>
                  <a:srgbClr val="20262A"/>
                </a:solidFill>
                <a:latin typeface="Aptos"/>
              </a:rPr>
              <a:t>normalize PN output?</a:t>
            </a:r>
          </a:p>
        </p:txBody>
      </p:sp>
      <p:sp>
        <p:nvSpPr>
          <p:cNvPr id="9" name="box-session_0427.zarr">
            <a:extLst xmlns:a="http://schemas.openxmlformats.org/drawingml/2006/main">
              <a:ext uri="{FF2B5EF4-FFF2-40B4-BE49-F238E27FC236}">
                <a16:creationId xmlns:a16="http://schemas.microsoft.com/office/drawing/2014/main" id="{5783E065-3A75-4E6B-8B72-041E9C15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0530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label-session_0427.zarr">
            <a:extLst xmlns:a="http://schemas.openxmlformats.org/drawingml/2006/main">
              <a:ext uri="{FF2B5EF4-FFF2-40B4-BE49-F238E27FC236}">
                <a16:creationId xmlns:a16="http://schemas.microsoft.com/office/drawing/2014/main" id="{1CF8E00B-8C61-4F4C-8880-B800B843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1960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 wrap="square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262A"/>
                </a:solidFill>
                <a:latin typeface="Aptos"/>
              </a:rPr>
              <a:t>2025_12_10_Rig2_</a:t>
            </a:r>
          </a:p>
          <a:p xmlns:a="http://schemas.openxmlformats.org/drawingml/2006/main">
            <a:pPr algn="ctr"/>
            <a:r>
              <a:rPr sz="1050" b="0">
                <a:solidFill>
                  <a:srgbClr val="20262A"/>
                </a:solidFill>
                <a:latin typeface="Aptos"/>
              </a:rPr>
              <a:t>session001.nwb</a:t>
            </a:r>
          </a:p>
        </p:txBody>
      </p:sp>
      <p:sp>
        <p:nvSpPr>
          <p:cNvPr id="11" name="box-analysis">
            <a:extLst xmlns:a="http://schemas.openxmlformats.org/drawingml/2006/main">
              <a:ext uri="{FF2B5EF4-FFF2-40B4-BE49-F238E27FC236}">
                <a16:creationId xmlns:a16="http://schemas.microsoft.com/office/drawing/2014/main" id="{B6EF03E4-56B3-4ED8-858D-597B0A88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053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label-analysis">
            <a:extLst xmlns:a="http://schemas.openxmlformats.org/drawingml/2006/main">
              <a:ext uri="{FF2B5EF4-FFF2-40B4-BE49-F238E27FC236}">
                <a16:creationId xmlns:a16="http://schemas.microsoft.com/office/drawing/2014/main" id="{03C71FB0-443C-4B04-B438-F7D01420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19600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 wrap="square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262A"/>
                </a:solidFill>
                <a:latin typeface="Aptos"/>
              </a:rPr>
              <a:t>divisive-norm fit</a:t>
            </a:r>
          </a:p>
        </p:txBody>
      </p:sp>
      <p:sp>
        <p:nvSpPr>
          <p:cNvPr id="13" name="box-figure">
            <a:extLst xmlns:a="http://schemas.openxmlformats.org/drawingml/2006/main">
              <a:ext uri="{FF2B5EF4-FFF2-40B4-BE49-F238E27FC236}">
                <a16:creationId xmlns:a16="http://schemas.microsoft.com/office/drawing/2014/main" id="{2AE27B68-A392-4B3C-9627-5D3367D4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label-figure">
            <a:extLst xmlns:a="http://schemas.openxmlformats.org/drawingml/2006/main">
              <a:ext uri="{FF2B5EF4-FFF2-40B4-BE49-F238E27FC236}">
                <a16:creationId xmlns:a16="http://schemas.microsoft.com/office/drawing/2014/main" id="{08C0F3F9-EF17-4E19-AC72-601BE722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295900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 wrap="square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262A"/>
                </a:solidFill>
                <a:latin typeface="Aptos"/>
              </a:rPr>
              <a:t>Fig 3b</a:t>
            </a:r>
          </a:p>
        </p:txBody>
      </p:sp>
      <p:sp>
        <p:nvSpPr>
          <p:cNvPr id="15" name="line-v">
            <a:extLst xmlns:a="http://schemas.openxmlformats.org/drawingml/2006/main">
              <a:ext uri="{FF2B5EF4-FFF2-40B4-BE49-F238E27FC236}">
                <a16:creationId xmlns:a16="http://schemas.microsoft.com/office/drawing/2014/main" id="{704B8738-22D7-46DF-85F8-2CD12BB5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771900"/>
            <a:ext cx="19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6F"/>
          </a:solidFill>
          <a:ln xmlns:a="http://schemas.openxmlformats.org/drawingml/2006/main" w="0">
            <a:solidFill>
              <a:srgbClr val="2F5F6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line-h">
            <a:extLst xmlns:a="http://schemas.openxmlformats.org/drawingml/2006/main">
              <a:ext uri="{FF2B5EF4-FFF2-40B4-BE49-F238E27FC236}">
                <a16:creationId xmlns:a16="http://schemas.microsoft.com/office/drawing/2014/main" id="{4F4E8F13-6653-466E-89EC-E856D4B6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2437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line-v">
            <a:extLst xmlns:a="http://schemas.openxmlformats.org/drawingml/2006/main">
              <a:ext uri="{FF2B5EF4-FFF2-40B4-BE49-F238E27FC236}">
                <a16:creationId xmlns:a16="http://schemas.microsoft.com/office/drawing/2014/main" id="{65FA84A5-6F81-49F4-BA5A-5530D522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743450"/>
            <a:ext cx="19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871789-25AD-4F16-A3A9-0D4BCBFB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9433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5F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5F6F"/>
                </a:solidFill>
                <a:latin typeface="Aptos"/>
                <a:ea typeface="Aptos"/>
                <a:cs typeface="Aptos"/>
              </a:rPr>
              <a:t>question addressed</a:t>
            </a:r>
          </a:p>
        </p:txBody>
      </p:sp>
      <p:sp>
        <p:nvSpPr>
          <p:cNvPr id="19" name="box-later review:&#10;why was this run done?">
            <a:extLst xmlns:a="http://schemas.openxmlformats.org/drawingml/2006/main">
              <a:ext uri="{FF2B5EF4-FFF2-40B4-BE49-F238E27FC236}">
                <a16:creationId xmlns:a16="http://schemas.microsoft.com/office/drawing/2014/main" id="{E7540BC2-519D-41D2-832D-6B93F775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43350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label-later review:&#10;why was this run done?">
            <a:extLst xmlns:a="http://schemas.openxmlformats.org/drawingml/2006/main">
              <a:ext uri="{FF2B5EF4-FFF2-40B4-BE49-F238E27FC236}">
                <a16:creationId xmlns:a16="http://schemas.microsoft.com/office/drawing/2014/main" id="{F842C035-5BD3-495B-9CC4-3E0F83FF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57650"/>
            <a:ext cx="1828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later review:</a:t>
            </a:r>
          </a:p>
          <a:p xmlns:a="http://schemas.openxmlformats.org/drawingml/2006/main">
            <a:pPr algn="ctr">
              <a:defRPr sz="105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why was this run done?</a:t>
            </a:r>
          </a:p>
        </p:txBody>
      </p:sp>
      <p:sp>
        <p:nvSpPr>
          <p:cNvPr id="21" name="line-dot">
            <a:extLst xmlns:a="http://schemas.openxmlformats.org/drawingml/2006/main">
              <a:ext uri="{FF2B5EF4-FFF2-40B4-BE49-F238E27FC236}">
                <a16:creationId xmlns:a16="http://schemas.microsoft.com/office/drawing/2014/main" id="{0E668788-CC6B-4901-BD39-CC6A52E8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2481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line-dot">
            <a:extLst xmlns:a="http://schemas.openxmlformats.org/drawingml/2006/main">
              <a:ext uri="{FF2B5EF4-FFF2-40B4-BE49-F238E27FC236}">
                <a16:creationId xmlns:a16="http://schemas.microsoft.com/office/drawing/2014/main" id="{1FE4CF4C-65A2-49FA-9F2A-297B6D62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990" y="427482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line-dot">
            <a:extLst xmlns:a="http://schemas.openxmlformats.org/drawingml/2006/main">
              <a:ext uri="{FF2B5EF4-FFF2-40B4-BE49-F238E27FC236}">
                <a16:creationId xmlns:a16="http://schemas.microsoft.com/office/drawing/2014/main" id="{2AF75A4A-43C0-4F0C-AD69-0928BB80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9955" y="430149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line-dot">
            <a:extLst xmlns:a="http://schemas.openxmlformats.org/drawingml/2006/main">
              <a:ext uri="{FF2B5EF4-FFF2-40B4-BE49-F238E27FC236}">
                <a16:creationId xmlns:a16="http://schemas.microsoft.com/office/drawing/2014/main" id="{1F1848C6-040E-4C25-91B6-574EF0D6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432816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line-dot">
            <a:extLst xmlns:a="http://schemas.openxmlformats.org/drawingml/2006/main">
              <a:ext uri="{FF2B5EF4-FFF2-40B4-BE49-F238E27FC236}">
                <a16:creationId xmlns:a16="http://schemas.microsoft.com/office/drawing/2014/main" id="{93F05762-CDB2-45A0-8D73-0B550C98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885" y="435483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line-dot">
            <a:extLst xmlns:a="http://schemas.openxmlformats.org/drawingml/2006/main">
              <a:ext uri="{FF2B5EF4-FFF2-40B4-BE49-F238E27FC236}">
                <a16:creationId xmlns:a16="http://schemas.microsoft.com/office/drawing/2014/main" id="{4E4641A4-EB5E-40C2-AF8E-A56C46C1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81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line-dot">
            <a:extLst xmlns:a="http://schemas.openxmlformats.org/drawingml/2006/main">
              <a:ext uri="{FF2B5EF4-FFF2-40B4-BE49-F238E27FC236}">
                <a16:creationId xmlns:a16="http://schemas.microsoft.com/office/drawing/2014/main" id="{111D00D9-5FE9-4AD2-AE5D-3363FDB1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815" y="440817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line-dot">
            <a:extLst xmlns:a="http://schemas.openxmlformats.org/drawingml/2006/main">
              <a:ext uri="{FF2B5EF4-FFF2-40B4-BE49-F238E27FC236}">
                <a16:creationId xmlns:a16="http://schemas.microsoft.com/office/drawing/2014/main" id="{71151F1A-58F3-45F8-9614-99B4DC2D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4780" y="443484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line-dot">
            <a:extLst xmlns:a="http://schemas.openxmlformats.org/drawingml/2006/main">
              <a:ext uri="{FF2B5EF4-FFF2-40B4-BE49-F238E27FC236}">
                <a16:creationId xmlns:a16="http://schemas.microsoft.com/office/drawing/2014/main" id="{49DB4253-E923-4C36-8F8B-4316755A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5745" y="446151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line-dot">
            <a:extLst xmlns:a="http://schemas.openxmlformats.org/drawingml/2006/main">
              <a:ext uri="{FF2B5EF4-FFF2-40B4-BE49-F238E27FC236}">
                <a16:creationId xmlns:a16="http://schemas.microsoft.com/office/drawing/2014/main" id="{D9100DC4-9C0C-46BD-AA0C-B98F6078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710" y="448818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line-dot">
            <a:extLst xmlns:a="http://schemas.openxmlformats.org/drawingml/2006/main">
              <a:ext uri="{FF2B5EF4-FFF2-40B4-BE49-F238E27FC236}">
                <a16:creationId xmlns:a16="http://schemas.microsoft.com/office/drawing/2014/main" id="{A78EFABF-B82B-4DCB-8D65-A44378B5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514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F106A5-8B36-423F-ACEC-9E801286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5623560"/>
            <a:ext cx="7955279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 wrap="square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97277"/>
                </a:solidFill>
                <a:latin typeface="Aptos"/>
              </a:rPr>
              <a:t>A figure stays traceable to the question its claim answers.</a:t>
            </a:r>
          </a:p>
        </p:txBody>
      </p:sp>
    </p:spTree>
    <p:extLst>
      <p:ext uri="{BB962C8B-B14F-4D97-AF65-F5344CB8AC3E}">
        <p14:creationId xmlns:p14="http://schemas.microsoft.com/office/powerpoint/2010/main" val="36653589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D8F6ED9-EE30-4235-9244-30B0F77C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F7F6F1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A3066FD6-3491-4907-B94B-C709CF71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5F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5F6F"/>
                </a:solidFill>
                <a:latin typeface="Aptos"/>
                <a:ea typeface="Aptos"/>
                <a:cs typeface="Aptos"/>
              </a:rPr>
              <a:t>RESOLUTION</a:t>
            </a:r>
          </a:p>
        </p:txBody>
      </p:sp>
      <p:sp>
        <p:nvSpPr>
          <p:cNvPr id="3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E183E096-5744-4884-943C-E08F21A7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6F"/>
          </a:solidFill>
          <a:ln xmlns:a="http://schemas.openxmlformats.org/drawingml/2006/main" w="0">
            <a:solidFill>
              <a:srgbClr val="2F5F6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source-note">
            <a:extLst xmlns:a="http://schemas.openxmlformats.org/drawingml/2006/main">
              <a:ext uri="{FF2B5EF4-FFF2-40B4-BE49-F238E27FC236}">
                <a16:creationId xmlns:a16="http://schemas.microsoft.com/office/drawing/2014/main" id="{4E789D51-A05F-40F2-8447-D9EF7323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97277"/>
                </a:solidFill>
                <a:latin typeface="Aptos"/>
                <a:ea typeface="Aptos"/>
                <a:cs typeface="Aptos"/>
              </a:rPr>
              <a:t>Source: docs/research-group-presentation.md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01264F0-A419-4F85-822C-88F0D0E7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97277"/>
                </a:solidFill>
                <a:latin typeface="Aptos"/>
              </a:rPr>
              <a:t>08</a:t>
            </a:r>
          </a:p>
        </p:txBody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ED13A309-AE7E-4EE4-863E-A5BD7DBE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933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0262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20262A"/>
                </a:solidFill>
                <a:latin typeface="Aptos Display"/>
                <a:ea typeface="Aptos Display"/>
                <a:cs typeface="Aptos Display"/>
              </a:rPr>
              <a:t>The same graph can supply an assistant context packet.</a:t>
            </a:r>
          </a:p>
        </p:txBody>
      </p:sp>
      <p:sp>
        <p:nvSpPr>
          <p:cNvPr id="7" name="box-motivating question">
            <a:extLst xmlns:a="http://schemas.openxmlformats.org/drawingml/2006/main">
              <a:ext uri="{FF2B5EF4-FFF2-40B4-BE49-F238E27FC236}">
                <a16:creationId xmlns:a16="http://schemas.microsoft.com/office/drawing/2014/main" id="{EC4586A2-F21F-4C70-83A1-F51B9565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337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A"/>
          </a:solidFill>
          <a:ln xmlns:a="http://schemas.openxmlformats.org/drawingml/2006/main" w="11430">
            <a:solidFill>
              <a:srgbClr val="2F5F6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label-motivating question">
            <a:extLst xmlns:a="http://schemas.openxmlformats.org/drawingml/2006/main">
              <a:ext uri="{FF2B5EF4-FFF2-40B4-BE49-F238E27FC236}">
                <a16:creationId xmlns:a16="http://schemas.microsoft.com/office/drawing/2014/main" id="{FA371230-169C-4F72-A536-05393644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4805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 wrap="square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62A"/>
                </a:solidFill>
                <a:latin typeface="Aptos"/>
              </a:rPr>
              <a:t>Does lateral inhibition</a:t>
            </a:r>
          </a:p>
          <a:p xmlns:a="http://schemas.openxmlformats.org/drawingml/2006/main">
            <a:pPr algn="ctr"/>
            <a:r>
              <a:rPr sz="1050" b="1">
                <a:solidFill>
                  <a:srgbClr val="20262A"/>
                </a:solidFill>
                <a:latin typeface="Aptos"/>
              </a:rPr>
              <a:t>normalize PN output?</a:t>
            </a:r>
          </a:p>
        </p:txBody>
      </p:sp>
      <p:sp>
        <p:nvSpPr>
          <p:cNvPr id="9" name="box-session_0427.zarr">
            <a:extLst xmlns:a="http://schemas.openxmlformats.org/drawingml/2006/main">
              <a:ext uri="{FF2B5EF4-FFF2-40B4-BE49-F238E27FC236}">
                <a16:creationId xmlns:a16="http://schemas.microsoft.com/office/drawing/2014/main" id="{24750B2C-A26B-4C98-BE1E-031510B3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0530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label-session_0427.zarr">
            <a:extLst xmlns:a="http://schemas.openxmlformats.org/drawingml/2006/main">
              <a:ext uri="{FF2B5EF4-FFF2-40B4-BE49-F238E27FC236}">
                <a16:creationId xmlns:a16="http://schemas.microsoft.com/office/drawing/2014/main" id="{3AE51C77-7CEF-4DCD-8F4A-B4ED3F10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1960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 wrap="square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262A"/>
                </a:solidFill>
                <a:latin typeface="Aptos"/>
              </a:rPr>
              <a:t>2025_12_10_Rig2_</a:t>
            </a:r>
          </a:p>
          <a:p xmlns:a="http://schemas.openxmlformats.org/drawingml/2006/main">
            <a:pPr algn="ctr"/>
            <a:r>
              <a:rPr sz="1050" b="0">
                <a:solidFill>
                  <a:srgbClr val="20262A"/>
                </a:solidFill>
                <a:latin typeface="Aptos"/>
              </a:rPr>
              <a:t>session001.nwb</a:t>
            </a:r>
          </a:p>
        </p:txBody>
      </p:sp>
      <p:sp>
        <p:nvSpPr>
          <p:cNvPr id="11" name="box-analysis">
            <a:extLst xmlns:a="http://schemas.openxmlformats.org/drawingml/2006/main">
              <a:ext uri="{FF2B5EF4-FFF2-40B4-BE49-F238E27FC236}">
                <a16:creationId xmlns:a16="http://schemas.microsoft.com/office/drawing/2014/main" id="{69112778-42E4-40B9-9C51-EBD93EDB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053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label-analysis">
            <a:extLst xmlns:a="http://schemas.openxmlformats.org/drawingml/2006/main">
              <a:ext uri="{FF2B5EF4-FFF2-40B4-BE49-F238E27FC236}">
                <a16:creationId xmlns:a16="http://schemas.microsoft.com/office/drawing/2014/main" id="{13FC2421-2433-452F-8513-3E43ECFA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19600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 wrap="square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262A"/>
                </a:solidFill>
                <a:latin typeface="Aptos"/>
              </a:rPr>
              <a:t>divisive-norm fit</a:t>
            </a:r>
          </a:p>
        </p:txBody>
      </p:sp>
      <p:sp>
        <p:nvSpPr>
          <p:cNvPr id="13" name="box-figure">
            <a:extLst xmlns:a="http://schemas.openxmlformats.org/drawingml/2006/main">
              <a:ext uri="{FF2B5EF4-FFF2-40B4-BE49-F238E27FC236}">
                <a16:creationId xmlns:a16="http://schemas.microsoft.com/office/drawing/2014/main" id="{0616823B-F141-4A36-B9EE-BF20F23F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label-figure">
            <a:extLst xmlns:a="http://schemas.openxmlformats.org/drawingml/2006/main">
              <a:ext uri="{FF2B5EF4-FFF2-40B4-BE49-F238E27FC236}">
                <a16:creationId xmlns:a16="http://schemas.microsoft.com/office/drawing/2014/main" id="{021D5EC4-D8FB-4615-938A-F1729553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295900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 wrap="square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262A"/>
                </a:solidFill>
                <a:latin typeface="Aptos"/>
              </a:rPr>
              <a:t>Fig 3b</a:t>
            </a:r>
          </a:p>
        </p:txBody>
      </p:sp>
      <p:sp>
        <p:nvSpPr>
          <p:cNvPr id="15" name="line-v">
            <a:extLst xmlns:a="http://schemas.openxmlformats.org/drawingml/2006/main">
              <a:ext uri="{FF2B5EF4-FFF2-40B4-BE49-F238E27FC236}">
                <a16:creationId xmlns:a16="http://schemas.microsoft.com/office/drawing/2014/main" id="{2D6B2021-BF0C-42D8-9E74-2F019C87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771900"/>
            <a:ext cx="19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6F"/>
          </a:solidFill>
          <a:ln xmlns:a="http://schemas.openxmlformats.org/drawingml/2006/main" w="0">
            <a:solidFill>
              <a:srgbClr val="2F5F6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line-h">
            <a:extLst xmlns:a="http://schemas.openxmlformats.org/drawingml/2006/main">
              <a:ext uri="{FF2B5EF4-FFF2-40B4-BE49-F238E27FC236}">
                <a16:creationId xmlns:a16="http://schemas.microsoft.com/office/drawing/2014/main" id="{8FD3D0B6-183E-493F-83AE-C627114C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2437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line-v">
            <a:extLst xmlns:a="http://schemas.openxmlformats.org/drawingml/2006/main">
              <a:ext uri="{FF2B5EF4-FFF2-40B4-BE49-F238E27FC236}">
                <a16:creationId xmlns:a16="http://schemas.microsoft.com/office/drawing/2014/main" id="{22B22880-D2A3-4FDA-8136-2888787D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743450"/>
            <a:ext cx="19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B5F336-A5F1-4163-83F8-31979370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9433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5F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5F6F"/>
                </a:solidFill>
                <a:latin typeface="Aptos"/>
                <a:ea typeface="Aptos"/>
                <a:cs typeface="Aptos"/>
              </a:rPr>
              <a:t>question addressed</a:t>
            </a:r>
          </a:p>
        </p:txBody>
      </p:sp>
      <p:sp>
        <p:nvSpPr>
          <p:cNvPr id="19" name="box-later review:&#10;why was this run done?">
            <a:extLst xmlns:a="http://schemas.openxmlformats.org/drawingml/2006/main">
              <a:ext uri="{FF2B5EF4-FFF2-40B4-BE49-F238E27FC236}">
                <a16:creationId xmlns:a16="http://schemas.microsoft.com/office/drawing/2014/main" id="{65AB14B2-C7B5-43AF-A975-C8F98683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43350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label-later review:&#10;why was this run done?">
            <a:extLst xmlns:a="http://schemas.openxmlformats.org/drawingml/2006/main">
              <a:ext uri="{FF2B5EF4-FFF2-40B4-BE49-F238E27FC236}">
                <a16:creationId xmlns:a16="http://schemas.microsoft.com/office/drawing/2014/main" id="{8DC2232D-799C-4278-ACDB-F4114562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57650"/>
            <a:ext cx="1828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later review:</a:t>
            </a:r>
          </a:p>
          <a:p xmlns:a="http://schemas.openxmlformats.org/drawingml/2006/main">
            <a:pPr algn="ctr">
              <a:defRPr sz="105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why was this run done?</a:t>
            </a:r>
          </a:p>
        </p:txBody>
      </p:sp>
      <p:sp>
        <p:nvSpPr>
          <p:cNvPr id="21" name="line-dot">
            <a:extLst xmlns:a="http://schemas.openxmlformats.org/drawingml/2006/main">
              <a:ext uri="{FF2B5EF4-FFF2-40B4-BE49-F238E27FC236}">
                <a16:creationId xmlns:a16="http://schemas.microsoft.com/office/drawing/2014/main" id="{4476C02D-35DC-4AF3-BB95-BFB8EA49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2481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line-dot">
            <a:extLst xmlns:a="http://schemas.openxmlformats.org/drawingml/2006/main">
              <a:ext uri="{FF2B5EF4-FFF2-40B4-BE49-F238E27FC236}">
                <a16:creationId xmlns:a16="http://schemas.microsoft.com/office/drawing/2014/main" id="{E3F387C6-0044-45B6-AEA5-9561AC63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990" y="427482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line-dot">
            <a:extLst xmlns:a="http://schemas.openxmlformats.org/drawingml/2006/main">
              <a:ext uri="{FF2B5EF4-FFF2-40B4-BE49-F238E27FC236}">
                <a16:creationId xmlns:a16="http://schemas.microsoft.com/office/drawing/2014/main" id="{C9A562B6-A311-423B-BCC7-ECC572D1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9955" y="430149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line-dot">
            <a:extLst xmlns:a="http://schemas.openxmlformats.org/drawingml/2006/main">
              <a:ext uri="{FF2B5EF4-FFF2-40B4-BE49-F238E27FC236}">
                <a16:creationId xmlns:a16="http://schemas.microsoft.com/office/drawing/2014/main" id="{5CFA0ABB-7ED0-4ABF-9C66-30CE28D9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432816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line-dot">
            <a:extLst xmlns:a="http://schemas.openxmlformats.org/drawingml/2006/main">
              <a:ext uri="{FF2B5EF4-FFF2-40B4-BE49-F238E27FC236}">
                <a16:creationId xmlns:a16="http://schemas.microsoft.com/office/drawing/2014/main" id="{508C85D4-BC22-4B4F-A441-F479A5E9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885" y="435483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line-dot">
            <a:extLst xmlns:a="http://schemas.openxmlformats.org/drawingml/2006/main">
              <a:ext uri="{FF2B5EF4-FFF2-40B4-BE49-F238E27FC236}">
                <a16:creationId xmlns:a16="http://schemas.microsoft.com/office/drawing/2014/main" id="{45ADC245-95FA-4BC8-953C-A1D0918E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81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line-dot">
            <a:extLst xmlns:a="http://schemas.openxmlformats.org/drawingml/2006/main">
              <a:ext uri="{FF2B5EF4-FFF2-40B4-BE49-F238E27FC236}">
                <a16:creationId xmlns:a16="http://schemas.microsoft.com/office/drawing/2014/main" id="{6EB09025-AEEB-4C4A-8DCA-E76102AE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815" y="440817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line-dot">
            <a:extLst xmlns:a="http://schemas.openxmlformats.org/drawingml/2006/main">
              <a:ext uri="{FF2B5EF4-FFF2-40B4-BE49-F238E27FC236}">
                <a16:creationId xmlns:a16="http://schemas.microsoft.com/office/drawing/2014/main" id="{F1FB9D06-A7D3-4FD4-9951-54B27EBB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4780" y="443484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line-dot">
            <a:extLst xmlns:a="http://schemas.openxmlformats.org/drawingml/2006/main">
              <a:ext uri="{FF2B5EF4-FFF2-40B4-BE49-F238E27FC236}">
                <a16:creationId xmlns:a16="http://schemas.microsoft.com/office/drawing/2014/main" id="{771388B8-04EE-4563-AC42-50DBC01F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5745" y="446151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line-dot">
            <a:extLst xmlns:a="http://schemas.openxmlformats.org/drawingml/2006/main">
              <a:ext uri="{FF2B5EF4-FFF2-40B4-BE49-F238E27FC236}">
                <a16:creationId xmlns:a16="http://schemas.microsoft.com/office/drawing/2014/main" id="{DF0D67B5-7D23-43A6-81D4-8CF2D581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710" y="448818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line-dot">
            <a:extLst xmlns:a="http://schemas.openxmlformats.org/drawingml/2006/main">
              <a:ext uri="{FF2B5EF4-FFF2-40B4-BE49-F238E27FC236}">
                <a16:creationId xmlns:a16="http://schemas.microsoft.com/office/drawing/2014/main" id="{221A3E01-AB4D-44DE-849F-EC32F9D2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514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box-model">
            <a:extLst xmlns:a="http://schemas.openxmlformats.org/drawingml/2006/main">
              <a:ext uri="{FF2B5EF4-FFF2-40B4-BE49-F238E27FC236}">
                <a16:creationId xmlns:a16="http://schemas.microsoft.com/office/drawing/2014/main" id="{D7388F6C-8D6D-472E-AD46-91A1B4B6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14700"/>
            <a:ext cx="1771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label-model">
            <a:extLst xmlns:a="http://schemas.openxmlformats.org/drawingml/2006/main">
              <a:ext uri="{FF2B5EF4-FFF2-40B4-BE49-F238E27FC236}">
                <a16:creationId xmlns:a16="http://schemas.microsoft.com/office/drawing/2014/main" id="{7668844B-E334-4ACD-B898-8E40C35E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429000"/>
            <a:ext cx="1504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34" name="context-packet-box">
            <a:extLst xmlns:a="http://schemas.openxmlformats.org/drawingml/2006/main">
              <a:ext uri="{FF2B5EF4-FFF2-40B4-BE49-F238E27FC236}">
                <a16:creationId xmlns:a16="http://schemas.microsoft.com/office/drawing/2014/main" id="{08F8F4A7-A4C9-49DA-89B6-C74F505E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71950"/>
            <a:ext cx="20383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6D8"/>
          </a:solidFill>
          <a:ln xmlns:a="http://schemas.openxmlformats.org/drawingml/2006/main" w="1143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5" name="context-packet-label">
            <a:extLst xmlns:a="http://schemas.openxmlformats.org/drawingml/2006/main">
              <a:ext uri="{FF2B5EF4-FFF2-40B4-BE49-F238E27FC236}">
                <a16:creationId xmlns:a16="http://schemas.microsoft.com/office/drawing/2014/main" id="{F74016CF-3D79-40BE-BF76-D45A843E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24350"/>
            <a:ext cx="17716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context packet</a:t>
            </a:r>
          </a:p>
          <a:p xmlns:a="http://schemas.openxmlformats.org/drawingml/2006/main">
            <a:pPr algn="ctr">
              <a:defRPr sz="90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- lab goal</a:t>
            </a:r>
          </a:p>
          <a:p xmlns:a="http://schemas.openxmlformats.org/drawingml/2006/main">
            <a:pPr algn="ctr">
              <a:defRPr sz="90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- question tree</a:t>
            </a:r>
          </a:p>
          <a:p xmlns:a="http://schemas.openxmlformats.org/drawingml/2006/main">
            <a:pPr algn="ctr">
              <a:defRPr sz="90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- linked evidence</a:t>
            </a:r>
          </a:p>
          <a:p xmlns:a="http://schemas.openxmlformats.org/drawingml/2006/main">
            <a:pPr algn="ctr">
              <a:defRPr sz="90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- prior claims</a:t>
            </a:r>
          </a:p>
        </p:txBody>
      </p:sp>
      <p:sp>
        <p:nvSpPr>
          <p:cNvPr id="36" name="line-dot">
            <a:extLst xmlns:a="http://schemas.openxmlformats.org/drawingml/2006/main">
              <a:ext uri="{FF2B5EF4-FFF2-40B4-BE49-F238E27FC236}">
                <a16:creationId xmlns:a16="http://schemas.microsoft.com/office/drawing/2014/main" id="{FC6BF998-5830-4461-95BD-0ACC5EF1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514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7" name="line-dot">
            <a:extLst xmlns:a="http://schemas.openxmlformats.org/drawingml/2006/main">
              <a:ext uri="{FF2B5EF4-FFF2-40B4-BE49-F238E27FC236}">
                <a16:creationId xmlns:a16="http://schemas.microsoft.com/office/drawing/2014/main" id="{E37FF56F-AB87-4FF9-9BCF-B90BE86B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8730" y="4532948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8" name="line-dot">
            <a:extLst xmlns:a="http://schemas.openxmlformats.org/drawingml/2006/main">
              <a:ext uri="{FF2B5EF4-FFF2-40B4-BE49-F238E27FC236}">
                <a16:creationId xmlns:a16="http://schemas.microsoft.com/office/drawing/2014/main" id="{F550411B-E7C3-4D23-978C-9F61BF13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7785" y="455104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line-dot">
            <a:extLst xmlns:a="http://schemas.openxmlformats.org/drawingml/2006/main">
              <a:ext uri="{FF2B5EF4-FFF2-40B4-BE49-F238E27FC236}">
                <a16:creationId xmlns:a16="http://schemas.microsoft.com/office/drawing/2014/main" id="{5277ECE6-ED52-4F7A-95EC-5A95BA5D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569143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0" name="line-dot">
            <a:extLst xmlns:a="http://schemas.openxmlformats.org/drawingml/2006/main">
              <a:ext uri="{FF2B5EF4-FFF2-40B4-BE49-F238E27FC236}">
                <a16:creationId xmlns:a16="http://schemas.microsoft.com/office/drawing/2014/main" id="{9A7A5877-3D95-443E-8C75-38ACFA82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5895" y="458724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1" name="line-dot">
            <a:extLst xmlns:a="http://schemas.openxmlformats.org/drawingml/2006/main">
              <a:ext uri="{FF2B5EF4-FFF2-40B4-BE49-F238E27FC236}">
                <a16:creationId xmlns:a16="http://schemas.microsoft.com/office/drawing/2014/main" id="{9FAB5F95-A972-4FB5-BCF8-B1653C9E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605338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2" name="line-dot">
            <a:extLst xmlns:a="http://schemas.openxmlformats.org/drawingml/2006/main">
              <a:ext uri="{FF2B5EF4-FFF2-40B4-BE49-F238E27FC236}">
                <a16:creationId xmlns:a16="http://schemas.microsoft.com/office/drawing/2014/main" id="{2083ABCF-FC87-4392-AD50-66B35FE4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4005" y="462343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3" name="line-dot">
            <a:extLst xmlns:a="http://schemas.openxmlformats.org/drawingml/2006/main">
              <a:ext uri="{FF2B5EF4-FFF2-40B4-BE49-F238E27FC236}">
                <a16:creationId xmlns:a16="http://schemas.microsoft.com/office/drawing/2014/main" id="{58B32B01-D3A7-4F10-8F49-FA6D3DD2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3060" y="4641533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4" name="line-dot">
            <a:extLst xmlns:a="http://schemas.openxmlformats.org/drawingml/2006/main">
              <a:ext uri="{FF2B5EF4-FFF2-40B4-BE49-F238E27FC236}">
                <a16:creationId xmlns:a16="http://schemas.microsoft.com/office/drawing/2014/main" id="{065506CE-3140-43C0-9DFD-4D78E41F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65963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5" name="line-dot">
            <a:extLst xmlns:a="http://schemas.openxmlformats.org/drawingml/2006/main">
              <a:ext uri="{FF2B5EF4-FFF2-40B4-BE49-F238E27FC236}">
                <a16:creationId xmlns:a16="http://schemas.microsoft.com/office/drawing/2014/main" id="{2EF3DD28-6A81-49DC-A526-A0C5585B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170" y="4677728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6" name="line-dot">
            <a:extLst xmlns:a="http://schemas.openxmlformats.org/drawingml/2006/main">
              <a:ext uri="{FF2B5EF4-FFF2-40B4-BE49-F238E27FC236}">
                <a16:creationId xmlns:a16="http://schemas.microsoft.com/office/drawing/2014/main" id="{52308C8A-043F-4D4E-BCCB-DBE58649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6958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7" name="line-v">
            <a:extLst xmlns:a="http://schemas.openxmlformats.org/drawingml/2006/main">
              <a:ext uri="{FF2B5EF4-FFF2-40B4-BE49-F238E27FC236}">
                <a16:creationId xmlns:a16="http://schemas.microsoft.com/office/drawing/2014/main" id="{C07B8CC5-F565-4216-BB65-315B5283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75285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</p:spTree>
    <p:extLst>
      <p:ext uri="{BB962C8B-B14F-4D97-AF65-F5344CB8AC3E}">
        <p14:creationId xmlns:p14="http://schemas.microsoft.com/office/powerpoint/2010/main" val="107478808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9FD46CD-49FF-4A17-8832-6E964BBE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F7F6F1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37F1D306-0DE4-49A1-9378-8F671CE5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5F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5F6F"/>
                </a:solidFill>
                <a:latin typeface="Aptos"/>
                <a:ea typeface="Aptos"/>
                <a:cs typeface="Aptos"/>
              </a:rPr>
              <a:t>RESOLUTION</a:t>
            </a:r>
          </a:p>
        </p:txBody>
      </p:sp>
      <p:sp>
        <p:nvSpPr>
          <p:cNvPr id="3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18E390BD-7CAF-417D-9C92-E242C59E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6F"/>
          </a:solidFill>
          <a:ln xmlns:a="http://schemas.openxmlformats.org/drawingml/2006/main" w="0">
            <a:solidFill>
              <a:srgbClr val="2F5F6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source-note">
            <a:extLst xmlns:a="http://schemas.openxmlformats.org/drawingml/2006/main">
              <a:ext uri="{FF2B5EF4-FFF2-40B4-BE49-F238E27FC236}">
                <a16:creationId xmlns:a16="http://schemas.microsoft.com/office/drawing/2014/main" id="{EBA033B7-765A-4651-8A52-C909A654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97277"/>
                </a:solidFill>
                <a:latin typeface="Aptos"/>
                <a:ea typeface="Aptos"/>
                <a:cs typeface="Aptos"/>
              </a:rPr>
              <a:t>Source: docs/research-group-presentation.md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02FC5D-4E94-496F-B677-E5F1E5FE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97277"/>
                </a:solidFill>
                <a:latin typeface="Aptos"/>
              </a:rPr>
              <a:t>09</a:t>
            </a:r>
          </a:p>
        </p:txBody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7115DBB2-6614-40A4-8A61-6D45996C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933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0262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20262A"/>
                </a:solidFill>
                <a:latin typeface="Aptos Display"/>
                <a:ea typeface="Aptos Display"/>
                <a:cs typeface="Aptos Display"/>
              </a:rPr>
              <a:t>Capture proposes graph updates for human review.</a:t>
            </a:r>
          </a:p>
        </p:txBody>
      </p:sp>
      <p:sp>
        <p:nvSpPr>
          <p:cNvPr id="7" name="box-motivating question">
            <a:extLst xmlns:a="http://schemas.openxmlformats.org/drawingml/2006/main">
              <a:ext uri="{FF2B5EF4-FFF2-40B4-BE49-F238E27FC236}">
                <a16:creationId xmlns:a16="http://schemas.microsoft.com/office/drawing/2014/main" id="{DDE9D66B-A9E4-41A2-8536-14420075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337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A"/>
          </a:solidFill>
          <a:ln xmlns:a="http://schemas.openxmlformats.org/drawingml/2006/main" w="11430">
            <a:solidFill>
              <a:srgbClr val="2F5F6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label-motivating question">
            <a:extLst xmlns:a="http://schemas.openxmlformats.org/drawingml/2006/main">
              <a:ext uri="{FF2B5EF4-FFF2-40B4-BE49-F238E27FC236}">
                <a16:creationId xmlns:a16="http://schemas.microsoft.com/office/drawing/2014/main" id="{984EB804-B0E7-4411-BB90-479F6A12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4805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 wrap="square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62A"/>
                </a:solidFill>
                <a:latin typeface="Aptos"/>
              </a:rPr>
              <a:t>Does lateral inhibition</a:t>
            </a:r>
          </a:p>
          <a:p xmlns:a="http://schemas.openxmlformats.org/drawingml/2006/main">
            <a:pPr algn="ctr"/>
            <a:r>
              <a:rPr sz="1050" b="1">
                <a:solidFill>
                  <a:srgbClr val="20262A"/>
                </a:solidFill>
                <a:latin typeface="Aptos"/>
              </a:rPr>
              <a:t>normalize PN output?</a:t>
            </a:r>
          </a:p>
        </p:txBody>
      </p:sp>
      <p:sp>
        <p:nvSpPr>
          <p:cNvPr id="9" name="box-session_0427.zarr">
            <a:extLst xmlns:a="http://schemas.openxmlformats.org/drawingml/2006/main">
              <a:ext uri="{FF2B5EF4-FFF2-40B4-BE49-F238E27FC236}">
                <a16:creationId xmlns:a16="http://schemas.microsoft.com/office/drawing/2014/main" id="{1636F29E-655A-4937-8068-5BAD1208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0530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label-session_0427.zarr">
            <a:extLst xmlns:a="http://schemas.openxmlformats.org/drawingml/2006/main">
              <a:ext uri="{FF2B5EF4-FFF2-40B4-BE49-F238E27FC236}">
                <a16:creationId xmlns:a16="http://schemas.microsoft.com/office/drawing/2014/main" id="{DDC60972-C1E5-4990-B2EF-08D1A2CF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1960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 wrap="square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262A"/>
                </a:solidFill>
                <a:latin typeface="Aptos"/>
              </a:rPr>
              <a:t>2025_12_10_Rig2_</a:t>
            </a:r>
          </a:p>
          <a:p xmlns:a="http://schemas.openxmlformats.org/drawingml/2006/main">
            <a:pPr algn="ctr"/>
            <a:r>
              <a:rPr sz="1050" b="0">
                <a:solidFill>
                  <a:srgbClr val="20262A"/>
                </a:solidFill>
                <a:latin typeface="Aptos"/>
              </a:rPr>
              <a:t>session001.nwb</a:t>
            </a:r>
          </a:p>
        </p:txBody>
      </p:sp>
      <p:sp>
        <p:nvSpPr>
          <p:cNvPr id="11" name="box-analysis">
            <a:extLst xmlns:a="http://schemas.openxmlformats.org/drawingml/2006/main">
              <a:ext uri="{FF2B5EF4-FFF2-40B4-BE49-F238E27FC236}">
                <a16:creationId xmlns:a16="http://schemas.microsoft.com/office/drawing/2014/main" id="{56D4F62A-CEC0-4C4A-AC85-6F83545C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053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label-analysis">
            <a:extLst xmlns:a="http://schemas.openxmlformats.org/drawingml/2006/main">
              <a:ext uri="{FF2B5EF4-FFF2-40B4-BE49-F238E27FC236}">
                <a16:creationId xmlns:a16="http://schemas.microsoft.com/office/drawing/2014/main" id="{668B1342-843E-448C-B11E-06933E4B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19600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 wrap="square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262A"/>
                </a:solidFill>
                <a:latin typeface="Aptos"/>
              </a:rPr>
              <a:t>divisive-norm fit</a:t>
            </a:r>
          </a:p>
        </p:txBody>
      </p:sp>
      <p:sp>
        <p:nvSpPr>
          <p:cNvPr id="13" name="box-figure">
            <a:extLst xmlns:a="http://schemas.openxmlformats.org/drawingml/2006/main">
              <a:ext uri="{FF2B5EF4-FFF2-40B4-BE49-F238E27FC236}">
                <a16:creationId xmlns:a16="http://schemas.microsoft.com/office/drawing/2014/main" id="{4D25A69F-3A98-4655-8117-6760F970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label-figure">
            <a:extLst xmlns:a="http://schemas.openxmlformats.org/drawingml/2006/main">
              <a:ext uri="{FF2B5EF4-FFF2-40B4-BE49-F238E27FC236}">
                <a16:creationId xmlns:a16="http://schemas.microsoft.com/office/drawing/2014/main" id="{61E720D5-A2E8-4A53-A22B-2E398BDC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295900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 wrap="square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262A"/>
                </a:solidFill>
                <a:latin typeface="Aptos"/>
              </a:rPr>
              <a:t>Fig 3b</a:t>
            </a:r>
          </a:p>
        </p:txBody>
      </p:sp>
      <p:sp>
        <p:nvSpPr>
          <p:cNvPr id="15" name="line-v">
            <a:extLst xmlns:a="http://schemas.openxmlformats.org/drawingml/2006/main">
              <a:ext uri="{FF2B5EF4-FFF2-40B4-BE49-F238E27FC236}">
                <a16:creationId xmlns:a16="http://schemas.microsoft.com/office/drawing/2014/main" id="{634271ED-B833-403C-8BEA-42678DE9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771900"/>
            <a:ext cx="19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6F"/>
          </a:solidFill>
          <a:ln xmlns:a="http://schemas.openxmlformats.org/drawingml/2006/main" w="0">
            <a:solidFill>
              <a:srgbClr val="2F5F6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line-h">
            <a:extLst xmlns:a="http://schemas.openxmlformats.org/drawingml/2006/main">
              <a:ext uri="{FF2B5EF4-FFF2-40B4-BE49-F238E27FC236}">
                <a16:creationId xmlns:a16="http://schemas.microsoft.com/office/drawing/2014/main" id="{5535989A-DFF3-48FB-A3E8-7CA2E539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2437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line-v">
            <a:extLst xmlns:a="http://schemas.openxmlformats.org/drawingml/2006/main">
              <a:ext uri="{FF2B5EF4-FFF2-40B4-BE49-F238E27FC236}">
                <a16:creationId xmlns:a16="http://schemas.microsoft.com/office/drawing/2014/main" id="{75D85EB9-0045-46ED-B2AF-15B4F36A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743450"/>
            <a:ext cx="19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8F5123-4504-4353-A34D-9C63C186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9433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5F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5F6F"/>
                </a:solidFill>
                <a:latin typeface="Aptos"/>
                <a:ea typeface="Aptos"/>
                <a:cs typeface="Aptos"/>
              </a:rPr>
              <a:t>question addressed</a:t>
            </a:r>
          </a:p>
        </p:txBody>
      </p:sp>
      <p:sp>
        <p:nvSpPr>
          <p:cNvPr id="19" name="box-later review:&#10;why was this run done?">
            <a:extLst xmlns:a="http://schemas.openxmlformats.org/drawingml/2006/main">
              <a:ext uri="{FF2B5EF4-FFF2-40B4-BE49-F238E27FC236}">
                <a16:creationId xmlns:a16="http://schemas.microsoft.com/office/drawing/2014/main" id="{3F773FC5-78EE-480B-BFC0-66E77DA5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43350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label-later review:&#10;why was this run done?">
            <a:extLst xmlns:a="http://schemas.openxmlformats.org/drawingml/2006/main">
              <a:ext uri="{FF2B5EF4-FFF2-40B4-BE49-F238E27FC236}">
                <a16:creationId xmlns:a16="http://schemas.microsoft.com/office/drawing/2014/main" id="{693DE08D-8473-4C78-8E62-AF76C7F2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57650"/>
            <a:ext cx="1828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later review:</a:t>
            </a:r>
          </a:p>
          <a:p xmlns:a="http://schemas.openxmlformats.org/drawingml/2006/main">
            <a:pPr algn="ctr">
              <a:defRPr sz="105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why was this run done?</a:t>
            </a:r>
          </a:p>
        </p:txBody>
      </p:sp>
      <p:sp>
        <p:nvSpPr>
          <p:cNvPr id="21" name="line-dot">
            <a:extLst xmlns:a="http://schemas.openxmlformats.org/drawingml/2006/main">
              <a:ext uri="{FF2B5EF4-FFF2-40B4-BE49-F238E27FC236}">
                <a16:creationId xmlns:a16="http://schemas.microsoft.com/office/drawing/2014/main" id="{A2D7F504-5341-4CC1-BDB0-DDA5995B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2481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line-dot">
            <a:extLst xmlns:a="http://schemas.openxmlformats.org/drawingml/2006/main">
              <a:ext uri="{FF2B5EF4-FFF2-40B4-BE49-F238E27FC236}">
                <a16:creationId xmlns:a16="http://schemas.microsoft.com/office/drawing/2014/main" id="{2689D387-600E-4199-89E3-78568047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990" y="427482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line-dot">
            <a:extLst xmlns:a="http://schemas.openxmlformats.org/drawingml/2006/main">
              <a:ext uri="{FF2B5EF4-FFF2-40B4-BE49-F238E27FC236}">
                <a16:creationId xmlns:a16="http://schemas.microsoft.com/office/drawing/2014/main" id="{C4DCE761-5646-4A12-AE9F-0EB7D7C8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9955" y="430149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line-dot">
            <a:extLst xmlns:a="http://schemas.openxmlformats.org/drawingml/2006/main">
              <a:ext uri="{FF2B5EF4-FFF2-40B4-BE49-F238E27FC236}">
                <a16:creationId xmlns:a16="http://schemas.microsoft.com/office/drawing/2014/main" id="{AA6E2131-3445-4EAA-8047-1493E4CE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432816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line-dot">
            <a:extLst xmlns:a="http://schemas.openxmlformats.org/drawingml/2006/main">
              <a:ext uri="{FF2B5EF4-FFF2-40B4-BE49-F238E27FC236}">
                <a16:creationId xmlns:a16="http://schemas.microsoft.com/office/drawing/2014/main" id="{3865ACB9-68D1-4086-8058-6E7224CB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885" y="435483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line-dot">
            <a:extLst xmlns:a="http://schemas.openxmlformats.org/drawingml/2006/main">
              <a:ext uri="{FF2B5EF4-FFF2-40B4-BE49-F238E27FC236}">
                <a16:creationId xmlns:a16="http://schemas.microsoft.com/office/drawing/2014/main" id="{BF389D61-E2A5-45F3-BEC4-9B926D91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81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line-dot">
            <a:extLst xmlns:a="http://schemas.openxmlformats.org/drawingml/2006/main">
              <a:ext uri="{FF2B5EF4-FFF2-40B4-BE49-F238E27FC236}">
                <a16:creationId xmlns:a16="http://schemas.microsoft.com/office/drawing/2014/main" id="{FF3AE27A-EB4B-49D6-B0CB-1BDCC1D9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815" y="440817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line-dot">
            <a:extLst xmlns:a="http://schemas.openxmlformats.org/drawingml/2006/main">
              <a:ext uri="{FF2B5EF4-FFF2-40B4-BE49-F238E27FC236}">
                <a16:creationId xmlns:a16="http://schemas.microsoft.com/office/drawing/2014/main" id="{7DF3305E-DC04-4A56-BDD8-544C8AE4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4780" y="443484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line-dot">
            <a:extLst xmlns:a="http://schemas.openxmlformats.org/drawingml/2006/main">
              <a:ext uri="{FF2B5EF4-FFF2-40B4-BE49-F238E27FC236}">
                <a16:creationId xmlns:a16="http://schemas.microsoft.com/office/drawing/2014/main" id="{9DEB9B39-FD92-41F6-ABA9-9731994A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5745" y="446151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line-dot">
            <a:extLst xmlns:a="http://schemas.openxmlformats.org/drawingml/2006/main">
              <a:ext uri="{FF2B5EF4-FFF2-40B4-BE49-F238E27FC236}">
                <a16:creationId xmlns:a16="http://schemas.microsoft.com/office/drawing/2014/main" id="{3C20C756-624D-43C5-9356-0CB270BD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710" y="448818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line-dot">
            <a:extLst xmlns:a="http://schemas.openxmlformats.org/drawingml/2006/main">
              <a:ext uri="{FF2B5EF4-FFF2-40B4-BE49-F238E27FC236}">
                <a16:creationId xmlns:a16="http://schemas.microsoft.com/office/drawing/2014/main" id="{652FBA73-DC81-461E-B230-C142787A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514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box-model">
            <a:extLst xmlns:a="http://schemas.openxmlformats.org/drawingml/2006/main">
              <a:ext uri="{FF2B5EF4-FFF2-40B4-BE49-F238E27FC236}">
                <a16:creationId xmlns:a16="http://schemas.microsoft.com/office/drawing/2014/main" id="{D1F0B6BD-C5C2-46C9-9A4E-7DE17E4F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14700"/>
            <a:ext cx="1771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label-model">
            <a:extLst xmlns:a="http://schemas.openxmlformats.org/drawingml/2006/main">
              <a:ext uri="{FF2B5EF4-FFF2-40B4-BE49-F238E27FC236}">
                <a16:creationId xmlns:a16="http://schemas.microsoft.com/office/drawing/2014/main" id="{F30FF037-C882-4BF0-A22D-E54A1FBB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429000"/>
            <a:ext cx="1504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34" name="context-packet-box">
            <a:extLst xmlns:a="http://schemas.openxmlformats.org/drawingml/2006/main">
              <a:ext uri="{FF2B5EF4-FFF2-40B4-BE49-F238E27FC236}">
                <a16:creationId xmlns:a16="http://schemas.microsoft.com/office/drawing/2014/main" id="{E80365F8-66F8-4EE8-866E-09CE5FB7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71950"/>
            <a:ext cx="20383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6D8"/>
          </a:solidFill>
          <a:ln xmlns:a="http://schemas.openxmlformats.org/drawingml/2006/main" w="1143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5" name="context-packet-label">
            <a:extLst xmlns:a="http://schemas.openxmlformats.org/drawingml/2006/main">
              <a:ext uri="{FF2B5EF4-FFF2-40B4-BE49-F238E27FC236}">
                <a16:creationId xmlns:a16="http://schemas.microsoft.com/office/drawing/2014/main" id="{A0A3EEE5-7069-4436-B488-A1E4D3B6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24350"/>
            <a:ext cx="17716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context packet</a:t>
            </a:r>
          </a:p>
          <a:p xmlns:a="http://schemas.openxmlformats.org/drawingml/2006/main">
            <a:pPr algn="ctr">
              <a:defRPr sz="90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- lab goal</a:t>
            </a:r>
          </a:p>
          <a:p xmlns:a="http://schemas.openxmlformats.org/drawingml/2006/main">
            <a:pPr algn="ctr">
              <a:defRPr sz="90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- question tree</a:t>
            </a:r>
          </a:p>
          <a:p xmlns:a="http://schemas.openxmlformats.org/drawingml/2006/main">
            <a:pPr algn="ctr">
              <a:defRPr sz="90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- linked evidence</a:t>
            </a:r>
          </a:p>
          <a:p xmlns:a="http://schemas.openxmlformats.org/drawingml/2006/main">
            <a:pPr algn="ctr">
              <a:defRPr sz="90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- prior claims</a:t>
            </a:r>
          </a:p>
        </p:txBody>
      </p:sp>
      <p:sp>
        <p:nvSpPr>
          <p:cNvPr id="36" name="line-dot">
            <a:extLst xmlns:a="http://schemas.openxmlformats.org/drawingml/2006/main">
              <a:ext uri="{FF2B5EF4-FFF2-40B4-BE49-F238E27FC236}">
                <a16:creationId xmlns:a16="http://schemas.microsoft.com/office/drawing/2014/main" id="{D47EEF04-16CF-47ED-A8A0-47BC7B41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514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7" name="line-dot">
            <a:extLst xmlns:a="http://schemas.openxmlformats.org/drawingml/2006/main">
              <a:ext uri="{FF2B5EF4-FFF2-40B4-BE49-F238E27FC236}">
                <a16:creationId xmlns:a16="http://schemas.microsoft.com/office/drawing/2014/main" id="{0A278ADE-038A-449C-83D9-9F160129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8730" y="4532948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8" name="line-dot">
            <a:extLst xmlns:a="http://schemas.openxmlformats.org/drawingml/2006/main">
              <a:ext uri="{FF2B5EF4-FFF2-40B4-BE49-F238E27FC236}">
                <a16:creationId xmlns:a16="http://schemas.microsoft.com/office/drawing/2014/main" id="{760F5B5F-EB9F-493E-B835-75F3A5CF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7785" y="455104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line-dot">
            <a:extLst xmlns:a="http://schemas.openxmlformats.org/drawingml/2006/main">
              <a:ext uri="{FF2B5EF4-FFF2-40B4-BE49-F238E27FC236}">
                <a16:creationId xmlns:a16="http://schemas.microsoft.com/office/drawing/2014/main" id="{2355F5C9-2214-43C8-A740-2F1805F7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569143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0" name="line-dot">
            <a:extLst xmlns:a="http://schemas.openxmlformats.org/drawingml/2006/main">
              <a:ext uri="{FF2B5EF4-FFF2-40B4-BE49-F238E27FC236}">
                <a16:creationId xmlns:a16="http://schemas.microsoft.com/office/drawing/2014/main" id="{C9BBDA57-CAD0-41FB-A613-BC8977EB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5895" y="458724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1" name="line-dot">
            <a:extLst xmlns:a="http://schemas.openxmlformats.org/drawingml/2006/main">
              <a:ext uri="{FF2B5EF4-FFF2-40B4-BE49-F238E27FC236}">
                <a16:creationId xmlns:a16="http://schemas.microsoft.com/office/drawing/2014/main" id="{9143E99D-9E04-4F4A-AEE5-47CB9B36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605338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2" name="line-dot">
            <a:extLst xmlns:a="http://schemas.openxmlformats.org/drawingml/2006/main">
              <a:ext uri="{FF2B5EF4-FFF2-40B4-BE49-F238E27FC236}">
                <a16:creationId xmlns:a16="http://schemas.microsoft.com/office/drawing/2014/main" id="{5F6252D8-2B81-4DDA-8E0D-7223C77F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4005" y="462343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3" name="line-dot">
            <a:extLst xmlns:a="http://schemas.openxmlformats.org/drawingml/2006/main">
              <a:ext uri="{FF2B5EF4-FFF2-40B4-BE49-F238E27FC236}">
                <a16:creationId xmlns:a16="http://schemas.microsoft.com/office/drawing/2014/main" id="{D6CA018D-7EDF-4914-A97A-E8767235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3060" y="4641533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4" name="line-dot">
            <a:extLst xmlns:a="http://schemas.openxmlformats.org/drawingml/2006/main">
              <a:ext uri="{FF2B5EF4-FFF2-40B4-BE49-F238E27FC236}">
                <a16:creationId xmlns:a16="http://schemas.microsoft.com/office/drawing/2014/main" id="{DFC9DA8E-F2E1-4034-818A-AE1C7896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65963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5" name="line-dot">
            <a:extLst xmlns:a="http://schemas.openxmlformats.org/drawingml/2006/main">
              <a:ext uri="{FF2B5EF4-FFF2-40B4-BE49-F238E27FC236}">
                <a16:creationId xmlns:a16="http://schemas.microsoft.com/office/drawing/2014/main" id="{6E3A5816-1866-4A09-B5EA-D4B61277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170" y="4677728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6" name="line-dot">
            <a:extLst xmlns:a="http://schemas.openxmlformats.org/drawingml/2006/main">
              <a:ext uri="{FF2B5EF4-FFF2-40B4-BE49-F238E27FC236}">
                <a16:creationId xmlns:a16="http://schemas.microsoft.com/office/drawing/2014/main" id="{1B996376-EF3F-4A18-8AA6-1C73D7F6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6958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7" name="line-v">
            <a:extLst xmlns:a="http://schemas.openxmlformats.org/drawingml/2006/main">
              <a:ext uri="{FF2B5EF4-FFF2-40B4-BE49-F238E27FC236}">
                <a16:creationId xmlns:a16="http://schemas.microsoft.com/office/drawing/2014/main" id="{2E47351B-EC79-45D0-9E78-8A963D88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75285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8" name="box-raw note">
            <a:extLst xmlns:a="http://schemas.openxmlformats.org/drawingml/2006/main">
              <a:ext uri="{FF2B5EF4-FFF2-40B4-BE49-F238E27FC236}">
                <a16:creationId xmlns:a16="http://schemas.microsoft.com/office/drawing/2014/main" id="{C35867AC-945D-4CCA-9E94-1ACB6E1E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435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9" name="label-raw note">
            <a:extLst xmlns:a="http://schemas.openxmlformats.org/drawingml/2006/main">
              <a:ext uri="{FF2B5EF4-FFF2-40B4-BE49-F238E27FC236}">
                <a16:creationId xmlns:a16="http://schemas.microsoft.com/office/drawing/2014/main" id="{C303EFC1-B74C-49EA-BC2F-D4688784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57800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raw note</a:t>
            </a:r>
          </a:p>
        </p:txBody>
      </p:sp>
      <p:sp>
        <p:nvSpPr>
          <p:cNvPr id="50" name="box-draft operations&#10;link note -&gt; question&#10;attach evidence">
            <a:extLst xmlns:a="http://schemas.openxmlformats.org/drawingml/2006/main">
              <a:ext uri="{FF2B5EF4-FFF2-40B4-BE49-F238E27FC236}">
                <a16:creationId xmlns:a16="http://schemas.microsoft.com/office/drawing/2014/main" id="{A67E590F-A379-46BD-9531-2483E964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1435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6D8"/>
          </a:solidFill>
          <a:ln xmlns:a="http://schemas.openxmlformats.org/drawingml/2006/main" w="1143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1" name="label-draft operations&#10;link note -&gt; question&#10;attach evidence">
            <a:extLst xmlns:a="http://schemas.openxmlformats.org/drawingml/2006/main">
              <a:ext uri="{FF2B5EF4-FFF2-40B4-BE49-F238E27FC236}">
                <a16:creationId xmlns:a16="http://schemas.microsoft.com/office/drawing/2014/main" id="{B3A9FD52-E3ED-4991-B733-A7D43D80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257800"/>
            <a:ext cx="1924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draft operations</a:t>
            </a:r>
          </a:p>
          <a:p xmlns:a="http://schemas.openxmlformats.org/drawingml/2006/main">
            <a:pPr algn="ctr">
              <a:defRPr sz="90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link note -&gt; question</a:t>
            </a:r>
          </a:p>
          <a:p xmlns:a="http://schemas.openxmlformats.org/drawingml/2006/main">
            <a:pPr algn="ctr">
              <a:defRPr sz="90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attach evidence</a:t>
            </a:r>
          </a:p>
        </p:txBody>
      </p:sp>
      <p:sp>
        <p:nvSpPr>
          <p:cNvPr id="52" name="box-human review">
            <a:extLst xmlns:a="http://schemas.openxmlformats.org/drawingml/2006/main">
              <a:ext uri="{FF2B5EF4-FFF2-40B4-BE49-F238E27FC236}">
                <a16:creationId xmlns:a16="http://schemas.microsoft.com/office/drawing/2014/main" id="{1BB5E0C2-1CD7-4744-B8CF-0F2F2E56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29300"/>
            <a:ext cx="194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3" name="label-human review">
            <a:extLst xmlns:a="http://schemas.openxmlformats.org/drawingml/2006/main">
              <a:ext uri="{FF2B5EF4-FFF2-40B4-BE49-F238E27FC236}">
                <a16:creationId xmlns:a16="http://schemas.microsoft.com/office/drawing/2014/main" id="{2A12CD46-8807-426B-86E6-010C3846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9436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human review</a:t>
            </a:r>
          </a:p>
        </p:txBody>
      </p:sp>
      <p:sp>
        <p:nvSpPr>
          <p:cNvPr id="54" name="line-h">
            <a:extLst xmlns:a="http://schemas.openxmlformats.org/drawingml/2006/main">
              <a:ext uri="{FF2B5EF4-FFF2-40B4-BE49-F238E27FC236}">
                <a16:creationId xmlns:a16="http://schemas.microsoft.com/office/drawing/2014/main" id="{92D1C002-F6CA-417E-BDCD-AC44E4A4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36257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5" name="line-dot">
            <a:extLst xmlns:a="http://schemas.openxmlformats.org/drawingml/2006/main">
              <a:ext uri="{FF2B5EF4-FFF2-40B4-BE49-F238E27FC236}">
                <a16:creationId xmlns:a16="http://schemas.microsoft.com/office/drawing/2014/main" id="{5372540F-9DF9-4924-81E1-0B7A54AD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4959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6" name="line-dot">
            <a:extLst xmlns:a="http://schemas.openxmlformats.org/drawingml/2006/main">
              <a:ext uri="{FF2B5EF4-FFF2-40B4-BE49-F238E27FC236}">
                <a16:creationId xmlns:a16="http://schemas.microsoft.com/office/drawing/2014/main" id="{9B9A6C03-2F23-4E45-AD19-8964247D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9285" y="5548313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7" name="line-dot">
            <a:extLst xmlns:a="http://schemas.openxmlformats.org/drawingml/2006/main">
              <a:ext uri="{FF2B5EF4-FFF2-40B4-BE49-F238E27FC236}">
                <a16:creationId xmlns:a16="http://schemas.microsoft.com/office/drawing/2014/main" id="{427EB8AA-C753-4437-9B9C-23D7A1AB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1195" y="56007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8" name="line-dot">
            <a:extLst xmlns:a="http://schemas.openxmlformats.org/drawingml/2006/main">
              <a:ext uri="{FF2B5EF4-FFF2-40B4-BE49-F238E27FC236}">
                <a16:creationId xmlns:a16="http://schemas.microsoft.com/office/drawing/2014/main" id="{D765AC6C-B114-4816-8A9F-530C0D78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3105" y="5653088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9" name="line-dot">
            <a:extLst xmlns:a="http://schemas.openxmlformats.org/drawingml/2006/main">
              <a:ext uri="{FF2B5EF4-FFF2-40B4-BE49-F238E27FC236}">
                <a16:creationId xmlns:a16="http://schemas.microsoft.com/office/drawing/2014/main" id="{4AEDE6A7-2C9A-4AC1-A2B9-81FC9D47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5015" y="57054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0" name="line-dot">
            <a:extLst xmlns:a="http://schemas.openxmlformats.org/drawingml/2006/main">
              <a:ext uri="{FF2B5EF4-FFF2-40B4-BE49-F238E27FC236}">
                <a16:creationId xmlns:a16="http://schemas.microsoft.com/office/drawing/2014/main" id="{A9CEE5B1-CE01-4E7B-A15A-4314609E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5757863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1" name="line-dot">
            <a:extLst xmlns:a="http://schemas.openxmlformats.org/drawingml/2006/main">
              <a:ext uri="{FF2B5EF4-FFF2-40B4-BE49-F238E27FC236}">
                <a16:creationId xmlns:a16="http://schemas.microsoft.com/office/drawing/2014/main" id="{37BDDFEF-DE3A-4E3E-B5C6-16A6EF44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835" y="5810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2" name="line-dot">
            <a:extLst xmlns:a="http://schemas.openxmlformats.org/drawingml/2006/main">
              <a:ext uri="{FF2B5EF4-FFF2-40B4-BE49-F238E27FC236}">
                <a16:creationId xmlns:a16="http://schemas.microsoft.com/office/drawing/2014/main" id="{98C4B636-742A-4EE0-8247-593CBBCC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745" y="5862638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3" name="line-dot">
            <a:extLst xmlns:a="http://schemas.openxmlformats.org/drawingml/2006/main">
              <a:ext uri="{FF2B5EF4-FFF2-40B4-BE49-F238E27FC236}">
                <a16:creationId xmlns:a16="http://schemas.microsoft.com/office/drawing/2014/main" id="{E1CE5FA8-61B2-48CE-893B-9900B68C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2655" y="59150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4" name="line-dot">
            <a:extLst xmlns:a="http://schemas.openxmlformats.org/drawingml/2006/main">
              <a:ext uri="{FF2B5EF4-FFF2-40B4-BE49-F238E27FC236}">
                <a16:creationId xmlns:a16="http://schemas.microsoft.com/office/drawing/2014/main" id="{E8B8F2C4-4F58-4762-8409-D1DBF5D7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565" y="5967413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5" name="line-dot">
            <a:extLst xmlns:a="http://schemas.openxmlformats.org/drawingml/2006/main">
              <a:ext uri="{FF2B5EF4-FFF2-40B4-BE49-F238E27FC236}">
                <a16:creationId xmlns:a16="http://schemas.microsoft.com/office/drawing/2014/main" id="{A579A4E2-32CB-4AF8-A780-BFE5C6C9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60198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6" name="line-v">
            <a:extLst xmlns:a="http://schemas.openxmlformats.org/drawingml/2006/main">
              <a:ext uri="{FF2B5EF4-FFF2-40B4-BE49-F238E27FC236}">
                <a16:creationId xmlns:a16="http://schemas.microsoft.com/office/drawing/2014/main" id="{A65D99CA-4DF1-475D-AAD9-6E1E9DE0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619750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B2D"/>
          </a:solidFill>
          <a:ln xmlns:a="http://schemas.openxmlformats.org/drawingml/2006/main" w="0">
            <a:solidFill>
              <a:srgbClr val="8A5B2D"/>
            </a:solidFill>
            <a:prstDash val="solid"/>
          </a:ln>
        </p:spPr>
        <p:txBody xmlns:a="http://schemas.openxmlformats.org/drawingml/2006/main">
          <a:bodyPr/>
          <a:p/>
        </p:txBody>
      </p:sp>
    </p:spTree>
    <p:extLst>
      <p:ext uri="{BB962C8B-B14F-4D97-AF65-F5344CB8AC3E}">
        <p14:creationId xmlns:p14="http://schemas.microsoft.com/office/powerpoint/2010/main" val="74543742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998125F-F6A6-4406-88DD-D3D97481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F7F6F1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A8B09E3F-71A2-465E-BAF1-74C4446E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5F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5F6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3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0AECA820-724A-4DB4-A6D8-1394A446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6F"/>
          </a:solidFill>
          <a:ln xmlns:a="http://schemas.openxmlformats.org/drawingml/2006/main" w="0">
            <a:solidFill>
              <a:srgbClr val="2F5F6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source-note">
            <a:extLst xmlns:a="http://schemas.openxmlformats.org/drawingml/2006/main">
              <a:ext uri="{FF2B5EF4-FFF2-40B4-BE49-F238E27FC236}">
                <a16:creationId xmlns:a16="http://schemas.microsoft.com/office/drawing/2014/main" id="{306F0B8E-7249-4161-A3D0-B94196C3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97277"/>
                </a:solidFill>
                <a:latin typeface="Aptos"/>
                <a:ea typeface="Aptos"/>
                <a:cs typeface="Aptos"/>
              </a:rPr>
              <a:t>Source: docs/research-group-presentation.md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9FDC539-BA9E-4F97-805F-3AE26A50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97277"/>
                </a:solidFill>
                <a:latin typeface="Aptos"/>
              </a:rPr>
              <a:t>10</a:t>
            </a:r>
          </a:p>
        </p:txBody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5868CEB2-481F-453A-B2F1-7337EFE7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933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0262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20262A"/>
                </a:solidFill>
                <a:latin typeface="Aptos Display"/>
                <a:ea typeface="Aptos Display"/>
                <a:cs typeface="Aptos Display"/>
              </a:rPr>
              <a:t>Lab Tracker records semantic edges among existing lab artifacts.</a:t>
            </a:r>
          </a:p>
        </p:txBody>
      </p:sp>
      <p:sp>
        <p:nvSpPr>
          <p:cNvPr id="7" name="box-ELN note">
            <a:extLst xmlns:a="http://schemas.openxmlformats.org/drawingml/2006/main">
              <a:ext uri="{FF2B5EF4-FFF2-40B4-BE49-F238E27FC236}">
                <a16:creationId xmlns:a16="http://schemas.microsoft.com/office/drawing/2014/main" id="{413823D6-A142-43B3-8AE3-CA96C431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052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label-ELN note">
            <a:extLst xmlns:a="http://schemas.openxmlformats.org/drawingml/2006/main">
              <a:ext uri="{FF2B5EF4-FFF2-40B4-BE49-F238E27FC236}">
                <a16:creationId xmlns:a16="http://schemas.microsoft.com/office/drawing/2014/main" id="{95661222-F401-45CB-871D-C8B365BB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 wrap="square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262A"/>
                </a:solidFill>
                <a:latin typeface="Aptos"/>
              </a:rPr>
              <a:t>bench note (fly07)</a:t>
            </a:r>
          </a:p>
        </p:txBody>
      </p:sp>
      <p:sp>
        <p:nvSpPr>
          <p:cNvPr id="9" name="box-data file">
            <a:extLst xmlns:a="http://schemas.openxmlformats.org/drawingml/2006/main">
              <a:ext uri="{FF2B5EF4-FFF2-40B4-BE49-F238E27FC236}">
                <a16:creationId xmlns:a16="http://schemas.microsoft.com/office/drawing/2014/main" id="{F38125BC-69C9-4FD2-87F8-AB41F32E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96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label-data file">
            <a:extLst xmlns:a="http://schemas.openxmlformats.org/drawingml/2006/main">
              <a:ext uri="{FF2B5EF4-FFF2-40B4-BE49-F238E27FC236}">
                <a16:creationId xmlns:a16="http://schemas.microsoft.com/office/drawing/2014/main" id="{0D6F16F7-98FE-4409-B5CE-B8CEC3E5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33900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 wrap="square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262A"/>
                </a:solidFill>
                <a:latin typeface="Aptos"/>
              </a:rPr>
              <a:t>2025_12_10_Rig2_</a:t>
            </a:r>
          </a:p>
          <a:p xmlns:a="http://schemas.openxmlformats.org/drawingml/2006/main">
            <a:pPr algn="ctr"/>
            <a:r>
              <a:rPr sz="1050" b="0">
                <a:solidFill>
                  <a:srgbClr val="20262A"/>
                </a:solidFill>
                <a:latin typeface="Aptos"/>
              </a:rPr>
              <a:t>session001.nwb</a:t>
            </a:r>
          </a:p>
        </p:txBody>
      </p:sp>
      <p:sp>
        <p:nvSpPr>
          <p:cNvPr id="11" name="box-question addressed">
            <a:extLst xmlns:a="http://schemas.openxmlformats.org/drawingml/2006/main">
              <a:ext uri="{FF2B5EF4-FFF2-40B4-BE49-F238E27FC236}">
                <a16:creationId xmlns:a16="http://schemas.microsoft.com/office/drawing/2014/main" id="{914768F5-AB2D-4AEF-A17D-F55B591A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052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A"/>
          </a:solidFill>
          <a:ln xmlns:a="http://schemas.openxmlformats.org/drawingml/2006/main" w="11430">
            <a:solidFill>
              <a:srgbClr val="2F5F6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label-question addressed">
            <a:extLst xmlns:a="http://schemas.openxmlformats.org/drawingml/2006/main">
              <a:ext uri="{FF2B5EF4-FFF2-40B4-BE49-F238E27FC236}">
                <a16:creationId xmlns:a16="http://schemas.microsoft.com/office/drawing/2014/main" id="{81705F2E-AE7C-4DCA-BF63-E7D97706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19500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 wrap="square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62A"/>
                </a:solidFill>
                <a:latin typeface="Aptos"/>
              </a:rPr>
              <a:t>Does lateral inhibition</a:t>
            </a:r>
          </a:p>
          <a:p xmlns:a="http://schemas.openxmlformats.org/drawingml/2006/main">
            <a:pPr algn="ctr"/>
            <a:r>
              <a:rPr sz="1050" b="1">
                <a:solidFill>
                  <a:srgbClr val="20262A"/>
                </a:solidFill>
                <a:latin typeface="Aptos"/>
              </a:rPr>
              <a:t>normalize PN output?</a:t>
            </a:r>
          </a:p>
        </p:txBody>
      </p:sp>
      <p:sp>
        <p:nvSpPr>
          <p:cNvPr id="13" name="box-evidence for claim">
            <a:extLst xmlns:a="http://schemas.openxmlformats.org/drawingml/2006/main">
              <a:ext uri="{FF2B5EF4-FFF2-40B4-BE49-F238E27FC236}">
                <a16:creationId xmlns:a16="http://schemas.microsoft.com/office/drawing/2014/main" id="{9912EFD4-7BA2-4C3E-A742-98447282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196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A"/>
          </a:solidFill>
          <a:ln xmlns:a="http://schemas.openxmlformats.org/drawingml/2006/main" w="11430">
            <a:solidFill>
              <a:srgbClr val="2F5F6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label-evidence for claim">
            <a:extLst xmlns:a="http://schemas.openxmlformats.org/drawingml/2006/main">
              <a:ext uri="{FF2B5EF4-FFF2-40B4-BE49-F238E27FC236}">
                <a16:creationId xmlns:a16="http://schemas.microsoft.com/office/drawing/2014/main" id="{F4113416-F6A5-433D-BE17-0854F80C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33900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 wrap="square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62A"/>
                </a:solidFill>
                <a:latin typeface="Aptos"/>
              </a:rPr>
              <a:t>PN gain ×0.6 (n=18)</a:t>
            </a:r>
          </a:p>
        </p:txBody>
      </p:sp>
      <p:sp>
        <p:nvSpPr>
          <p:cNvPr id="15" name="box-analysis">
            <a:extLst xmlns:a="http://schemas.openxmlformats.org/drawingml/2006/main">
              <a:ext uri="{FF2B5EF4-FFF2-40B4-BE49-F238E27FC236}">
                <a16:creationId xmlns:a16="http://schemas.microsoft.com/office/drawing/2014/main" id="{70D48B74-180D-4F65-AC0C-AFA54C72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05200"/>
            <a:ext cx="1981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label-analysis">
            <a:extLst xmlns:a="http://schemas.openxmlformats.org/drawingml/2006/main">
              <a:ext uri="{FF2B5EF4-FFF2-40B4-BE49-F238E27FC236}">
                <a16:creationId xmlns:a16="http://schemas.microsoft.com/office/drawing/2014/main" id="{AE7F4E42-0D24-43A5-BDDE-33E0E400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195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 wrap="square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262A"/>
                </a:solidFill>
                <a:latin typeface="Aptos"/>
              </a:rPr>
              <a:t>divisive-norm fit</a:t>
            </a:r>
          </a:p>
        </p:txBody>
      </p:sp>
      <p:sp>
        <p:nvSpPr>
          <p:cNvPr id="17" name="box-figure">
            <a:extLst xmlns:a="http://schemas.openxmlformats.org/drawingml/2006/main">
              <a:ext uri="{FF2B5EF4-FFF2-40B4-BE49-F238E27FC236}">
                <a16:creationId xmlns:a16="http://schemas.microsoft.com/office/drawing/2014/main" id="{A82EC266-51D6-4DBF-8DA4-E5214F94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19600"/>
            <a:ext cx="1981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label-figure">
            <a:extLst xmlns:a="http://schemas.openxmlformats.org/drawingml/2006/main">
              <a:ext uri="{FF2B5EF4-FFF2-40B4-BE49-F238E27FC236}">
                <a16:creationId xmlns:a16="http://schemas.microsoft.com/office/drawing/2014/main" id="{6365B85A-297D-4714-8BF7-80A2B9D9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339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 wrap="square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262A"/>
                </a:solidFill>
                <a:latin typeface="Aptos"/>
              </a:rPr>
              <a:t>Fig 3b</a:t>
            </a:r>
          </a:p>
        </p:txBody>
      </p:sp>
      <p:sp>
        <p:nvSpPr>
          <p:cNvPr id="19" name="line-h">
            <a:extLst xmlns:a="http://schemas.openxmlformats.org/drawingml/2006/main">
              <a:ext uri="{FF2B5EF4-FFF2-40B4-BE49-F238E27FC236}">
                <a16:creationId xmlns:a16="http://schemas.microsoft.com/office/drawing/2014/main" id="{4459E0AF-E9B0-4ECE-8906-35C7BDFF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24275"/>
            <a:ext cx="1485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line-h">
            <a:extLst xmlns:a="http://schemas.openxmlformats.org/drawingml/2006/main">
              <a:ext uri="{FF2B5EF4-FFF2-40B4-BE49-F238E27FC236}">
                <a16:creationId xmlns:a16="http://schemas.microsoft.com/office/drawing/2014/main" id="{52F1A7F6-C3A7-44EB-9C44-F0101D49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638675"/>
            <a:ext cx="1485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line-h">
            <a:extLst xmlns:a="http://schemas.openxmlformats.org/drawingml/2006/main">
              <a:ext uri="{FF2B5EF4-FFF2-40B4-BE49-F238E27FC236}">
                <a16:creationId xmlns:a16="http://schemas.microsoft.com/office/drawing/2014/main" id="{D7F3E26E-4126-4A9A-B536-0A66F7DD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24275"/>
            <a:ext cx="1543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line-h">
            <a:extLst xmlns:a="http://schemas.openxmlformats.org/drawingml/2006/main">
              <a:ext uri="{FF2B5EF4-FFF2-40B4-BE49-F238E27FC236}">
                <a16:creationId xmlns:a16="http://schemas.microsoft.com/office/drawing/2014/main" id="{AE3CDF7C-CEFB-4F13-86F4-FF8BF178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38675"/>
            <a:ext cx="1543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F106A5-8B36-423F-ACEC-9E801286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870448"/>
            <a:ext cx="704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97277"/>
                </a:solidFill>
                <a:latin typeface="Aptos"/>
                <a:ea typeface="Aptos"/>
                <a:cs typeface="Aptos"/>
              </a:rPr>
              <a:t>The system stores references to artifacts and the scientific edges between them.</a:t>
            </a:r>
          </a:p>
        </p:txBody>
      </p:sp>
      <p:sp>
        <p:nvSpPr>
          <p:cNvPr id="24" name="ctlq-24">
            <a:extLst xmlns:a="http://schemas.openxmlformats.org/drawingml/2006/main">
              <a:ext uri="{FF2B5EF4-FFF2-40B4-BE49-F238E27FC236}">
                <a16:creationId xmlns:a16="http://schemas.microsoft.com/office/drawing/2014/main" id="{4459E0AF-E9B0-4ECE-8906-35C7BDFF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4855464"/>
            <a:ext cx="18288" cy="155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ctlq-25">
            <a:extLst xmlns:a="http://schemas.openxmlformats.org/drawingml/2006/main">
              <a:ext uri="{FF2B5EF4-FFF2-40B4-BE49-F238E27FC236}">
                <a16:creationId xmlns:a16="http://schemas.microsoft.com/office/drawing/2014/main" id="{F38125BC-69C9-4FD2-87F8-AB41F32E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5010912"/>
            <a:ext cx="2194560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ctlq-26">
            <a:extLst xmlns:a="http://schemas.openxmlformats.org/drawingml/2006/main">
              <a:ext uri="{FF2B5EF4-FFF2-40B4-BE49-F238E27FC236}">
                <a16:creationId xmlns:a16="http://schemas.microsoft.com/office/drawing/2014/main" id="{0D6F16F7-98FE-4409-B5CE-B8CEC3E5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5084064"/>
            <a:ext cx="1975104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 wrap="square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262A"/>
                </a:solidFill>
                <a:latin typeface="Aptos"/>
              </a:rPr>
              <a:t>control question:</a:t>
            </a:r>
          </a:p>
          <a:p xmlns:a="http://schemas.openxmlformats.org/drawingml/2006/main">
            <a:pPr algn="ctr"/>
            <a:r>
              <a:rPr sz="1050" b="0">
                <a:solidFill>
                  <a:srgbClr val="20262A"/>
                </a:solidFill>
                <a:latin typeface="Aptos"/>
              </a:rPr>
              <a:t>presynaptic on ORNs?</a:t>
            </a:r>
          </a:p>
        </p:txBody>
      </p:sp>
    </p:spTree>
    <p:extLst>
      <p:ext uri="{BB962C8B-B14F-4D97-AF65-F5344CB8AC3E}">
        <p14:creationId xmlns:p14="http://schemas.microsoft.com/office/powerpoint/2010/main" val="127732639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091C1B6-F33C-4576-8F04-8DFBBC7D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F7F6F1"/>
            </a:solidFill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A085743A-1A1D-418F-9843-525361C9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5F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5F6F"/>
                </a:solidFill>
                <a:latin typeface="Aptos"/>
                <a:ea typeface="Aptos"/>
                <a:cs typeface="Aptos"/>
              </a:rPr>
              <a:t>QUESTIONS FIRST</a:t>
            </a:r>
          </a:p>
        </p:txBody>
      </p:sp>
      <p:sp>
        <p:nvSpPr>
          <p:cNvPr id="3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7B13AE39-A600-42FD-97BC-B51DC108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6F"/>
          </a:solidFill>
          <a:ln xmlns:a="http://schemas.openxmlformats.org/drawingml/2006/main" w="0">
            <a:solidFill>
              <a:srgbClr val="2F5F6F"/>
            </a:solidFill>
            <a:prstDash val="solid"/>
          </a:ln>
        </p:spPr>
      </p:sp>
      <p:sp>
        <p:nvSpPr>
          <p:cNvPr id="4" name="source-note">
            <a:extLst xmlns:a="http://schemas.openxmlformats.org/drawingml/2006/main">
              <a:ext uri="{FF2B5EF4-FFF2-40B4-BE49-F238E27FC236}">
                <a16:creationId xmlns:a16="http://schemas.microsoft.com/office/drawing/2014/main" id="{EC14FDA2-E653-4DEF-A752-4EE28EF2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97277"/>
                </a:solidFill>
                <a:latin typeface="Aptos"/>
                <a:ea typeface="Aptos"/>
                <a:cs typeface="Aptos"/>
              </a:rPr>
              <a:t>Source: docs/research-group-presentation.md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7D0E61E-6704-4271-90B7-9ABFE52D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97277"/>
                </a:solidFill>
                <a:latin typeface="Aptos"/>
              </a:rPr>
              <a:t>11</a:t>
            </a:r>
          </a:p>
        </p:txBody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D507DCC3-BC7B-4246-B455-C089CA25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933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0262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20262A"/>
                </a:solidFill>
                <a:latin typeface="Aptos Display"/>
                <a:ea typeface="Aptos Display"/>
                <a:cs typeface="Aptos Display"/>
              </a:rPr>
              <a:t>Begin with a motivating question.</a:t>
            </a:r>
          </a:p>
        </p:txBody>
      </p:sp>
      <p:sp>
        <p:nvSpPr>
          <p:cNvPr id="7" name="box-motivating question">
            <a:extLst xmlns:a="http://schemas.openxmlformats.org/drawingml/2006/main">
              <a:ext uri="{FF2B5EF4-FFF2-40B4-BE49-F238E27FC236}">
                <a16:creationId xmlns:a16="http://schemas.microsoft.com/office/drawing/2014/main" id="{3E694473-95A1-41A7-BE18-589FEF0E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952750"/>
            <a:ext cx="323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A"/>
          </a:solidFill>
          <a:ln xmlns:a="http://schemas.openxmlformats.org/drawingml/2006/main" w="11430">
            <a:solidFill>
              <a:srgbClr val="2F5F6F"/>
            </a:solidFill>
            <a:prstDash val="solid"/>
          </a:ln>
        </p:spPr>
      </p:sp>
      <p:sp>
        <p:nvSpPr>
          <p:cNvPr id="8" name="label-motivating question">
            <a:extLst xmlns:a="http://schemas.openxmlformats.org/drawingml/2006/main">
              <a:ext uri="{FF2B5EF4-FFF2-40B4-BE49-F238E27FC236}">
                <a16:creationId xmlns:a16="http://schemas.microsoft.com/office/drawing/2014/main" id="{F9C45EF8-5D0B-406B-A208-B06A3E3B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67050"/>
            <a:ext cx="2971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262A"/>
                </a:solidFill>
                <a:latin typeface="Aptos"/>
                <a:ea typeface="Aptos"/>
                <a:cs typeface="Aptos"/>
              </a:rPr>
              <a:t>motivating question</a:t>
            </a:r>
          </a:p>
        </p:txBody>
      </p:sp>
      <p:sp>
        <p:nvSpPr>
          <p:cNvPr id="9" name="box-answerable question">
            <a:extLst xmlns:a="http://schemas.openxmlformats.org/drawingml/2006/main">
              <a:ext uri="{FF2B5EF4-FFF2-40B4-BE49-F238E27FC236}">
                <a16:creationId xmlns:a16="http://schemas.microsoft.com/office/drawing/2014/main" id="{89490361-D111-46FF-B28A-8F2FD6BA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8290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2DED4"/>
            </a:solidFill>
            <a:prstDash val="solid"/>
          </a:ln>
        </p:spPr>
      </p:sp>
      <p:sp>
        <p:nvSpPr>
          <p:cNvPr id="10" name="label-answerable question">
            <a:extLst xmlns:a="http://schemas.openxmlformats.org/drawingml/2006/main">
              <a:ext uri="{FF2B5EF4-FFF2-40B4-BE49-F238E27FC236}">
                <a16:creationId xmlns:a16="http://schemas.microsoft.com/office/drawing/2014/main" id="{C16B6012-0DF3-4DCB-81E8-33002374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43350"/>
            <a:ext cx="2590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97277"/>
                </a:solidFill>
                <a:latin typeface="Aptos"/>
                <a:ea typeface="Aptos"/>
                <a:cs typeface="Aptos"/>
              </a:rPr>
              <a:t>answerable question</a:t>
            </a:r>
          </a:p>
        </p:txBody>
      </p:sp>
      <p:sp>
        <p:nvSpPr>
          <p:cNvPr id="11" name="box-dataset">
            <a:extLst xmlns:a="http://schemas.openxmlformats.org/drawingml/2006/main">
              <a:ext uri="{FF2B5EF4-FFF2-40B4-BE49-F238E27FC236}">
                <a16:creationId xmlns:a16="http://schemas.microsoft.com/office/drawing/2014/main" id="{1DD68F1E-0379-4704-BB7E-D8BE8D98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958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2DED4"/>
            </a:solidFill>
            <a:prstDash val="solid"/>
          </a:ln>
        </p:spPr>
      </p:sp>
      <p:sp>
        <p:nvSpPr>
          <p:cNvPr id="12" name="label-dataset">
            <a:extLst xmlns:a="http://schemas.openxmlformats.org/drawingml/2006/main">
              <a:ext uri="{FF2B5EF4-FFF2-40B4-BE49-F238E27FC236}">
                <a16:creationId xmlns:a16="http://schemas.microsoft.com/office/drawing/2014/main" id="{C4CAB7E8-2852-48D7-9F29-77200337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01015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97277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13" name="box-analysis">
            <a:extLst xmlns:a="http://schemas.openxmlformats.org/drawingml/2006/main">
              <a:ext uri="{FF2B5EF4-FFF2-40B4-BE49-F238E27FC236}">
                <a16:creationId xmlns:a16="http://schemas.microsoft.com/office/drawing/2014/main" id="{6ADE39AF-CFFF-4684-8E10-8ECDA317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958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2DED4"/>
            </a:solidFill>
            <a:prstDash val="solid"/>
          </a:ln>
        </p:spPr>
      </p:sp>
      <p:sp>
        <p:nvSpPr>
          <p:cNvPr id="14" name="label-analysis">
            <a:extLst xmlns:a="http://schemas.openxmlformats.org/drawingml/2006/main">
              <a:ext uri="{FF2B5EF4-FFF2-40B4-BE49-F238E27FC236}">
                <a16:creationId xmlns:a16="http://schemas.microsoft.com/office/drawing/2014/main" id="{0A006A55-462F-425B-B927-E221CE09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01015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97277"/>
                </a:solidFill>
                <a:latin typeface="Aptos"/>
                <a:ea typeface="Aptos"/>
                <a:cs typeface="Aptos"/>
              </a:rPr>
              <a:t>analysis</a:t>
            </a:r>
          </a:p>
        </p:txBody>
      </p:sp>
      <p:sp>
        <p:nvSpPr>
          <p:cNvPr id="15" name="box-supported claim + figure">
            <a:extLst xmlns:a="http://schemas.openxmlformats.org/drawingml/2006/main">
              <a:ext uri="{FF2B5EF4-FFF2-40B4-BE49-F238E27FC236}">
                <a16:creationId xmlns:a16="http://schemas.microsoft.com/office/drawing/2014/main" id="{2620AF5C-ED75-4DB0-83A9-B6931D5F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958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2DED4"/>
            </a:solidFill>
            <a:prstDash val="solid"/>
          </a:ln>
        </p:spPr>
      </p:sp>
      <p:sp>
        <p:nvSpPr>
          <p:cNvPr id="16" name="label-supported claim + figure">
            <a:extLst xmlns:a="http://schemas.openxmlformats.org/drawingml/2006/main">
              <a:ext uri="{FF2B5EF4-FFF2-40B4-BE49-F238E27FC236}">
                <a16:creationId xmlns:a16="http://schemas.microsoft.com/office/drawing/2014/main" id="{28993148-68C7-4BD2-AA49-51D39076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010150"/>
            <a:ext cx="2209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97277"/>
                </a:solidFill>
                <a:latin typeface="Aptos"/>
                <a:ea typeface="Aptos"/>
                <a:cs typeface="Aptos"/>
              </a:rPr>
              <a:t>supported claim + figure</a:t>
            </a:r>
          </a:p>
        </p:txBody>
      </p:sp>
    </p:spTree>
    <p:extLst>
      <p:ext uri="{BB962C8B-B14F-4D97-AF65-F5344CB8AC3E}">
        <p14:creationId xmlns:p14="http://schemas.microsoft.com/office/powerpoint/2010/main" val="38359038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AC7F448-5344-48C6-BB70-81D0173C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F7F6F1"/>
            </a:solidFill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E30A0C44-7153-4BDA-82ED-EE8EF994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5F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5F6F"/>
                </a:solidFill>
                <a:latin typeface="Aptos"/>
                <a:ea typeface="Aptos"/>
                <a:cs typeface="Aptos"/>
              </a:rPr>
              <a:t>QUESTIONS FIRST</a:t>
            </a:r>
          </a:p>
        </p:txBody>
      </p:sp>
      <p:sp>
        <p:nvSpPr>
          <p:cNvPr id="3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1E5517DA-C607-409F-ACFE-39FF2D0D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6F"/>
          </a:solidFill>
          <a:ln xmlns:a="http://schemas.openxmlformats.org/drawingml/2006/main" w="0">
            <a:solidFill>
              <a:srgbClr val="2F5F6F"/>
            </a:solidFill>
            <a:prstDash val="solid"/>
          </a:ln>
        </p:spPr>
      </p:sp>
      <p:sp>
        <p:nvSpPr>
          <p:cNvPr id="4" name="source-note">
            <a:extLst xmlns:a="http://schemas.openxmlformats.org/drawingml/2006/main">
              <a:ext uri="{FF2B5EF4-FFF2-40B4-BE49-F238E27FC236}">
                <a16:creationId xmlns:a16="http://schemas.microsoft.com/office/drawing/2014/main" id="{96229210-7B6C-4EFF-ABB9-C29978C5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97277"/>
                </a:solidFill>
                <a:latin typeface="Aptos"/>
                <a:ea typeface="Aptos"/>
                <a:cs typeface="Aptos"/>
              </a:rPr>
              <a:t>Source: docs/research-group-presentation.md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80FFA67-B310-47E6-81BD-329D8BE0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97277"/>
                </a:solidFill>
                <a:latin typeface="Aptos"/>
              </a:rPr>
              <a:t>12</a:t>
            </a:r>
          </a:p>
        </p:txBody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B30FC963-6348-4984-B6BC-2970791B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933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0262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20262A"/>
                </a:solidFill>
                <a:latin typeface="Aptos Display"/>
                <a:ea typeface="Aptos Display"/>
                <a:cs typeface="Aptos Display"/>
              </a:rPr>
              <a:t>Decompose it into answerable questions.</a:t>
            </a:r>
          </a:p>
        </p:txBody>
      </p:sp>
      <p:sp>
        <p:nvSpPr>
          <p:cNvPr id="7" name="box-motivating question">
            <a:extLst xmlns:a="http://schemas.openxmlformats.org/drawingml/2006/main">
              <a:ext uri="{FF2B5EF4-FFF2-40B4-BE49-F238E27FC236}">
                <a16:creationId xmlns:a16="http://schemas.microsoft.com/office/drawing/2014/main" id="{00988671-D415-473B-8D6A-4E267BDD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952750"/>
            <a:ext cx="323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</p:sp>
      <p:sp>
        <p:nvSpPr>
          <p:cNvPr id="8" name="label-motivating question">
            <a:extLst xmlns:a="http://schemas.openxmlformats.org/drawingml/2006/main">
              <a:ext uri="{FF2B5EF4-FFF2-40B4-BE49-F238E27FC236}">
                <a16:creationId xmlns:a16="http://schemas.microsoft.com/office/drawing/2014/main" id="{F8DD87BA-D884-4276-83FA-621D2F4B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67050"/>
            <a:ext cx="2971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motivating question</a:t>
            </a:r>
          </a:p>
        </p:txBody>
      </p:sp>
      <p:sp>
        <p:nvSpPr>
          <p:cNvPr id="9" name="box-answerable question">
            <a:extLst xmlns:a="http://schemas.openxmlformats.org/drawingml/2006/main">
              <a:ext uri="{FF2B5EF4-FFF2-40B4-BE49-F238E27FC236}">
                <a16:creationId xmlns:a16="http://schemas.microsoft.com/office/drawing/2014/main" id="{0D40CFF7-EDEB-4A8F-9F08-6E12D78C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8290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A"/>
          </a:solidFill>
          <a:ln xmlns:a="http://schemas.openxmlformats.org/drawingml/2006/main" w="11430">
            <a:solidFill>
              <a:srgbClr val="2F5F6F"/>
            </a:solidFill>
            <a:prstDash val="solid"/>
          </a:ln>
        </p:spPr>
      </p:sp>
      <p:sp>
        <p:nvSpPr>
          <p:cNvPr id="10" name="label-answerable question">
            <a:extLst xmlns:a="http://schemas.openxmlformats.org/drawingml/2006/main">
              <a:ext uri="{FF2B5EF4-FFF2-40B4-BE49-F238E27FC236}">
                <a16:creationId xmlns:a16="http://schemas.microsoft.com/office/drawing/2014/main" id="{9A765F38-C2A4-4828-83C2-306AEDB2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43350"/>
            <a:ext cx="2590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262A"/>
                </a:solidFill>
                <a:latin typeface="Aptos"/>
                <a:ea typeface="Aptos"/>
                <a:cs typeface="Aptos"/>
              </a:rPr>
              <a:t>answerable question</a:t>
            </a:r>
          </a:p>
        </p:txBody>
      </p:sp>
      <p:sp>
        <p:nvSpPr>
          <p:cNvPr id="11" name="box-dataset">
            <a:extLst xmlns:a="http://schemas.openxmlformats.org/drawingml/2006/main">
              <a:ext uri="{FF2B5EF4-FFF2-40B4-BE49-F238E27FC236}">
                <a16:creationId xmlns:a16="http://schemas.microsoft.com/office/drawing/2014/main" id="{9CDE857C-8C85-4837-92CD-D93BE4F1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958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2DED4"/>
            </a:solidFill>
            <a:prstDash val="solid"/>
          </a:ln>
        </p:spPr>
      </p:sp>
      <p:sp>
        <p:nvSpPr>
          <p:cNvPr id="12" name="label-dataset">
            <a:extLst xmlns:a="http://schemas.openxmlformats.org/drawingml/2006/main">
              <a:ext uri="{FF2B5EF4-FFF2-40B4-BE49-F238E27FC236}">
                <a16:creationId xmlns:a16="http://schemas.microsoft.com/office/drawing/2014/main" id="{153F0B05-ADED-4CB3-A447-527BE218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01015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97277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13" name="box-analysis">
            <a:extLst xmlns:a="http://schemas.openxmlformats.org/drawingml/2006/main">
              <a:ext uri="{FF2B5EF4-FFF2-40B4-BE49-F238E27FC236}">
                <a16:creationId xmlns:a16="http://schemas.microsoft.com/office/drawing/2014/main" id="{B343ED47-B5DD-459E-BA40-C021303B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958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2DED4"/>
            </a:solidFill>
            <a:prstDash val="solid"/>
          </a:ln>
        </p:spPr>
      </p:sp>
      <p:sp>
        <p:nvSpPr>
          <p:cNvPr id="14" name="label-analysis">
            <a:extLst xmlns:a="http://schemas.openxmlformats.org/drawingml/2006/main">
              <a:ext uri="{FF2B5EF4-FFF2-40B4-BE49-F238E27FC236}">
                <a16:creationId xmlns:a16="http://schemas.microsoft.com/office/drawing/2014/main" id="{C14A4A12-2008-4BFB-B2E4-DFAF65F2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01015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97277"/>
                </a:solidFill>
                <a:latin typeface="Aptos"/>
                <a:ea typeface="Aptos"/>
                <a:cs typeface="Aptos"/>
              </a:rPr>
              <a:t>analysis</a:t>
            </a:r>
          </a:p>
        </p:txBody>
      </p:sp>
      <p:sp>
        <p:nvSpPr>
          <p:cNvPr id="15" name="box-supported claim + figure">
            <a:extLst xmlns:a="http://schemas.openxmlformats.org/drawingml/2006/main">
              <a:ext uri="{FF2B5EF4-FFF2-40B4-BE49-F238E27FC236}">
                <a16:creationId xmlns:a16="http://schemas.microsoft.com/office/drawing/2014/main" id="{FC1696A1-D2EA-4876-A388-F78AA841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958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2DED4"/>
            </a:solidFill>
            <a:prstDash val="solid"/>
          </a:ln>
        </p:spPr>
      </p:sp>
      <p:sp>
        <p:nvSpPr>
          <p:cNvPr id="16" name="label-supported claim + figure">
            <a:extLst xmlns:a="http://schemas.openxmlformats.org/drawingml/2006/main">
              <a:ext uri="{FF2B5EF4-FFF2-40B4-BE49-F238E27FC236}">
                <a16:creationId xmlns:a16="http://schemas.microsoft.com/office/drawing/2014/main" id="{DA933165-7C6D-4E0A-80CA-E76FE609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010150"/>
            <a:ext cx="2209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97277"/>
                </a:solidFill>
                <a:latin typeface="Aptos"/>
                <a:ea typeface="Aptos"/>
                <a:cs typeface="Aptos"/>
              </a:rPr>
              <a:t>supported claim + figure</a:t>
            </a:r>
          </a:p>
        </p:txBody>
      </p:sp>
      <p:sp>
        <p:nvSpPr>
          <p:cNvPr id="17" name="line-v">
            <a:extLst xmlns:a="http://schemas.openxmlformats.org/drawingml/2006/main">
              <a:ext uri="{FF2B5EF4-FFF2-40B4-BE49-F238E27FC236}">
                <a16:creationId xmlns:a16="http://schemas.microsoft.com/office/drawing/2014/main" id="{FDB6CF06-C1F6-4E7F-91BE-5F2E1C1D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524250"/>
            <a:ext cx="19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5031316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7FC3458-DE05-414E-80BC-ADE4BF08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F7F6F1"/>
            </a:solidFill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A66011C7-4FE6-4062-A7DB-1DFCE6C3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5F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5F6F"/>
                </a:solidFill>
                <a:latin typeface="Aptos"/>
                <a:ea typeface="Aptos"/>
                <a:cs typeface="Aptos"/>
              </a:rPr>
              <a:t>QUESTIONS FIRST</a:t>
            </a:r>
          </a:p>
        </p:txBody>
      </p:sp>
      <p:sp>
        <p:nvSpPr>
          <p:cNvPr id="3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5865D24D-5AF2-4046-888D-C3184C44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6F"/>
          </a:solidFill>
          <a:ln xmlns:a="http://schemas.openxmlformats.org/drawingml/2006/main" w="0">
            <a:solidFill>
              <a:srgbClr val="2F5F6F"/>
            </a:solidFill>
            <a:prstDash val="solid"/>
          </a:ln>
        </p:spPr>
      </p:sp>
      <p:sp>
        <p:nvSpPr>
          <p:cNvPr id="4" name="source-note">
            <a:extLst xmlns:a="http://schemas.openxmlformats.org/drawingml/2006/main">
              <a:ext uri="{FF2B5EF4-FFF2-40B4-BE49-F238E27FC236}">
                <a16:creationId xmlns:a16="http://schemas.microsoft.com/office/drawing/2014/main" id="{750FC35F-531A-4BF5-9CF3-80756E92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97277"/>
                </a:solidFill>
                <a:latin typeface="Aptos"/>
                <a:ea typeface="Aptos"/>
                <a:cs typeface="Aptos"/>
              </a:rPr>
              <a:t>Source: docs/research-group-presentation.md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110CEE1-115E-4B5A-8774-3AE8F4A4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97277"/>
                </a:solidFill>
                <a:latin typeface="Aptos"/>
              </a:rPr>
              <a:t>13</a:t>
            </a:r>
          </a:p>
        </p:txBody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BD6D28AE-2C87-41B6-AC70-03E74307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933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0262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20262A"/>
                </a:solidFill>
                <a:latin typeface="Aptos Display"/>
              </a:rPr>
              <a:t>Link datasets and analyses to their questions.</a:t>
            </a:r>
          </a:p>
        </p:txBody>
      </p:sp>
      <p:sp>
        <p:nvSpPr>
          <p:cNvPr id="7" name="box-motivating question">
            <a:extLst xmlns:a="http://schemas.openxmlformats.org/drawingml/2006/main">
              <a:ext uri="{FF2B5EF4-FFF2-40B4-BE49-F238E27FC236}">
                <a16:creationId xmlns:a16="http://schemas.microsoft.com/office/drawing/2014/main" id="{C50D7D62-EB2E-442E-A13D-372C5C62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952750"/>
            <a:ext cx="323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</p:sp>
      <p:sp>
        <p:nvSpPr>
          <p:cNvPr id="8" name="label-motivating question">
            <a:extLst xmlns:a="http://schemas.openxmlformats.org/drawingml/2006/main">
              <a:ext uri="{FF2B5EF4-FFF2-40B4-BE49-F238E27FC236}">
                <a16:creationId xmlns:a16="http://schemas.microsoft.com/office/drawing/2014/main" id="{FD8A24D2-836A-4825-9941-8B51DB26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67050"/>
            <a:ext cx="2971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motivating question</a:t>
            </a:r>
          </a:p>
        </p:txBody>
      </p:sp>
      <p:sp>
        <p:nvSpPr>
          <p:cNvPr id="9" name="box-answerable question">
            <a:extLst xmlns:a="http://schemas.openxmlformats.org/drawingml/2006/main">
              <a:ext uri="{FF2B5EF4-FFF2-40B4-BE49-F238E27FC236}">
                <a16:creationId xmlns:a16="http://schemas.microsoft.com/office/drawing/2014/main" id="{DAF5C4E2-C295-4407-B7FE-4CDC3466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8290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</p:sp>
      <p:sp>
        <p:nvSpPr>
          <p:cNvPr id="10" name="label-answerable question">
            <a:extLst xmlns:a="http://schemas.openxmlformats.org/drawingml/2006/main">
              <a:ext uri="{FF2B5EF4-FFF2-40B4-BE49-F238E27FC236}">
                <a16:creationId xmlns:a16="http://schemas.microsoft.com/office/drawing/2014/main" id="{F381D989-FAE7-4440-8CA2-A5C52AB5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43350"/>
            <a:ext cx="2590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answerable question</a:t>
            </a:r>
          </a:p>
        </p:txBody>
      </p:sp>
      <p:sp>
        <p:nvSpPr>
          <p:cNvPr id="11" name="box-dataset">
            <a:extLst xmlns:a="http://schemas.openxmlformats.org/drawingml/2006/main">
              <a:ext uri="{FF2B5EF4-FFF2-40B4-BE49-F238E27FC236}">
                <a16:creationId xmlns:a16="http://schemas.microsoft.com/office/drawing/2014/main" id="{C920C70C-136B-4EAF-9745-F473D096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958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</p:sp>
      <p:sp>
        <p:nvSpPr>
          <p:cNvPr id="12" name="label-dataset">
            <a:extLst xmlns:a="http://schemas.openxmlformats.org/drawingml/2006/main">
              <a:ext uri="{FF2B5EF4-FFF2-40B4-BE49-F238E27FC236}">
                <a16:creationId xmlns:a16="http://schemas.microsoft.com/office/drawing/2014/main" id="{1726DB4F-9675-40CE-B1C3-A38E2BAD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01015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13" name="box-analysis">
            <a:extLst xmlns:a="http://schemas.openxmlformats.org/drawingml/2006/main">
              <a:ext uri="{FF2B5EF4-FFF2-40B4-BE49-F238E27FC236}">
                <a16:creationId xmlns:a16="http://schemas.microsoft.com/office/drawing/2014/main" id="{4AF431BC-DAF0-4E32-B98C-AE49055C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958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A"/>
          </a:solidFill>
          <a:ln xmlns:a="http://schemas.openxmlformats.org/drawingml/2006/main" w="11430">
            <a:solidFill>
              <a:srgbClr val="2F5F6F"/>
            </a:solidFill>
            <a:prstDash val="solid"/>
          </a:ln>
        </p:spPr>
      </p:sp>
      <p:sp>
        <p:nvSpPr>
          <p:cNvPr id="14" name="label-analysis">
            <a:extLst xmlns:a="http://schemas.openxmlformats.org/drawingml/2006/main">
              <a:ext uri="{FF2B5EF4-FFF2-40B4-BE49-F238E27FC236}">
                <a16:creationId xmlns:a16="http://schemas.microsoft.com/office/drawing/2014/main" id="{197D8992-B3C2-4487-8378-9A4A94F7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01015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262A"/>
                </a:solidFill>
                <a:latin typeface="Aptos"/>
                <a:ea typeface="Aptos"/>
                <a:cs typeface="Aptos"/>
              </a:rPr>
              <a:t>analysis</a:t>
            </a:r>
          </a:p>
        </p:txBody>
      </p:sp>
      <p:sp>
        <p:nvSpPr>
          <p:cNvPr id="15" name="box-supported claim + figure">
            <a:extLst xmlns:a="http://schemas.openxmlformats.org/drawingml/2006/main">
              <a:ext uri="{FF2B5EF4-FFF2-40B4-BE49-F238E27FC236}">
                <a16:creationId xmlns:a16="http://schemas.microsoft.com/office/drawing/2014/main" id="{1A619AC7-AE29-48F0-9E6F-8AE0A784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958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2DED4"/>
            </a:solidFill>
            <a:prstDash val="solid"/>
          </a:ln>
        </p:spPr>
      </p:sp>
      <p:sp>
        <p:nvSpPr>
          <p:cNvPr id="16" name="label-supported claim + figure">
            <a:extLst xmlns:a="http://schemas.openxmlformats.org/drawingml/2006/main">
              <a:ext uri="{FF2B5EF4-FFF2-40B4-BE49-F238E27FC236}">
                <a16:creationId xmlns:a16="http://schemas.microsoft.com/office/drawing/2014/main" id="{078D0434-355B-4DBE-9767-687B9307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010150"/>
            <a:ext cx="2209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97277"/>
                </a:solidFill>
                <a:latin typeface="Aptos"/>
                <a:ea typeface="Aptos"/>
                <a:cs typeface="Aptos"/>
              </a:rPr>
              <a:t>supported claim + figure</a:t>
            </a:r>
          </a:p>
        </p:txBody>
      </p:sp>
      <p:sp>
        <p:nvSpPr>
          <p:cNvPr id="17" name="line-v">
            <a:extLst xmlns:a="http://schemas.openxmlformats.org/drawingml/2006/main">
              <a:ext uri="{FF2B5EF4-FFF2-40B4-BE49-F238E27FC236}">
                <a16:creationId xmlns:a16="http://schemas.microsoft.com/office/drawing/2014/main" id="{BB1D5560-58D3-422E-9FF2-58E1AF2F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524250"/>
            <a:ext cx="19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18" name="line-dot">
            <a:extLst xmlns:a="http://schemas.openxmlformats.org/drawingml/2006/main">
              <a:ext uri="{FF2B5EF4-FFF2-40B4-BE49-F238E27FC236}">
                <a16:creationId xmlns:a16="http://schemas.microsoft.com/office/drawing/2014/main" id="{378972B0-BDE5-4202-81EB-5B6A2B6A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3529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19" name="line-dot">
            <a:extLst xmlns:a="http://schemas.openxmlformats.org/drawingml/2006/main">
              <a:ext uri="{FF2B5EF4-FFF2-40B4-BE49-F238E27FC236}">
                <a16:creationId xmlns:a16="http://schemas.microsoft.com/office/drawing/2014/main" id="{8A69E7E4-53F2-4224-9C6A-C9AC882B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9710" y="440626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20" name="line-dot">
            <a:extLst xmlns:a="http://schemas.openxmlformats.org/drawingml/2006/main">
              <a:ext uri="{FF2B5EF4-FFF2-40B4-BE49-F238E27FC236}">
                <a16:creationId xmlns:a16="http://schemas.microsoft.com/office/drawing/2014/main" id="{693AC325-2BA3-4D4C-A9E9-38A15AAA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7295" y="445960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21" name="line-dot">
            <a:extLst xmlns:a="http://schemas.openxmlformats.org/drawingml/2006/main">
              <a:ext uri="{FF2B5EF4-FFF2-40B4-BE49-F238E27FC236}">
                <a16:creationId xmlns:a16="http://schemas.microsoft.com/office/drawing/2014/main" id="{6A478CB8-A517-44C0-AA79-D27FECA4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51294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22" name="line-dot">
            <a:extLst xmlns:a="http://schemas.openxmlformats.org/drawingml/2006/main">
              <a:ext uri="{FF2B5EF4-FFF2-40B4-BE49-F238E27FC236}">
                <a16:creationId xmlns:a16="http://schemas.microsoft.com/office/drawing/2014/main" id="{78AB1D86-5735-49A9-9738-4864B9DF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465" y="456628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23" name="line-dot">
            <a:extLst xmlns:a="http://schemas.openxmlformats.org/drawingml/2006/main">
              <a:ext uri="{FF2B5EF4-FFF2-40B4-BE49-F238E27FC236}">
                <a16:creationId xmlns:a16="http://schemas.microsoft.com/office/drawing/2014/main" id="{0BC2217D-8196-4E69-BA60-4B7AAA37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6196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24" name="line-dot">
            <a:extLst xmlns:a="http://schemas.openxmlformats.org/drawingml/2006/main">
              <a:ext uri="{FF2B5EF4-FFF2-40B4-BE49-F238E27FC236}">
                <a16:creationId xmlns:a16="http://schemas.microsoft.com/office/drawing/2014/main" id="{A8F4D3DB-ACDB-4EFF-9508-199753DB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635" y="467296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25" name="line-dot">
            <a:extLst xmlns:a="http://schemas.openxmlformats.org/drawingml/2006/main">
              <a:ext uri="{FF2B5EF4-FFF2-40B4-BE49-F238E27FC236}">
                <a16:creationId xmlns:a16="http://schemas.microsoft.com/office/drawing/2014/main" id="{318848C9-B25B-4670-A1D5-CF023FED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5220" y="472630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26" name="line-dot">
            <a:extLst xmlns:a="http://schemas.openxmlformats.org/drawingml/2006/main">
              <a:ext uri="{FF2B5EF4-FFF2-40B4-BE49-F238E27FC236}">
                <a16:creationId xmlns:a16="http://schemas.microsoft.com/office/drawing/2014/main" id="{37A64511-9A08-4224-B036-38C7858D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805" y="477964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27" name="line-dot">
            <a:extLst xmlns:a="http://schemas.openxmlformats.org/drawingml/2006/main">
              <a:ext uri="{FF2B5EF4-FFF2-40B4-BE49-F238E27FC236}">
                <a16:creationId xmlns:a16="http://schemas.microsoft.com/office/drawing/2014/main" id="{0F2865A7-C195-4F82-84A9-5A8A8BBA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0390" y="483298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28" name="line-dot">
            <a:extLst xmlns:a="http://schemas.openxmlformats.org/drawingml/2006/main">
              <a:ext uri="{FF2B5EF4-FFF2-40B4-BE49-F238E27FC236}">
                <a16:creationId xmlns:a16="http://schemas.microsoft.com/office/drawing/2014/main" id="{0355493B-00F6-461D-9800-EBB2A09F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8863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29" name="line-h">
            <a:extLst xmlns:a="http://schemas.openxmlformats.org/drawingml/2006/main">
              <a:ext uri="{FF2B5EF4-FFF2-40B4-BE49-F238E27FC236}">
                <a16:creationId xmlns:a16="http://schemas.microsoft.com/office/drawing/2014/main" id="{34560C07-5BB0-4015-AD05-8FCB352E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5302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3942552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2EF045F-6F44-474D-8548-335A6F45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F7F6F1"/>
            </a:solidFill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34C23427-2611-4A60-B1E2-B5A159DE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5F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5F6F"/>
                </a:solidFill>
                <a:latin typeface="Aptos"/>
                <a:ea typeface="Aptos"/>
                <a:cs typeface="Aptos"/>
              </a:rPr>
              <a:t>QUESTIONS FIRST</a:t>
            </a:r>
          </a:p>
        </p:txBody>
      </p:sp>
      <p:sp>
        <p:nvSpPr>
          <p:cNvPr id="3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B4E07771-1D44-4580-BB33-D04A04E9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6F"/>
          </a:solidFill>
          <a:ln xmlns:a="http://schemas.openxmlformats.org/drawingml/2006/main" w="0">
            <a:solidFill>
              <a:srgbClr val="2F5F6F"/>
            </a:solidFill>
            <a:prstDash val="solid"/>
          </a:ln>
        </p:spPr>
      </p:sp>
      <p:sp>
        <p:nvSpPr>
          <p:cNvPr id="4" name="source-note">
            <a:extLst xmlns:a="http://schemas.openxmlformats.org/drawingml/2006/main">
              <a:ext uri="{FF2B5EF4-FFF2-40B4-BE49-F238E27FC236}">
                <a16:creationId xmlns:a16="http://schemas.microsoft.com/office/drawing/2014/main" id="{9280E9BA-9AB6-4284-AE0A-9F372FA0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97277"/>
                </a:solidFill>
                <a:latin typeface="Aptos"/>
                <a:ea typeface="Aptos"/>
                <a:cs typeface="Aptos"/>
              </a:rPr>
              <a:t>Source: docs/research-group-presentation.md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0B2EA0F-7635-4ED3-BBA1-3BB0AFF7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97277"/>
                </a:solidFill>
                <a:latin typeface="Aptos"/>
              </a:rPr>
              <a:t>14</a:t>
            </a:r>
          </a:p>
        </p:txBody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916A1903-21C5-426D-8088-D760DFF8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933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0262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20262A"/>
                </a:solidFill>
                <a:latin typeface="Aptos Display"/>
                <a:ea typeface="Aptos Display"/>
                <a:cs typeface="Aptos Display"/>
              </a:rPr>
              <a:t>Treat claims as supported only when evidence is attached.</a:t>
            </a:r>
          </a:p>
        </p:txBody>
      </p:sp>
      <p:sp>
        <p:nvSpPr>
          <p:cNvPr id="7" name="box-motivating question">
            <a:extLst xmlns:a="http://schemas.openxmlformats.org/drawingml/2006/main">
              <a:ext uri="{FF2B5EF4-FFF2-40B4-BE49-F238E27FC236}">
                <a16:creationId xmlns:a16="http://schemas.microsoft.com/office/drawing/2014/main" id="{B2CC4971-DBBC-4EAC-A7CC-02507C02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952750"/>
            <a:ext cx="323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</p:sp>
      <p:sp>
        <p:nvSpPr>
          <p:cNvPr id="8" name="label-motivating question">
            <a:extLst xmlns:a="http://schemas.openxmlformats.org/drawingml/2006/main">
              <a:ext uri="{FF2B5EF4-FFF2-40B4-BE49-F238E27FC236}">
                <a16:creationId xmlns:a16="http://schemas.microsoft.com/office/drawing/2014/main" id="{90D2F2C4-8C2A-433D-983C-7673498D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67050"/>
            <a:ext cx="2971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motivating question</a:t>
            </a:r>
          </a:p>
        </p:txBody>
      </p:sp>
      <p:sp>
        <p:nvSpPr>
          <p:cNvPr id="9" name="box-answerable question">
            <a:extLst xmlns:a="http://schemas.openxmlformats.org/drawingml/2006/main">
              <a:ext uri="{FF2B5EF4-FFF2-40B4-BE49-F238E27FC236}">
                <a16:creationId xmlns:a16="http://schemas.microsoft.com/office/drawing/2014/main" id="{BAB2932E-14CA-4B8D-B00E-910761F4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8290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</p:sp>
      <p:sp>
        <p:nvSpPr>
          <p:cNvPr id="10" name="label-answerable question">
            <a:extLst xmlns:a="http://schemas.openxmlformats.org/drawingml/2006/main">
              <a:ext uri="{FF2B5EF4-FFF2-40B4-BE49-F238E27FC236}">
                <a16:creationId xmlns:a16="http://schemas.microsoft.com/office/drawing/2014/main" id="{846BF146-93AC-49ED-AB1C-C8E63626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43350"/>
            <a:ext cx="2590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answerable question</a:t>
            </a:r>
          </a:p>
        </p:txBody>
      </p:sp>
      <p:sp>
        <p:nvSpPr>
          <p:cNvPr id="11" name="box-dataset">
            <a:extLst xmlns:a="http://schemas.openxmlformats.org/drawingml/2006/main">
              <a:ext uri="{FF2B5EF4-FFF2-40B4-BE49-F238E27FC236}">
                <a16:creationId xmlns:a16="http://schemas.microsoft.com/office/drawing/2014/main" id="{2FB2D59E-35F9-45B4-9ACA-902CCDF8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958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</p:sp>
      <p:sp>
        <p:nvSpPr>
          <p:cNvPr id="12" name="label-dataset">
            <a:extLst xmlns:a="http://schemas.openxmlformats.org/drawingml/2006/main">
              <a:ext uri="{FF2B5EF4-FFF2-40B4-BE49-F238E27FC236}">
                <a16:creationId xmlns:a16="http://schemas.microsoft.com/office/drawing/2014/main" id="{2D824AAC-1CDB-461E-936E-3BB824D8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01015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13" name="box-analysis">
            <a:extLst xmlns:a="http://schemas.openxmlformats.org/drawingml/2006/main">
              <a:ext uri="{FF2B5EF4-FFF2-40B4-BE49-F238E27FC236}">
                <a16:creationId xmlns:a16="http://schemas.microsoft.com/office/drawing/2014/main" id="{A686296A-7B90-4765-8755-35D0F8B4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958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</p:sp>
      <p:sp>
        <p:nvSpPr>
          <p:cNvPr id="14" name="label-analysis">
            <a:extLst xmlns:a="http://schemas.openxmlformats.org/drawingml/2006/main">
              <a:ext uri="{FF2B5EF4-FFF2-40B4-BE49-F238E27FC236}">
                <a16:creationId xmlns:a16="http://schemas.microsoft.com/office/drawing/2014/main" id="{D65BA0DE-F8A8-425C-9D55-A7953C3C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01015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analysis</a:t>
            </a:r>
          </a:p>
        </p:txBody>
      </p:sp>
      <p:sp>
        <p:nvSpPr>
          <p:cNvPr id="15" name="box-supported claim + figure">
            <a:extLst xmlns:a="http://schemas.openxmlformats.org/drawingml/2006/main">
              <a:ext uri="{FF2B5EF4-FFF2-40B4-BE49-F238E27FC236}">
                <a16:creationId xmlns:a16="http://schemas.microsoft.com/office/drawing/2014/main" id="{78F35B0B-6E54-403D-9894-3742E861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958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A"/>
          </a:solidFill>
          <a:ln xmlns:a="http://schemas.openxmlformats.org/drawingml/2006/main" w="11430">
            <a:solidFill>
              <a:srgbClr val="2F5F6F"/>
            </a:solidFill>
            <a:prstDash val="solid"/>
          </a:ln>
        </p:spPr>
      </p:sp>
      <p:sp>
        <p:nvSpPr>
          <p:cNvPr id="16" name="label-supported claim + figure">
            <a:extLst xmlns:a="http://schemas.openxmlformats.org/drawingml/2006/main">
              <a:ext uri="{FF2B5EF4-FFF2-40B4-BE49-F238E27FC236}">
                <a16:creationId xmlns:a16="http://schemas.microsoft.com/office/drawing/2014/main" id="{EF1BFE73-A540-458E-ACD0-88526141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010150"/>
            <a:ext cx="2209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62A"/>
                </a:solidFill>
                <a:latin typeface="Aptos"/>
                <a:ea typeface="Aptos"/>
                <a:cs typeface="Aptos"/>
              </a:rPr>
              <a:t>supported claim + figure</a:t>
            </a:r>
          </a:p>
        </p:txBody>
      </p:sp>
      <p:sp>
        <p:nvSpPr>
          <p:cNvPr id="17" name="line-v">
            <a:extLst xmlns:a="http://schemas.openxmlformats.org/drawingml/2006/main">
              <a:ext uri="{FF2B5EF4-FFF2-40B4-BE49-F238E27FC236}">
                <a16:creationId xmlns:a16="http://schemas.microsoft.com/office/drawing/2014/main" id="{372A38B7-4692-418C-99D0-34746D5A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524250"/>
            <a:ext cx="19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18" name="line-dot">
            <a:extLst xmlns:a="http://schemas.openxmlformats.org/drawingml/2006/main">
              <a:ext uri="{FF2B5EF4-FFF2-40B4-BE49-F238E27FC236}">
                <a16:creationId xmlns:a16="http://schemas.microsoft.com/office/drawing/2014/main" id="{3AC46A8E-6D46-44B1-A96E-D28B19B9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3529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19" name="line-dot">
            <a:extLst xmlns:a="http://schemas.openxmlformats.org/drawingml/2006/main">
              <a:ext uri="{FF2B5EF4-FFF2-40B4-BE49-F238E27FC236}">
                <a16:creationId xmlns:a16="http://schemas.microsoft.com/office/drawing/2014/main" id="{F9E62831-F678-4FB0-970D-710EF8D7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9710" y="440626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20" name="line-dot">
            <a:extLst xmlns:a="http://schemas.openxmlformats.org/drawingml/2006/main">
              <a:ext uri="{FF2B5EF4-FFF2-40B4-BE49-F238E27FC236}">
                <a16:creationId xmlns:a16="http://schemas.microsoft.com/office/drawing/2014/main" id="{AC81A1F9-A777-4238-8209-C0E02FB5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7295" y="445960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21" name="line-dot">
            <a:extLst xmlns:a="http://schemas.openxmlformats.org/drawingml/2006/main">
              <a:ext uri="{FF2B5EF4-FFF2-40B4-BE49-F238E27FC236}">
                <a16:creationId xmlns:a16="http://schemas.microsoft.com/office/drawing/2014/main" id="{18745362-40E3-432D-BA6C-3AC20D4C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51294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22" name="line-dot">
            <a:extLst xmlns:a="http://schemas.openxmlformats.org/drawingml/2006/main">
              <a:ext uri="{FF2B5EF4-FFF2-40B4-BE49-F238E27FC236}">
                <a16:creationId xmlns:a16="http://schemas.microsoft.com/office/drawing/2014/main" id="{239B6F33-FBBF-46D2-9C25-F94BD697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465" y="456628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23" name="line-dot">
            <a:extLst xmlns:a="http://schemas.openxmlformats.org/drawingml/2006/main">
              <a:ext uri="{FF2B5EF4-FFF2-40B4-BE49-F238E27FC236}">
                <a16:creationId xmlns:a16="http://schemas.microsoft.com/office/drawing/2014/main" id="{37945630-B824-408D-8189-C089DE72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6196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24" name="line-dot">
            <a:extLst xmlns:a="http://schemas.openxmlformats.org/drawingml/2006/main">
              <a:ext uri="{FF2B5EF4-FFF2-40B4-BE49-F238E27FC236}">
                <a16:creationId xmlns:a16="http://schemas.microsoft.com/office/drawing/2014/main" id="{3B12E43C-0B11-4BFD-8738-A0B32DEC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635" y="467296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25" name="line-dot">
            <a:extLst xmlns:a="http://schemas.openxmlformats.org/drawingml/2006/main">
              <a:ext uri="{FF2B5EF4-FFF2-40B4-BE49-F238E27FC236}">
                <a16:creationId xmlns:a16="http://schemas.microsoft.com/office/drawing/2014/main" id="{7AC05994-9D86-4C52-BCFF-C3862601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5220" y="472630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26" name="line-dot">
            <a:extLst xmlns:a="http://schemas.openxmlformats.org/drawingml/2006/main">
              <a:ext uri="{FF2B5EF4-FFF2-40B4-BE49-F238E27FC236}">
                <a16:creationId xmlns:a16="http://schemas.microsoft.com/office/drawing/2014/main" id="{1EF936C2-F6DA-490D-9789-9E6A10B0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805" y="477964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27" name="line-dot">
            <a:extLst xmlns:a="http://schemas.openxmlformats.org/drawingml/2006/main">
              <a:ext uri="{FF2B5EF4-FFF2-40B4-BE49-F238E27FC236}">
                <a16:creationId xmlns:a16="http://schemas.microsoft.com/office/drawing/2014/main" id="{ACACD053-AB7E-430C-9DA0-CCE36B7D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0390" y="483298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28" name="line-dot">
            <a:extLst xmlns:a="http://schemas.openxmlformats.org/drawingml/2006/main">
              <a:ext uri="{FF2B5EF4-FFF2-40B4-BE49-F238E27FC236}">
                <a16:creationId xmlns:a16="http://schemas.microsoft.com/office/drawing/2014/main" id="{312EF5B4-49D1-4940-87CA-59D18F5D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8863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29" name="line-h">
            <a:extLst xmlns:a="http://schemas.openxmlformats.org/drawingml/2006/main">
              <a:ext uri="{FF2B5EF4-FFF2-40B4-BE49-F238E27FC236}">
                <a16:creationId xmlns:a16="http://schemas.microsoft.com/office/drawing/2014/main" id="{A0BF61EA-C21F-4EA2-A049-B2E5B896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5302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30" name="line-h">
            <a:extLst xmlns:a="http://schemas.openxmlformats.org/drawingml/2006/main">
              <a:ext uri="{FF2B5EF4-FFF2-40B4-BE49-F238E27FC236}">
                <a16:creationId xmlns:a16="http://schemas.microsoft.com/office/drawing/2014/main" id="{AF4F36CD-01FD-46B1-BB75-43077362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5302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5018898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810987D-FBCD-4F81-AC89-1A0F3998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F7F6F1"/>
            </a:solidFill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FCA49F78-D43C-48D4-97B3-0A33A145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5F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5F6F"/>
                </a:solidFill>
                <a:latin typeface="Aptos"/>
                <a:ea typeface="Aptos"/>
                <a:cs typeface="Aptos"/>
              </a:rPr>
              <a:t>CAPTURE</a:t>
            </a:r>
          </a:p>
        </p:txBody>
      </p:sp>
      <p:sp>
        <p:nvSpPr>
          <p:cNvPr id="3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3F344B80-ED5E-4023-A72F-7452CBA7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6F"/>
          </a:solidFill>
          <a:ln xmlns:a="http://schemas.openxmlformats.org/drawingml/2006/main" w="0">
            <a:solidFill>
              <a:srgbClr val="2F5F6F"/>
            </a:solidFill>
            <a:prstDash val="solid"/>
          </a:ln>
        </p:spPr>
      </p:sp>
      <p:sp>
        <p:nvSpPr>
          <p:cNvPr id="4" name="source-note">
            <a:extLst xmlns:a="http://schemas.openxmlformats.org/drawingml/2006/main">
              <a:ext uri="{FF2B5EF4-FFF2-40B4-BE49-F238E27FC236}">
                <a16:creationId xmlns:a16="http://schemas.microsoft.com/office/drawing/2014/main" id="{152B57B8-6E5B-4926-95E8-BA93DFC3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97277"/>
                </a:solidFill>
                <a:latin typeface="Aptos"/>
                <a:ea typeface="Aptos"/>
                <a:cs typeface="Aptos"/>
              </a:rPr>
              <a:t>Source: docs/research-group-presentation.md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63DAE15-3044-42A0-8E8D-5FB3AAB0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97277"/>
                </a:solidFill>
                <a:latin typeface="Aptos"/>
              </a:rPr>
              <a:t>15</a:t>
            </a:r>
          </a:p>
        </p:txBody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74478CE6-10D9-4529-93E6-791AA8B0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933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0262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20262A"/>
                </a:solidFill>
                <a:latin typeface="Aptos Display"/>
                <a:ea typeface="Aptos Display"/>
                <a:cs typeface="Aptos Display"/>
              </a:rPr>
              <a:t>Capture begins with the raw note.</a:t>
            </a:r>
          </a:p>
        </p:txBody>
      </p:sp>
      <p:sp>
        <p:nvSpPr>
          <p:cNvPr id="7" name="box-raw note">
            <a:extLst xmlns:a="http://schemas.openxmlformats.org/drawingml/2006/main">
              <a:ext uri="{FF2B5EF4-FFF2-40B4-BE49-F238E27FC236}">
                <a16:creationId xmlns:a16="http://schemas.microsoft.com/office/drawing/2014/main" id="{CA512BA1-66CB-46E3-9D0F-422AE2B0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A"/>
          </a:solidFill>
          <a:ln xmlns:a="http://schemas.openxmlformats.org/drawingml/2006/main" w="11430">
            <a:solidFill>
              <a:srgbClr val="2F5F6F"/>
            </a:solidFill>
            <a:prstDash val="solid"/>
          </a:ln>
        </p:spPr>
      </p:sp>
      <p:sp>
        <p:nvSpPr>
          <p:cNvPr id="8" name="label-raw note">
            <a:extLst xmlns:a="http://schemas.openxmlformats.org/drawingml/2006/main">
              <a:ext uri="{FF2B5EF4-FFF2-40B4-BE49-F238E27FC236}">
                <a16:creationId xmlns:a16="http://schemas.microsoft.com/office/drawing/2014/main" id="{082AAF31-9A22-4B76-9FB2-C39F9FC4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1638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62A"/>
                </a:solidFill>
                <a:latin typeface="Aptos"/>
                <a:ea typeface="Aptos"/>
                <a:cs typeface="Aptos"/>
              </a:rPr>
              <a:t>raw note</a:t>
            </a:r>
          </a:p>
        </p:txBody>
      </p:sp>
      <p:sp>
        <p:nvSpPr>
          <p:cNvPr id="9" name="box-context packet">
            <a:extLst xmlns:a="http://schemas.openxmlformats.org/drawingml/2006/main">
              <a:ext uri="{FF2B5EF4-FFF2-40B4-BE49-F238E27FC236}">
                <a16:creationId xmlns:a16="http://schemas.microsoft.com/office/drawing/2014/main" id="{D92C455A-B63F-494D-A882-1D7FDE49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90950"/>
            <a:ext cx="2171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2DED4"/>
            </a:solidFill>
            <a:prstDash val="solid"/>
          </a:ln>
        </p:spPr>
      </p:sp>
      <p:sp>
        <p:nvSpPr>
          <p:cNvPr id="10" name="label-context packet">
            <a:extLst xmlns:a="http://schemas.openxmlformats.org/drawingml/2006/main">
              <a:ext uri="{FF2B5EF4-FFF2-40B4-BE49-F238E27FC236}">
                <a16:creationId xmlns:a16="http://schemas.microsoft.com/office/drawing/2014/main" id="{2AE99298-ABFE-4F86-8AAD-C501EF2A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05250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97277"/>
                </a:solidFill>
                <a:latin typeface="Aptos"/>
                <a:ea typeface="Aptos"/>
                <a:cs typeface="Aptos"/>
              </a:rPr>
              <a:t>context packet</a:t>
            </a:r>
          </a:p>
        </p:txBody>
      </p:sp>
      <p:sp>
        <p:nvSpPr>
          <p:cNvPr id="11" name="box-proposed operations">
            <a:extLst xmlns:a="http://schemas.openxmlformats.org/drawingml/2006/main">
              <a:ext uri="{FF2B5EF4-FFF2-40B4-BE49-F238E27FC236}">
                <a16:creationId xmlns:a16="http://schemas.microsoft.com/office/drawing/2014/main" id="{22F05A53-D61B-486D-9625-296498E6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909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2DED4"/>
            </a:solidFill>
            <a:prstDash val="solid"/>
          </a:ln>
        </p:spPr>
      </p:sp>
      <p:sp>
        <p:nvSpPr>
          <p:cNvPr id="12" name="label-proposed operations">
            <a:extLst xmlns:a="http://schemas.openxmlformats.org/drawingml/2006/main">
              <a:ext uri="{FF2B5EF4-FFF2-40B4-BE49-F238E27FC236}">
                <a16:creationId xmlns:a16="http://schemas.microsoft.com/office/drawing/2014/main" id="{C031E168-7F2B-4A0F-822D-9FD2CAF8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05250"/>
            <a:ext cx="2114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97277"/>
                </a:solidFill>
                <a:latin typeface="Aptos"/>
                <a:ea typeface="Aptos"/>
                <a:cs typeface="Aptos"/>
              </a:rPr>
              <a:t>proposed operations</a:t>
            </a:r>
          </a:p>
        </p:txBody>
      </p:sp>
      <p:sp>
        <p:nvSpPr>
          <p:cNvPr id="13" name="box-reviewer decision">
            <a:extLst xmlns:a="http://schemas.openxmlformats.org/drawingml/2006/main">
              <a:ext uri="{FF2B5EF4-FFF2-40B4-BE49-F238E27FC236}">
                <a16:creationId xmlns:a16="http://schemas.microsoft.com/office/drawing/2014/main" id="{BC61A410-6FFC-4731-A2E2-411ABEBE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79095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2DED4"/>
            </a:solidFill>
            <a:prstDash val="solid"/>
          </a:ln>
        </p:spPr>
      </p:sp>
      <p:sp>
        <p:nvSpPr>
          <p:cNvPr id="14" name="label-reviewer decision">
            <a:extLst xmlns:a="http://schemas.openxmlformats.org/drawingml/2006/main">
              <a:ext uri="{FF2B5EF4-FFF2-40B4-BE49-F238E27FC236}">
                <a16:creationId xmlns:a16="http://schemas.microsoft.com/office/drawing/2014/main" id="{D10E9ED7-8F26-4DF7-9B10-11FAB7E5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905250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97277"/>
                </a:solidFill>
                <a:latin typeface="Aptos"/>
                <a:ea typeface="Aptos"/>
                <a:cs typeface="Aptos"/>
              </a:rPr>
              <a:t>reviewer decision</a:t>
            </a:r>
          </a:p>
        </p:txBody>
      </p:sp>
    </p:spTree>
    <p:extLst>
      <p:ext uri="{BB962C8B-B14F-4D97-AF65-F5344CB8AC3E}">
        <p14:creationId xmlns:p14="http://schemas.microsoft.com/office/powerpoint/2010/main" val="91242716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67F4021-FAF0-43D1-9E83-9A209C90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F7F6F1"/>
            </a:solidFill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6D01052E-D30E-4435-9054-334A8997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5F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5F6F"/>
                </a:solidFill>
                <a:latin typeface="Aptos"/>
                <a:ea typeface="Aptos"/>
                <a:cs typeface="Aptos"/>
              </a:rPr>
              <a:t>CAPTURE</a:t>
            </a:r>
          </a:p>
        </p:txBody>
      </p:sp>
      <p:sp>
        <p:nvSpPr>
          <p:cNvPr id="3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98F48CDB-2E3F-411C-BE15-1AE07F2C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6F"/>
          </a:solidFill>
          <a:ln xmlns:a="http://schemas.openxmlformats.org/drawingml/2006/main" w="0">
            <a:solidFill>
              <a:srgbClr val="2F5F6F"/>
            </a:solidFill>
            <a:prstDash val="solid"/>
          </a:ln>
        </p:spPr>
      </p:sp>
      <p:sp>
        <p:nvSpPr>
          <p:cNvPr id="4" name="source-note">
            <a:extLst xmlns:a="http://schemas.openxmlformats.org/drawingml/2006/main">
              <a:ext uri="{FF2B5EF4-FFF2-40B4-BE49-F238E27FC236}">
                <a16:creationId xmlns:a16="http://schemas.microsoft.com/office/drawing/2014/main" id="{A7A78CB8-CEC7-46CF-AA05-A2C159C0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97277"/>
                </a:solidFill>
                <a:latin typeface="Aptos"/>
                <a:ea typeface="Aptos"/>
                <a:cs typeface="Aptos"/>
              </a:rPr>
              <a:t>Source: docs/research-group-presentation.md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5E9E9B2-B91E-41C6-8DD2-1959F3FE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97277"/>
                </a:solidFill>
                <a:latin typeface="Aptos"/>
              </a:rPr>
              <a:t>16</a:t>
            </a:r>
          </a:p>
        </p:txBody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BA977C82-CC29-456A-8E36-0E6D42B8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933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0262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20262A"/>
                </a:solidFill>
                <a:latin typeface="Aptos Display"/>
                <a:ea typeface="Aptos Display"/>
                <a:cs typeface="Aptos Display"/>
              </a:rPr>
              <a:t>Graph context is added before model interpretation.</a:t>
            </a:r>
          </a:p>
        </p:txBody>
      </p:sp>
      <p:sp>
        <p:nvSpPr>
          <p:cNvPr id="7" name="box-raw note">
            <a:extLst xmlns:a="http://schemas.openxmlformats.org/drawingml/2006/main">
              <a:ext uri="{FF2B5EF4-FFF2-40B4-BE49-F238E27FC236}">
                <a16:creationId xmlns:a16="http://schemas.microsoft.com/office/drawing/2014/main" id="{1C866DA1-04FF-4512-841C-3A55F91C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</p:sp>
      <p:sp>
        <p:nvSpPr>
          <p:cNvPr id="8" name="label-raw note">
            <a:extLst xmlns:a="http://schemas.openxmlformats.org/drawingml/2006/main">
              <a:ext uri="{FF2B5EF4-FFF2-40B4-BE49-F238E27FC236}">
                <a16:creationId xmlns:a16="http://schemas.microsoft.com/office/drawing/2014/main" id="{EB3102F6-AA66-41FF-B729-3CAEB05F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1638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raw note</a:t>
            </a:r>
          </a:p>
        </p:txBody>
      </p:sp>
      <p:sp>
        <p:nvSpPr>
          <p:cNvPr id="9" name="box-context packet">
            <a:extLst xmlns:a="http://schemas.openxmlformats.org/drawingml/2006/main">
              <a:ext uri="{FF2B5EF4-FFF2-40B4-BE49-F238E27FC236}">
                <a16:creationId xmlns:a16="http://schemas.microsoft.com/office/drawing/2014/main" id="{0C5D39D2-2B77-4DC5-B4C8-AA2E1709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90950"/>
            <a:ext cx="2171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A"/>
          </a:solidFill>
          <a:ln xmlns:a="http://schemas.openxmlformats.org/drawingml/2006/main" w="11430">
            <a:solidFill>
              <a:srgbClr val="2F5F6F"/>
            </a:solidFill>
            <a:prstDash val="solid"/>
          </a:ln>
        </p:spPr>
      </p:sp>
      <p:sp>
        <p:nvSpPr>
          <p:cNvPr id="10" name="label-context packet">
            <a:extLst xmlns:a="http://schemas.openxmlformats.org/drawingml/2006/main">
              <a:ext uri="{FF2B5EF4-FFF2-40B4-BE49-F238E27FC236}">
                <a16:creationId xmlns:a16="http://schemas.microsoft.com/office/drawing/2014/main" id="{E9E5E85B-F2B8-400A-B64F-05D4023D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05250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62A"/>
                </a:solidFill>
                <a:latin typeface="Aptos"/>
                <a:ea typeface="Aptos"/>
                <a:cs typeface="Aptos"/>
              </a:rPr>
              <a:t>context packet</a:t>
            </a:r>
          </a:p>
        </p:txBody>
      </p:sp>
      <p:sp>
        <p:nvSpPr>
          <p:cNvPr id="11" name="line-h">
            <a:extLst xmlns:a="http://schemas.openxmlformats.org/drawingml/2006/main">
              <a:ext uri="{FF2B5EF4-FFF2-40B4-BE49-F238E27FC236}">
                <a16:creationId xmlns:a16="http://schemas.microsoft.com/office/drawing/2014/main" id="{78EE3BB0-F2A7-4E56-9D8F-F334FBDF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8622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12" name="box-proposed operations">
            <a:extLst xmlns:a="http://schemas.openxmlformats.org/drawingml/2006/main">
              <a:ext uri="{FF2B5EF4-FFF2-40B4-BE49-F238E27FC236}">
                <a16:creationId xmlns:a16="http://schemas.microsoft.com/office/drawing/2014/main" id="{98E33F95-E08E-4E6C-AC06-39C35ED5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909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2DED4"/>
            </a:solidFill>
            <a:prstDash val="solid"/>
          </a:ln>
        </p:spPr>
      </p:sp>
      <p:sp>
        <p:nvSpPr>
          <p:cNvPr id="13" name="label-proposed operations">
            <a:extLst xmlns:a="http://schemas.openxmlformats.org/drawingml/2006/main">
              <a:ext uri="{FF2B5EF4-FFF2-40B4-BE49-F238E27FC236}">
                <a16:creationId xmlns:a16="http://schemas.microsoft.com/office/drawing/2014/main" id="{FD7F2DB0-A818-4273-9D7F-AC6FED6D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05250"/>
            <a:ext cx="2114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97277"/>
                </a:solidFill>
                <a:latin typeface="Aptos"/>
                <a:ea typeface="Aptos"/>
                <a:cs typeface="Aptos"/>
              </a:rPr>
              <a:t>proposed operations</a:t>
            </a:r>
          </a:p>
        </p:txBody>
      </p:sp>
      <p:sp>
        <p:nvSpPr>
          <p:cNvPr id="14" name="box-reviewer decision">
            <a:extLst xmlns:a="http://schemas.openxmlformats.org/drawingml/2006/main">
              <a:ext uri="{FF2B5EF4-FFF2-40B4-BE49-F238E27FC236}">
                <a16:creationId xmlns:a16="http://schemas.microsoft.com/office/drawing/2014/main" id="{A1B20873-10D5-4790-A4D1-4F8B1FE2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79095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2DED4"/>
            </a:solidFill>
            <a:prstDash val="solid"/>
          </a:ln>
        </p:spPr>
      </p:sp>
      <p:sp>
        <p:nvSpPr>
          <p:cNvPr id="15" name="label-reviewer decision">
            <a:extLst xmlns:a="http://schemas.openxmlformats.org/drawingml/2006/main">
              <a:ext uri="{FF2B5EF4-FFF2-40B4-BE49-F238E27FC236}">
                <a16:creationId xmlns:a16="http://schemas.microsoft.com/office/drawing/2014/main" id="{307DE034-0CE1-4299-B63C-C9F6107B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905250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97277"/>
                </a:solidFill>
                <a:latin typeface="Aptos"/>
                <a:ea typeface="Aptos"/>
                <a:cs typeface="Aptos"/>
              </a:rPr>
              <a:t>reviewer decision</a:t>
            </a:r>
          </a:p>
        </p:txBody>
      </p:sp>
    </p:spTree>
    <p:extLst>
      <p:ext uri="{BB962C8B-B14F-4D97-AF65-F5344CB8AC3E}">
        <p14:creationId xmlns:p14="http://schemas.microsoft.com/office/powerpoint/2010/main" val="109272084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02CAD51-9071-45B1-9C3F-D312384A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F7F6F1"/>
            </a:solidFill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D40AF3C6-FEFC-43D0-BD96-DD5CAEFC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5F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5F6F"/>
                </a:solidFill>
                <a:latin typeface="Aptos"/>
                <a:ea typeface="Aptos"/>
                <a:cs typeface="Aptos"/>
              </a:rPr>
              <a:t>CAPTURE</a:t>
            </a:r>
          </a:p>
        </p:txBody>
      </p:sp>
      <p:sp>
        <p:nvSpPr>
          <p:cNvPr id="3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26AD113E-647D-49FA-BEE4-A7B9A49E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6F"/>
          </a:solidFill>
          <a:ln xmlns:a="http://schemas.openxmlformats.org/drawingml/2006/main" w="0">
            <a:solidFill>
              <a:srgbClr val="2F5F6F"/>
            </a:solidFill>
            <a:prstDash val="solid"/>
          </a:ln>
        </p:spPr>
      </p:sp>
      <p:sp>
        <p:nvSpPr>
          <p:cNvPr id="4" name="source-note">
            <a:extLst xmlns:a="http://schemas.openxmlformats.org/drawingml/2006/main">
              <a:ext uri="{FF2B5EF4-FFF2-40B4-BE49-F238E27FC236}">
                <a16:creationId xmlns:a16="http://schemas.microsoft.com/office/drawing/2014/main" id="{F176BA80-9CEF-4BDC-B950-2D657D12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97277"/>
                </a:solidFill>
                <a:latin typeface="Aptos"/>
                <a:ea typeface="Aptos"/>
                <a:cs typeface="Aptos"/>
              </a:rPr>
              <a:t>Source: docs/research-group-presentation.md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9EC7B83-0B5C-4F68-AA25-803B609A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97277"/>
                </a:solidFill>
                <a:latin typeface="Aptos"/>
              </a:rPr>
              <a:t>17</a:t>
            </a:r>
          </a:p>
        </p:txBody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55973D7C-A166-4263-AE5B-26E68C07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933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0262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20262A"/>
                </a:solidFill>
                <a:latin typeface="Aptos Display"/>
                <a:ea typeface="Aptos Display"/>
                <a:cs typeface="Aptos Display"/>
              </a:rPr>
              <a:t>The model returns proposed graph operations.</a:t>
            </a:r>
          </a:p>
        </p:txBody>
      </p:sp>
      <p:sp>
        <p:nvSpPr>
          <p:cNvPr id="7" name="box-raw note">
            <a:extLst xmlns:a="http://schemas.openxmlformats.org/drawingml/2006/main">
              <a:ext uri="{FF2B5EF4-FFF2-40B4-BE49-F238E27FC236}">
                <a16:creationId xmlns:a16="http://schemas.microsoft.com/office/drawing/2014/main" id="{17E0EF93-C272-4919-B73F-4373ED7C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</p:sp>
      <p:sp>
        <p:nvSpPr>
          <p:cNvPr id="8" name="label-raw note">
            <a:extLst xmlns:a="http://schemas.openxmlformats.org/drawingml/2006/main">
              <a:ext uri="{FF2B5EF4-FFF2-40B4-BE49-F238E27FC236}">
                <a16:creationId xmlns:a16="http://schemas.microsoft.com/office/drawing/2014/main" id="{25E00BF0-759E-4801-BB55-192E76EA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1638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raw note</a:t>
            </a:r>
          </a:p>
        </p:txBody>
      </p:sp>
      <p:sp>
        <p:nvSpPr>
          <p:cNvPr id="9" name="box-context packet">
            <a:extLst xmlns:a="http://schemas.openxmlformats.org/drawingml/2006/main">
              <a:ext uri="{FF2B5EF4-FFF2-40B4-BE49-F238E27FC236}">
                <a16:creationId xmlns:a16="http://schemas.microsoft.com/office/drawing/2014/main" id="{C6502EB1-FE40-4698-9BCA-795E7C94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90950"/>
            <a:ext cx="2171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</p:sp>
      <p:sp>
        <p:nvSpPr>
          <p:cNvPr id="10" name="label-context packet">
            <a:extLst xmlns:a="http://schemas.openxmlformats.org/drawingml/2006/main">
              <a:ext uri="{FF2B5EF4-FFF2-40B4-BE49-F238E27FC236}">
                <a16:creationId xmlns:a16="http://schemas.microsoft.com/office/drawing/2014/main" id="{BC7717C6-487F-4FD5-AA11-8D61E436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05250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context packet</a:t>
            </a:r>
          </a:p>
        </p:txBody>
      </p:sp>
      <p:sp>
        <p:nvSpPr>
          <p:cNvPr id="11" name="line-h">
            <a:extLst xmlns:a="http://schemas.openxmlformats.org/drawingml/2006/main">
              <a:ext uri="{FF2B5EF4-FFF2-40B4-BE49-F238E27FC236}">
                <a16:creationId xmlns:a16="http://schemas.microsoft.com/office/drawing/2014/main" id="{FA1B665C-0129-4C4B-85CF-EB439FDF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8622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12" name="box-proposed operations">
            <a:extLst xmlns:a="http://schemas.openxmlformats.org/drawingml/2006/main">
              <a:ext uri="{FF2B5EF4-FFF2-40B4-BE49-F238E27FC236}">
                <a16:creationId xmlns:a16="http://schemas.microsoft.com/office/drawing/2014/main" id="{50713F3E-2EA5-49A2-B283-FE6072CB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909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A"/>
          </a:solidFill>
          <a:ln xmlns:a="http://schemas.openxmlformats.org/drawingml/2006/main" w="11430">
            <a:solidFill>
              <a:srgbClr val="2F5F6F"/>
            </a:solidFill>
            <a:prstDash val="solid"/>
          </a:ln>
        </p:spPr>
      </p:sp>
      <p:sp>
        <p:nvSpPr>
          <p:cNvPr id="13" name="label-proposed operations">
            <a:extLst xmlns:a="http://schemas.openxmlformats.org/drawingml/2006/main">
              <a:ext uri="{FF2B5EF4-FFF2-40B4-BE49-F238E27FC236}">
                <a16:creationId xmlns:a16="http://schemas.microsoft.com/office/drawing/2014/main" id="{073909C2-E409-481D-AD0D-CA9FEC35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05250"/>
            <a:ext cx="2114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62A"/>
                </a:solidFill>
                <a:latin typeface="Aptos"/>
                <a:ea typeface="Aptos"/>
                <a:cs typeface="Aptos"/>
              </a:rPr>
              <a:t>proposed operations</a:t>
            </a:r>
          </a:p>
        </p:txBody>
      </p:sp>
      <p:sp>
        <p:nvSpPr>
          <p:cNvPr id="14" name="line-h">
            <a:extLst xmlns:a="http://schemas.openxmlformats.org/drawingml/2006/main">
              <a:ext uri="{FF2B5EF4-FFF2-40B4-BE49-F238E27FC236}">
                <a16:creationId xmlns:a16="http://schemas.microsoft.com/office/drawing/2014/main" id="{6A623131-72F4-489B-9CFD-F5920E53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8622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15" name="box-reviewer decision">
            <a:extLst xmlns:a="http://schemas.openxmlformats.org/drawingml/2006/main">
              <a:ext uri="{FF2B5EF4-FFF2-40B4-BE49-F238E27FC236}">
                <a16:creationId xmlns:a16="http://schemas.microsoft.com/office/drawing/2014/main" id="{30F82B85-F5F0-4561-A33E-BAD0A876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79095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2DED4"/>
            </a:solidFill>
            <a:prstDash val="solid"/>
          </a:ln>
        </p:spPr>
      </p:sp>
      <p:sp>
        <p:nvSpPr>
          <p:cNvPr id="16" name="label-reviewer decision">
            <a:extLst xmlns:a="http://schemas.openxmlformats.org/drawingml/2006/main">
              <a:ext uri="{FF2B5EF4-FFF2-40B4-BE49-F238E27FC236}">
                <a16:creationId xmlns:a16="http://schemas.microsoft.com/office/drawing/2014/main" id="{D0FFFEBB-59AA-46E9-A616-0F2F4CF4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905250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97277"/>
                </a:solidFill>
                <a:latin typeface="Aptos"/>
                <a:ea typeface="Aptos"/>
                <a:cs typeface="Aptos"/>
              </a:rPr>
              <a:t>reviewer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B894F9-C554-48D2-8998-93AF7958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0100"/>
            <a:ext cx="228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97277"/>
                </a:solidFill>
                <a:latin typeface="Aptos"/>
                <a:ea typeface="Aptos"/>
                <a:cs typeface="Aptos"/>
              </a:rPr>
              <a:t>create Q edge</a:t>
            </a:r>
          </a:p>
          <a:p xmlns:a="http://schemas.openxmlformats.org/drawingml/2006/main">
            <a:pPr algn="ctr">
              <a:defRPr sz="975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97277"/>
                </a:solidFill>
                <a:latin typeface="Aptos"/>
                <a:ea typeface="Aptos"/>
                <a:cs typeface="Aptos"/>
              </a:rPr>
              <a:t>link dataset</a:t>
            </a:r>
          </a:p>
          <a:p xmlns:a="http://schemas.openxmlformats.org/drawingml/2006/main">
            <a:pPr algn="ctr">
              <a:defRPr sz="975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97277"/>
                </a:solidFill>
                <a:latin typeface="Aptos"/>
                <a:ea typeface="Aptos"/>
                <a:cs typeface="Aptos"/>
              </a:rPr>
              <a:t>attach evidence</a:t>
            </a:r>
          </a:p>
        </p:txBody>
      </p:sp>
    </p:spTree>
    <p:extLst>
      <p:ext uri="{BB962C8B-B14F-4D97-AF65-F5344CB8AC3E}">
        <p14:creationId xmlns:p14="http://schemas.microsoft.com/office/powerpoint/2010/main" val="209911349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865D376-F2D8-4AE8-B7E9-9D049499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F7F6F1"/>
            </a:solidFill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71913DB2-188F-4A3F-B3FE-7057BF86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5F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5F6F"/>
                </a:solidFill>
                <a:latin typeface="Aptos"/>
                <a:ea typeface="Aptos"/>
                <a:cs typeface="Aptos"/>
              </a:rPr>
              <a:t>CAPTURE</a:t>
            </a:r>
          </a:p>
        </p:txBody>
      </p:sp>
      <p:sp>
        <p:nvSpPr>
          <p:cNvPr id="3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94E4891B-2FDA-4674-9C87-F6937367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6F"/>
          </a:solidFill>
          <a:ln xmlns:a="http://schemas.openxmlformats.org/drawingml/2006/main" w="0">
            <a:solidFill>
              <a:srgbClr val="2F5F6F"/>
            </a:solidFill>
            <a:prstDash val="solid"/>
          </a:ln>
        </p:spPr>
      </p:sp>
      <p:sp>
        <p:nvSpPr>
          <p:cNvPr id="4" name="source-note">
            <a:extLst xmlns:a="http://schemas.openxmlformats.org/drawingml/2006/main">
              <a:ext uri="{FF2B5EF4-FFF2-40B4-BE49-F238E27FC236}">
                <a16:creationId xmlns:a16="http://schemas.microsoft.com/office/drawing/2014/main" id="{B9966885-74D4-499A-994E-F18024FE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97277"/>
                </a:solidFill>
                <a:latin typeface="Aptos"/>
                <a:ea typeface="Aptos"/>
                <a:cs typeface="Aptos"/>
              </a:rPr>
              <a:t>Source: docs/research-group-presentation.md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7E2F916-F15E-4437-ABB5-E8C916BE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97277"/>
                </a:solidFill>
                <a:latin typeface="Aptos"/>
              </a:rPr>
              <a:t>18</a:t>
            </a:r>
          </a:p>
        </p:txBody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DC521391-D7DB-4315-B622-52548FAB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933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0262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20262A"/>
                </a:solidFill>
                <a:latin typeface="Aptos Display"/>
                <a:ea typeface="Aptos Display"/>
                <a:cs typeface="Aptos Display"/>
              </a:rPr>
              <a:t>The reviewer decides what enters the record.</a:t>
            </a:r>
          </a:p>
        </p:txBody>
      </p:sp>
      <p:sp>
        <p:nvSpPr>
          <p:cNvPr id="7" name="box-raw note">
            <a:extLst xmlns:a="http://schemas.openxmlformats.org/drawingml/2006/main">
              <a:ext uri="{FF2B5EF4-FFF2-40B4-BE49-F238E27FC236}">
                <a16:creationId xmlns:a16="http://schemas.microsoft.com/office/drawing/2014/main" id="{DC29B2F6-F097-43F9-A046-D637BA43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</p:sp>
      <p:sp>
        <p:nvSpPr>
          <p:cNvPr id="8" name="label-raw note">
            <a:extLst xmlns:a="http://schemas.openxmlformats.org/drawingml/2006/main">
              <a:ext uri="{FF2B5EF4-FFF2-40B4-BE49-F238E27FC236}">
                <a16:creationId xmlns:a16="http://schemas.microsoft.com/office/drawing/2014/main" id="{4EE1718F-6BFC-4896-BE80-D6909BF3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1638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raw note</a:t>
            </a:r>
          </a:p>
        </p:txBody>
      </p:sp>
      <p:sp>
        <p:nvSpPr>
          <p:cNvPr id="9" name="box-context packet">
            <a:extLst xmlns:a="http://schemas.openxmlformats.org/drawingml/2006/main">
              <a:ext uri="{FF2B5EF4-FFF2-40B4-BE49-F238E27FC236}">
                <a16:creationId xmlns:a16="http://schemas.microsoft.com/office/drawing/2014/main" id="{6F23399E-6540-4539-BB15-4CC42CA9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90950"/>
            <a:ext cx="2171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</p:sp>
      <p:sp>
        <p:nvSpPr>
          <p:cNvPr id="10" name="label-context packet">
            <a:extLst xmlns:a="http://schemas.openxmlformats.org/drawingml/2006/main">
              <a:ext uri="{FF2B5EF4-FFF2-40B4-BE49-F238E27FC236}">
                <a16:creationId xmlns:a16="http://schemas.microsoft.com/office/drawing/2014/main" id="{2987A798-8517-40FC-8A51-2438493C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05250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context packet</a:t>
            </a:r>
          </a:p>
        </p:txBody>
      </p:sp>
      <p:sp>
        <p:nvSpPr>
          <p:cNvPr id="11" name="line-h">
            <a:extLst xmlns:a="http://schemas.openxmlformats.org/drawingml/2006/main">
              <a:ext uri="{FF2B5EF4-FFF2-40B4-BE49-F238E27FC236}">
                <a16:creationId xmlns:a16="http://schemas.microsoft.com/office/drawing/2014/main" id="{98BB1A91-FA55-4F80-8A9E-4F532E67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8622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12" name="box-proposed operations">
            <a:extLst xmlns:a="http://schemas.openxmlformats.org/drawingml/2006/main">
              <a:ext uri="{FF2B5EF4-FFF2-40B4-BE49-F238E27FC236}">
                <a16:creationId xmlns:a16="http://schemas.microsoft.com/office/drawing/2014/main" id="{99935A6B-9F5E-4D65-928D-8BFF2CDC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909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</p:sp>
      <p:sp>
        <p:nvSpPr>
          <p:cNvPr id="13" name="label-proposed operations">
            <a:extLst xmlns:a="http://schemas.openxmlformats.org/drawingml/2006/main">
              <a:ext uri="{FF2B5EF4-FFF2-40B4-BE49-F238E27FC236}">
                <a16:creationId xmlns:a16="http://schemas.microsoft.com/office/drawing/2014/main" id="{AE5BAA01-79E6-4E99-B967-CCF2DFBE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05250"/>
            <a:ext cx="2114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proposed operations</a:t>
            </a:r>
          </a:p>
        </p:txBody>
      </p:sp>
      <p:sp>
        <p:nvSpPr>
          <p:cNvPr id="14" name="line-h">
            <a:extLst xmlns:a="http://schemas.openxmlformats.org/drawingml/2006/main">
              <a:ext uri="{FF2B5EF4-FFF2-40B4-BE49-F238E27FC236}">
                <a16:creationId xmlns:a16="http://schemas.microsoft.com/office/drawing/2014/main" id="{D487D970-5EA9-4B37-B7A4-B9A93761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8622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15" name="box-reviewer decision">
            <a:extLst xmlns:a="http://schemas.openxmlformats.org/drawingml/2006/main">
              <a:ext uri="{FF2B5EF4-FFF2-40B4-BE49-F238E27FC236}">
                <a16:creationId xmlns:a16="http://schemas.microsoft.com/office/drawing/2014/main" id="{02B6BCBE-EB64-4A0A-A61C-192A473B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79095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A"/>
          </a:solidFill>
          <a:ln xmlns:a="http://schemas.openxmlformats.org/drawingml/2006/main" w="11430">
            <a:solidFill>
              <a:srgbClr val="2F5F6F"/>
            </a:solidFill>
            <a:prstDash val="solid"/>
          </a:ln>
        </p:spPr>
      </p:sp>
      <p:sp>
        <p:nvSpPr>
          <p:cNvPr id="16" name="label-reviewer decision">
            <a:extLst xmlns:a="http://schemas.openxmlformats.org/drawingml/2006/main">
              <a:ext uri="{FF2B5EF4-FFF2-40B4-BE49-F238E27FC236}">
                <a16:creationId xmlns:a16="http://schemas.microsoft.com/office/drawing/2014/main" id="{F78A1A20-18D3-4E9E-A4A7-8EA9302C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905250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62A"/>
                </a:solidFill>
                <a:latin typeface="Aptos"/>
                <a:ea typeface="Aptos"/>
                <a:cs typeface="Aptos"/>
              </a:rPr>
              <a:t>reviewer decision</a:t>
            </a:r>
          </a:p>
        </p:txBody>
      </p:sp>
      <p:sp>
        <p:nvSpPr>
          <p:cNvPr id="17" name="line-h">
            <a:extLst xmlns:a="http://schemas.openxmlformats.org/drawingml/2006/main">
              <a:ext uri="{FF2B5EF4-FFF2-40B4-BE49-F238E27FC236}">
                <a16:creationId xmlns:a16="http://schemas.microsoft.com/office/drawing/2014/main" id="{8DF49BBE-1A39-4CAF-872D-1C44A0A6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86225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6C8A8E-1BC9-4327-B2E0-163D455E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0100"/>
            <a:ext cx="228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97277"/>
                </a:solidFill>
                <a:latin typeface="Aptos"/>
                <a:ea typeface="Aptos"/>
                <a:cs typeface="Aptos"/>
              </a:rPr>
              <a:t>create Q edge</a:t>
            </a:r>
          </a:p>
          <a:p xmlns:a="http://schemas.openxmlformats.org/drawingml/2006/main">
            <a:pPr algn="ctr">
              <a:defRPr sz="975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97277"/>
                </a:solidFill>
                <a:latin typeface="Aptos"/>
                <a:ea typeface="Aptos"/>
                <a:cs typeface="Aptos"/>
              </a:rPr>
              <a:t>link dataset</a:t>
            </a:r>
          </a:p>
          <a:p xmlns:a="http://schemas.openxmlformats.org/drawingml/2006/main">
            <a:pPr algn="ctr">
              <a:defRPr sz="975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97277"/>
                </a:solidFill>
                <a:latin typeface="Aptos"/>
                <a:ea typeface="Aptos"/>
                <a:cs typeface="Aptos"/>
              </a:rPr>
              <a:t>attach evidence</a:t>
            </a:r>
          </a:p>
        </p:txBody>
      </p:sp>
    </p:spTree>
    <p:extLst>
      <p:ext uri="{BB962C8B-B14F-4D97-AF65-F5344CB8AC3E}">
        <p14:creationId xmlns:p14="http://schemas.microsoft.com/office/powerpoint/2010/main" val="525053254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71372B3-0DA6-41DE-9C00-0332D00D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F7F6F1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FA712F14-5131-43BD-B147-724F2F36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5F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5F6F"/>
                </a:solidFill>
                <a:latin typeface="Aptos"/>
                <a:ea typeface="Aptos"/>
                <a:cs typeface="Aptos"/>
              </a:rPr>
              <a:t>FIRST USE CASE</a:t>
            </a:r>
          </a:p>
        </p:txBody>
      </p:sp>
      <p:sp>
        <p:nvSpPr>
          <p:cNvPr id="3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21FC12B9-351F-4B3D-8D4A-ED623216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6F"/>
          </a:solidFill>
          <a:ln xmlns:a="http://schemas.openxmlformats.org/drawingml/2006/main" w="0">
            <a:solidFill>
              <a:srgbClr val="2F5F6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source-note">
            <a:extLst xmlns:a="http://schemas.openxmlformats.org/drawingml/2006/main">
              <a:ext uri="{FF2B5EF4-FFF2-40B4-BE49-F238E27FC236}">
                <a16:creationId xmlns:a16="http://schemas.microsoft.com/office/drawing/2014/main" id="{0D6D052D-209F-4347-8CE7-3B7533F2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97277"/>
                </a:solidFill>
                <a:latin typeface="Aptos"/>
                <a:ea typeface="Aptos"/>
                <a:cs typeface="Aptos"/>
              </a:rPr>
              <a:t>Source: docs/research-group-presentation.md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E8B5CBA-B924-4401-A6E2-C5AB7E47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2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97277"/>
                </a:solidFill>
                <a:latin typeface="Aptos"/>
              </a:rPr>
              <a:t>19</a:t>
            </a:r>
          </a:p>
        </p:txBody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0D6220C5-6C98-4207-B69F-F80ABA62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933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0262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20262A"/>
                </a:solidFill>
                <a:latin typeface="Aptos Display"/>
                <a:ea typeface="Aptos Display"/>
                <a:cs typeface="Aptos Display"/>
              </a:rPr>
              <a:t>One project, its question hierarchy, and one result.</a:t>
            </a:r>
          </a:p>
        </p:txBody>
      </p:sp>
      <p:sp>
        <p:nvSpPr>
          <p:cNvPr id="7" name="box-one project">
            <a:extLst xmlns:a="http://schemas.openxmlformats.org/drawingml/2006/main">
              <a:ext uri="{FF2B5EF4-FFF2-40B4-BE49-F238E27FC236}">
                <a16:creationId xmlns:a16="http://schemas.microsoft.com/office/drawing/2014/main" id="{AC3FB2D1-6BED-4EA3-A624-9C765406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543300"/>
            <a:ext cx="22669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label-one project">
            <a:extLst xmlns:a="http://schemas.openxmlformats.org/drawingml/2006/main">
              <a:ext uri="{FF2B5EF4-FFF2-40B4-BE49-F238E27FC236}">
                <a16:creationId xmlns:a16="http://schemas.microsoft.com/office/drawing/2014/main" id="{47D5E28D-33BB-4E85-BD66-A7834F7F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5760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 wrap="square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262A"/>
                </a:solidFill>
                <a:latin typeface="Aptos"/>
              </a:rPr>
              <a:t>AL-gain project</a:t>
            </a:r>
          </a:p>
        </p:txBody>
      </p:sp>
      <p:sp>
        <p:nvSpPr>
          <p:cNvPr id="9" name="box-question hierarchy">
            <a:extLst xmlns:a="http://schemas.openxmlformats.org/drawingml/2006/main">
              <a:ext uri="{FF2B5EF4-FFF2-40B4-BE49-F238E27FC236}">
                <a16:creationId xmlns:a16="http://schemas.microsoft.com/office/drawing/2014/main" id="{603BF524-4E71-4606-97C5-888D2244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43300"/>
            <a:ext cx="26479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A"/>
          </a:solidFill>
          <a:ln xmlns:a="http://schemas.openxmlformats.org/drawingml/2006/main" w="11430">
            <a:solidFill>
              <a:srgbClr val="2F5F6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label-question hierarchy">
            <a:extLst xmlns:a="http://schemas.openxmlformats.org/drawingml/2006/main">
              <a:ext uri="{FF2B5EF4-FFF2-40B4-BE49-F238E27FC236}">
                <a16:creationId xmlns:a16="http://schemas.microsoft.com/office/drawing/2014/main" id="{9F636DD0-6B0C-4C7B-8049-40D5ABCF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576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 wrap="square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62A"/>
                </a:solidFill>
                <a:latin typeface="Aptos"/>
              </a:rPr>
              <a:t>superseded → 2 sub-Qs</a:t>
            </a:r>
          </a:p>
        </p:txBody>
      </p:sp>
      <p:sp>
        <p:nvSpPr>
          <p:cNvPr id="11" name="box-one result">
            <a:extLst xmlns:a="http://schemas.openxmlformats.org/drawingml/2006/main">
              <a:ext uri="{FF2B5EF4-FFF2-40B4-BE49-F238E27FC236}">
                <a16:creationId xmlns:a16="http://schemas.microsoft.com/office/drawing/2014/main" id="{E94C3B52-D86E-4012-947B-44A73727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43300"/>
            <a:ext cx="2190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62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label-one result">
            <a:extLst xmlns:a="http://schemas.openxmlformats.org/drawingml/2006/main">
              <a:ext uri="{FF2B5EF4-FFF2-40B4-BE49-F238E27FC236}">
                <a16:creationId xmlns:a16="http://schemas.microsoft.com/office/drawing/2014/main" id="{32748925-9AFE-4CB6-B34D-63CB96B2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57600"/>
            <a:ext cx="1924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 wrap="square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262A"/>
                </a:solidFill>
                <a:latin typeface="Aptos"/>
              </a:rPr>
              <a:t>Fig 3b</a:t>
            </a:r>
          </a:p>
        </p:txBody>
      </p:sp>
      <p:sp>
        <p:nvSpPr>
          <p:cNvPr id="13" name="line-h">
            <a:extLst xmlns:a="http://schemas.openxmlformats.org/drawingml/2006/main">
              <a:ext uri="{FF2B5EF4-FFF2-40B4-BE49-F238E27FC236}">
                <a16:creationId xmlns:a16="http://schemas.microsoft.com/office/drawing/2014/main" id="{D7118F78-65F1-47A4-AB74-B4931CAD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867150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line-h">
            <a:extLst xmlns:a="http://schemas.openxmlformats.org/drawingml/2006/main">
              <a:ext uri="{FF2B5EF4-FFF2-40B4-BE49-F238E27FC236}">
                <a16:creationId xmlns:a16="http://schemas.microsoft.com/office/drawing/2014/main" id="{58AAAB16-242A-4112-85D8-1273784B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67150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198"/>
          </a:solidFill>
          <a:ln xmlns:a="http://schemas.openxmlformats.org/drawingml/2006/main" w="0">
            <a:solidFill>
              <a:srgbClr val="A8A19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66F625-C7D9-4257-A8D2-48DBEE61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815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026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262A"/>
                </a:solidFill>
                <a:latin typeface="Aptos"/>
                <a:ea typeface="Aptos"/>
                <a:cs typeface="Aptos"/>
              </a:rPr>
              <a:t>Discussion: which project is suitable, what capture friction matters, and what context assistants need.</a:t>
            </a:r>
          </a:p>
        </p:txBody>
      </p:sp>
    </p:spTree>
    <p:extLst>
      <p:ext uri="{BB962C8B-B14F-4D97-AF65-F5344CB8AC3E}">
        <p14:creationId xmlns:p14="http://schemas.microsoft.com/office/powerpoint/2010/main" val="17763594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2026-06-04T18:51:06.2070000Z</dcterms:created>
  <dcterms:modified xsi:type="dcterms:W3CDTF">2026-06-04T18:51:06.2070000Z</dcterms:modified>
</coreProperties>
</file>